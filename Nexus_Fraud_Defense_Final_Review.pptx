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324" r:id="rId3"/>
    <p:sldId id="259" r:id="rId4"/>
    <p:sldId id="260" r:id="rId5"/>
    <p:sldId id="325" r:id="rId6"/>
    <p:sldId id="333" r:id="rId7"/>
    <p:sldId id="334" r:id="rId8"/>
    <p:sldId id="265" r:id="rId9"/>
    <p:sldId id="335" r:id="rId10"/>
    <p:sldId id="312" r:id="rId11"/>
    <p:sldId id="328" r:id="rId12"/>
    <p:sldId id="330" r:id="rId13"/>
    <p:sldId id="332" r:id="rId14"/>
    <p:sldId id="331" r:id="rId15"/>
    <p:sldId id="327" r:id="rId16"/>
    <p:sldId id="321" r:id="rId17"/>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902" y="67"/>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9/26/2026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9/26/2026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600199"/>
          </a:xfrm>
          <a:solidFill>
            <a:schemeClr val="tx2">
              <a:lumMod val="60000"/>
              <a:lumOff val="40000"/>
            </a:schemeClr>
          </a:solidFill>
        </p:spPr>
        <p:txBody>
          <a:bodyPr wrap="square" anchor="ctr" lIns="201168" rIns="201168" tIns="36576" bIns="36576">
            <a:normAutofit/>
          </a:bodyPr>
          <a:lstStyle/>
          <a:p>
            <a:pPr algn="ctr"/>
            <a:r>
              <a:rPr sz="3100" b="1">
                <a:solidFill>
                  <a:srgbClr val="19324D"/>
                </a:solidFill>
                <a:latin typeface="Arial"/>
              </a:rPr>
              <a:t>DIGITAL TWIN-ENABLED FRAMEWORK
FOR FORECASTING AND MITIGATING FRAUD</a:t>
            </a:r>
          </a:p>
        </p:txBody>
      </p:sp>
      <p:sp>
        <p:nvSpPr>
          <p:cNvPr id="3" name="Subtitle 2"/>
          <p:cNvSpPr>
            <a:spLocks noGrp="1"/>
          </p:cNvSpPr>
          <p:nvPr>
            <p:ph type="subTitle" idx="1"/>
          </p:nvPr>
        </p:nvSpPr>
        <p:spPr>
          <a:xfrm>
            <a:off x="2026920" y="3088640"/>
            <a:ext cx="8961120" cy="3982720"/>
          </a:xfrm>
        </p:spPr>
        <p:txBody>
          <a:bodyPr wrap="square" anchor="ctr" lIns="164592" rIns="164592">
            <a:normAutofit/>
          </a:bodyPr>
          <a:lstStyle/>
          <a:p>
            <a:pPr algn="ctr">
              <a:spcAft>
                <a:spcPts val="500"/>
              </a:spcAft>
            </a:pPr>
            <a:r>
              <a:rPr sz="1800" b="1">
                <a:solidFill>
                  <a:srgbClr val="19324D"/>
                </a:solidFill>
                <a:latin typeface="Arial"/>
              </a:rPr>
              <a:t>MCA PROJECT WORK FINAL REVIEW</a:t>
            </a:r>
          </a:p>
          <a:p>
            <a:pPr algn="ctr">
              <a:spcAft>
                <a:spcPts val="200"/>
              </a:spcAft>
            </a:pPr>
            <a:r>
              <a:rPr sz="1500" b="0">
                <a:solidFill>
                  <a:srgbClr val="2B3744"/>
                </a:solidFill>
                <a:latin typeface="Arial"/>
              </a:rPr>
              <a:t>Presented by</a:t>
            </a:r>
          </a:p>
          <a:p>
            <a:pPr algn="ctr">
              <a:spcAft>
                <a:spcPts val="500"/>
              </a:spcAft>
            </a:pPr>
            <a:r>
              <a:rPr sz="1900" b="1">
                <a:solidFill>
                  <a:srgbClr val="19324D"/>
                </a:solidFill>
                <a:latin typeface="Arial"/>
              </a:rPr>
              <a:t>SHAMBHU PANDEY  |  25MCA1020</a:t>
            </a:r>
          </a:p>
          <a:p>
            <a:pPr algn="ctr">
              <a:spcAft>
                <a:spcPts val="200"/>
              </a:spcAft>
            </a:pPr>
            <a:r>
              <a:rPr sz="1500" b="0">
                <a:solidFill>
                  <a:srgbClr val="2B3744"/>
                </a:solidFill>
                <a:latin typeface="Arial"/>
              </a:rPr>
              <a:t>Master of Computer Applications (MCA)</a:t>
            </a:r>
          </a:p>
          <a:p>
            <a:pPr algn="ctr">
              <a:spcAft>
                <a:spcPts val="200"/>
              </a:spcAft>
            </a:pPr>
            <a:r>
              <a:rPr sz="1500" b="0">
                <a:solidFill>
                  <a:srgbClr val="2B3744"/>
                </a:solidFill>
                <a:latin typeface="Arial"/>
              </a:rPr>
              <a:t>Under the Guidance of</a:t>
            </a:r>
          </a:p>
          <a:p>
            <a:pPr algn="ctr">
              <a:spcAft>
                <a:spcPts val="500"/>
              </a:spcAft>
            </a:pPr>
            <a:r>
              <a:rPr sz="1700" b="1">
                <a:solidFill>
                  <a:srgbClr val="19324D"/>
                </a:solidFill>
                <a:latin typeface="Arial"/>
              </a:rPr>
              <a:t>Tamilrashi  |  Professor</a:t>
            </a:r>
          </a:p>
          <a:p>
            <a:pPr algn="ctr">
              <a:spcAft>
                <a:spcPts val="200"/>
              </a:spcAft>
            </a:pPr>
            <a:r>
              <a:rPr sz="1400" b="0">
                <a:solidFill>
                  <a:srgbClr val="2B3744"/>
                </a:solidFill>
                <a:latin typeface="Arial"/>
              </a:rPr>
              <a:t>School of Computer Science and Engineering</a:t>
            </a:r>
          </a:p>
          <a:p>
            <a:pPr algn="ctr">
              <a:spcAft>
                <a:spcPts val="200"/>
              </a:spcAft>
            </a:pPr>
            <a:r>
              <a:rPr sz="1400" b="0">
                <a:solidFill>
                  <a:srgbClr val="2B3744"/>
                </a:solidFill>
                <a:latin typeface="Arial"/>
              </a:rPr>
              <a:t>Vellore Institute of Technology, Chennai</a:t>
            </a:r>
          </a:p>
        </p:txBody>
      </p:sp>
      <p:pic>
        <p:nvPicPr>
          <p:cNvPr id="5" name="Picture 4">
            <a:extLst>
              <a:ext uri="{FF2B5EF4-FFF2-40B4-BE49-F238E27FC236}">
                <a16:creationId xmlns:a16="http://schemas.microsoft.com/office/drawing/2014/main" id="{D3C77652-7BC5-33CD-3492-BA774BD65F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719522"/>
            <a:ext cx="3620039" cy="1369117"/>
          </a:xfrm>
          <a:prstGeom prst="rect">
            <a:avLst/>
          </a:prstGeom>
        </p:spPr>
      </p:pic>
    </p:spTree>
    <p:extLst>
      <p:ext uri="{BB962C8B-B14F-4D97-AF65-F5344CB8AC3E}">
        <p14:creationId xmlns:p14="http://schemas.microsoft.com/office/powerpoint/2010/main" val="49984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CONTENTS</a:t>
            </a:r>
          </a:p>
        </p:txBody>
      </p:sp>
      <p:sp>
        <p:nvSpPr>
          <p:cNvPr id="5" name="Content Placeholder 2"/>
          <p:cNvSpPr txBox="1">
            <a:spLocks/>
          </p:cNvSpPr>
          <p:nvPr/>
        </p:nvSpPr>
        <p:spPr>
          <a:xfrm>
            <a:off x="76200" y="1600200"/>
            <a:ext cx="12649200" cy="5638800"/>
          </a:xfrm>
          <a:prstGeom prst="rect">
            <a:avLst/>
          </a:prstGeom>
        </p:spPr>
        <p:txBody>
          <a:bodyPr vert="horz" lIns="1188720" tIns="182880" rIns="365760" bIns="91440" rtlCol="0" wrap="square" anchor="t">
            <a:normAutofit/>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sz="2000" b="0">
                <a:solidFill>
                  <a:srgbClr val="2B3744"/>
                </a:solidFill>
                <a:latin typeface="Arial"/>
              </a:rPr>
              <a:t>1. Abstract
2. Introduction
3. Literature Survey
4. Research Gaps
5. Objectives
6. Research Work Done
7. Module Identification
8. System Architecture
9. Development &amp; Integration
10. Prototype / Research Framework
11. Conclusions
12. Outcome and Results
13. Timeline / Gantt Chart</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1. ABSTRACT</a:t>
            </a:r>
          </a:p>
        </p:txBody>
      </p:sp>
      <p:sp>
        <p:nvSpPr>
          <p:cNvPr id="3" name="Content Placeholder 2"/>
          <p:cNvSpPr>
            <a:spLocks noGrp="1"/>
          </p:cNvSpPr>
          <p:nvPr>
            <p:ph idx="1"/>
          </p:nvPr>
        </p:nvSpPr>
        <p:spPr>
          <a:xfrm>
            <a:off x="152400" y="1706880"/>
            <a:ext cx="12344400" cy="4827694"/>
          </a:xfrm>
        </p:spPr>
        <p:txBody>
          <a:bodyPr wrap="square" anchor="ctr" lIns="365760" rIns="365760" tIns="146304" bIns="146304">
            <a:normAutofit/>
          </a:bodyPr>
          <a:lstStyle/>
          <a:p>
            <a:pPr marL="0" indent="0">
              <a:buNone/>
            </a:pPr>
            <a:r>
              <a:rPr sz="2100" b="0">
                <a:solidFill>
                  <a:srgbClr val="2B3744"/>
                </a:solidFill>
                <a:latin typeface="Times New Roman"/>
              </a:rPr>
              <a:t>Fraud detection is challenging because fraudulent activity is rare, patterns vary by domain, and false alarms can be costly. This project presents Nexus Fraud Defense, a Streamlit prototype for preparing and evaluating labeled PaySim, BankSim, IEEE-CIS, and CICIDS2017 datasets. A configured feature pipeline removes target leakage, prepares categorical and numeric inputs, and creates training and holdout partitions. Logistic Regression, Random Forest, XGBoost, and Isolation Forest are compared using accuracy, precision, recall, F1, AUC, confusion counts, and decision thresholds. Saved pipelines support interactive example scoring in the dashboard. A separate scenario simulator illustrates configurable risk-state transitions and a rule-based intervention. Current saved holdout results show different precision-recall trade-offs across datasets. The system is an educational benchmark prototype: it is not connected to live payment or network systems, and its simulator is not learned from the benchmark data.</a:t>
            </a:r>
          </a:p>
        </p:txBody>
      </p:sp>
      <p:sp>
        <p:nvSpPr>
          <p:cNvPr id="4" name="Slide Number Placeholder 3"/>
          <p:cNvSpPr>
            <a:spLocks noGrp="1"/>
          </p:cNvSpPr>
          <p:nvPr>
            <p:ph type="sldNum" sz="quarter" idx="12"/>
          </p:nvPr>
        </p:nvSpPr>
        <p:spPr/>
        <p:txBody>
          <a:bodyPr/>
          <a:lstStyle/>
          <a:p>
            <a:fld id="{C02A2637-A5A3-49FA-B214-6E67543099EF}" type="slidenum">
              <a:rPr lang="en-US" smtClean="0"/>
              <a:t>3</a:t>
            </a:fld>
            <a:endParaRPr lang="en-US"/>
          </a:p>
        </p:txBody>
      </p:sp>
    </p:spTree>
    <p:extLst>
      <p:ext uri="{BB962C8B-B14F-4D97-AF65-F5344CB8AC3E}">
        <p14:creationId xmlns:p14="http://schemas.microsoft.com/office/powerpoint/2010/main" val="73594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2. INTRODUCTION</a:t>
            </a:r>
          </a:p>
        </p:txBody>
      </p:sp>
      <p:sp>
        <p:nvSpPr>
          <p:cNvPr id="4" name="Slide Number Placeholder 3"/>
          <p:cNvSpPr>
            <a:spLocks noGrp="1"/>
          </p:cNvSpPr>
          <p:nvPr>
            <p:ph type="sldNum" sz="quarter" idx="12"/>
          </p:nvPr>
        </p:nvSpPr>
        <p:spPr/>
        <p:txBody>
          <a:bodyPr/>
          <a:lstStyle/>
          <a:p>
            <a:fld id="{C02A2637-A5A3-49FA-B214-6E67543099EF}" type="slidenum">
              <a:rPr lang="en-US" smtClean="0"/>
              <a:t>4</a:t>
            </a:fld>
            <a:endParaRPr lang="en-US"/>
          </a:p>
        </p:txBody>
      </p:sp>
      <p:sp>
        <p:nvSpPr>
          <p:cNvPr id="5" name="TextBox 4"/>
          <p:cNvSpPr txBox="1"/>
          <p:nvPr/>
        </p:nvSpPr>
        <p:spPr>
          <a:xfrm>
            <a:off x="850392" y="1810512"/>
            <a:ext cx="11064240" cy="3886200"/>
          </a:xfrm>
          <a:prstGeom prst="rect">
            <a:avLst/>
          </a:prstGeom>
          <a:noFill/>
        </p:spPr>
        <p:txBody>
          <a:bodyPr wrap="square" anchor="ctr" lIns="73152" rIns="73152" tIns="73152" bIns="73152">
            <a:normAutofit/>
          </a:bodyPr>
          <a:lstStyle/>
          <a:p>
            <a:pPr algn="l"/>
            <a:r>
              <a:rPr sz="2200" b="0">
                <a:solidFill>
                  <a:srgbClr val="2B3744"/>
                </a:solidFill>
                <a:latin typeface="Arial"/>
              </a:rPr>
              <a:t>Digital payment and online-commerce systems face attempts to misuse accounts and payment instruments. Network intrusion is a related but distinct detection problem. Research is complicated by privacy limits on financial data, highly imbalanced labels, and changing behavior. PaySim and BankSim provide simulated payment data [2], [3]; IEEE-CIS provides an anonymized e-commerce competition benchmark [7]; CICIDS2017 provides labeled network flows [6]. This project combines these sources in a single demonstration dashboard to compare model behavior, make threshold trade-offs visible, and explore risk scenarios. Its goal is an understandable research prototype, not a production fraud-blocking service. The results should be interpreted within each dataset and validated independently before any operational use.</a:t>
            </a:r>
          </a:p>
        </p:txBody>
      </p:sp>
      <p:sp>
        <p:nvSpPr>
          <p:cNvPr id="6" name="TextBox 5"/>
          <p:cNvSpPr txBox="1"/>
          <p:nvPr/>
        </p:nvSpPr>
        <p:spPr>
          <a:xfrm>
            <a:off x="566928" y="5797296"/>
            <a:ext cx="11612880" cy="731520"/>
          </a:xfrm>
          <a:prstGeom prst="rect">
            <a:avLst/>
          </a:prstGeom>
          <a:noFill/>
        </p:spPr>
        <p:txBody>
          <a:bodyPr wrap="square" anchor="ctr" lIns="10972" rIns="10972" tIns="10972" bIns="10972">
            <a:normAutofit/>
          </a:bodyPr>
          <a:lstStyle/>
          <a:p>
            <a:pPr algn="l"/>
            <a:r>
              <a:rPr sz="770" b="0">
                <a:solidFill>
                  <a:srgbClr val="63707E"/>
                </a:solidFill>
                <a:latin typeface="Arial"/>
              </a:rPr>
              <a:t>[1] R. J. Bolton and D. J. Hand, “Statistical Fraud Detection: A Review,” Statistical Science, vol. 17, no. 3, pp. 235–255, 2002.
[2] E. A. Lopez-Rojas, A. Elmir, and S. Axelsson, “PaySim: A Financial Mobile Money Simulator for Fraud Detection,” EMSS, 2016.
[3] E. A. Lopez-Rojas and S. Axelsson, “BankSim: A Bank Payments Simulator for Fraud Detection Research,” EMSS, 2014.
[6] I. Sharafaldin, A. H. Lashkari, and A. A. Ghorbani, “Toward Generating a New Intrusion Detection Dataset and Intrusion Traffic Characterization,” ICISSP, 2018. [7] IEEE-CIS Fraud Detection, Kaggle, 2019.</a:t>
            </a:r>
          </a:p>
        </p:txBody>
      </p:sp>
    </p:spTree>
    <p:extLst>
      <p:ext uri="{BB962C8B-B14F-4D97-AF65-F5344CB8AC3E}">
        <p14:creationId xmlns:p14="http://schemas.microsoft.com/office/powerpoint/2010/main" val="297397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3. LITERATURE SURVEY</a:t>
            </a:r>
          </a:p>
        </p:txBody>
      </p:sp>
      <p:graphicFrame>
        <p:nvGraphicFramePr>
          <p:cNvPr id="5" name="Content Placeholder 5"/>
          <p:cNvGraphicFramePr>
            <a:graphicFrameLocks/>
          </p:cNvGraphicFramePr>
          <p:nvPr>
            <p:extLst>
              <p:ext uri="{D42A27DB-BD31-4B8C-83A1-F6EECF244321}">
                <p14:modId xmlns:p14="http://schemas.microsoft.com/office/powerpoint/2010/main" val="3818914007"/>
              </p:ext>
            </p:extLst>
          </p:nvPr>
        </p:nvGraphicFramePr>
        <p:xfrm>
          <a:off x="685799" y="1669892"/>
          <a:ext cx="11475720" cy="4096512"/>
        </p:xfrm>
        <a:graphic>
          <a:graphicData uri="http://schemas.openxmlformats.org/drawingml/2006/table">
            <a:tbl>
              <a:tblPr firstRow="1" firstCol="1" bandRow="1">
                <a:tableStyleId>{BC89EF96-8CEA-46FF-86C4-4CE0E7609802}</a:tableStyleId>
              </a:tblPr>
              <a:tblGrid>
                <a:gridCol w="5029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3063240">
                  <a:extLst>
                    <a:ext uri="{9D8B030D-6E8A-4147-A177-3AD203B41FA5}">
                      <a16:colId xmlns:a16="http://schemas.microsoft.com/office/drawing/2014/main" val="1023101934"/>
                    </a:ext>
                  </a:extLst>
                </a:gridCol>
                <a:gridCol w="3429000">
                  <a:extLst>
                    <a:ext uri="{9D8B030D-6E8A-4147-A177-3AD203B41FA5}">
                      <a16:colId xmlns:a16="http://schemas.microsoft.com/office/drawing/2014/main" val="548304626"/>
                    </a:ext>
                  </a:extLst>
                </a:gridCol>
              </a:tblGrid>
              <a:tr h="438912">
                <a:tc>
                  <a:txBody>
                    <a:bodyPr/>
                    <a:lstStyle/>
                    <a:p>
                      <a:pPr algn="ctr">
                        <a:spcAft>
                          <a:spcPts val="0"/>
                        </a:spcAft>
                      </a:pPr>
                      <a:r>
                        <a:rPr sz="1150" b="1">
                          <a:solidFill>
                            <a:srgbClr val="FFFFFF"/>
                          </a:solidFill>
                          <a:latin typeface="Arial"/>
                        </a:rPr>
                        <a:t>S.No</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Article Title</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Techniques Used</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Key Findings</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Limitations</a:t>
                      </a:r>
                    </a:p>
                  </a:txBody>
                  <a:tcPr marL="64008" marR="54864" marT="32004" marB="32004" anchor="ctr">
                    <a:solidFill>
                      <a:srgbClr val="19324D"/>
                    </a:solidFill>
                  </a:tcPr>
                </a:tc>
                <a:extLst>
                  <a:ext uri="{0D108BD9-81ED-4DB2-BD59-A6C34878D82A}">
                    <a16:rowId xmlns:a16="http://schemas.microsoft.com/office/drawing/2014/main" val="10000"/>
                  </a:ext>
                </a:extLst>
              </a:tr>
              <a:tr h="914400">
                <a:tc>
                  <a:txBody>
                    <a:bodyPr/>
                    <a:lstStyle/>
                    <a:p>
                      <a:pPr algn="ctr">
                        <a:spcAft>
                          <a:spcPts val="0"/>
                        </a:spcAft>
                      </a:pPr>
                      <a:r>
                        <a:rPr sz="1050" b="0">
                          <a:solidFill>
                            <a:srgbClr val="2B3744"/>
                          </a:solidFill>
                          <a:latin typeface="Arial"/>
                        </a:rPr>
                        <a:t>1</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Bolton &amp; Hand (2002) [1]</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Statistical fraud detection review</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Frames fraud as a rare, adaptive detection problem.</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Review paper; results depend on domain data and evaluation.</a:t>
                      </a:r>
                    </a:p>
                  </a:txBody>
                  <a:tcPr marL="64008" marR="54864" marT="32004" marB="32004" anchor="ctr">
                    <a:solidFill>
                      <a:srgbClr val="C4E1F2"/>
                    </a:solidFill>
                  </a:tcPr>
                </a:tc>
                <a:extLst>
                  <a:ext uri="{0D108BD9-81ED-4DB2-BD59-A6C34878D82A}">
                    <a16:rowId xmlns:a16="http://schemas.microsoft.com/office/drawing/2014/main" val="10001"/>
                  </a:ext>
                </a:extLst>
              </a:tr>
              <a:tr h="914400">
                <a:tc>
                  <a:txBody>
                    <a:bodyPr/>
                    <a:lstStyle/>
                    <a:p>
                      <a:pPr algn="ctr">
                        <a:spcAft>
                          <a:spcPts val="0"/>
                        </a:spcAft>
                      </a:pPr>
                      <a:r>
                        <a:rPr sz="1050" b="0">
                          <a:solidFill>
                            <a:srgbClr val="2B3744"/>
                          </a:solidFill>
                          <a:latin typeface="Arial"/>
                        </a:rPr>
                        <a:t>2</a:t>
                      </a:r>
                    </a:p>
                  </a:txBody>
                  <a:tcPr marL="64008" marR="54864" marT="32004" marB="32004" anchor="ctr"/>
                </a:tc>
                <a:tc>
                  <a:txBody>
                    <a:bodyPr/>
                    <a:lstStyle/>
                    <a:p>
                      <a:pPr algn="l">
                        <a:spcAft>
                          <a:spcPts val="0"/>
                        </a:spcAft>
                      </a:pPr>
                      <a:r>
                        <a:rPr sz="1050" b="0">
                          <a:solidFill>
                            <a:srgbClr val="2B3744"/>
                          </a:solidFill>
                          <a:latin typeface="Arial"/>
                        </a:rPr>
                        <a:t>PaySim (2016) + BankSim (2014) [2], [3]</a:t>
                      </a:r>
                    </a:p>
                  </a:txBody>
                  <a:tcPr marL="64008" marR="54864" marT="32004" marB="32004" anchor="ctr"/>
                </a:tc>
                <a:tc>
                  <a:txBody>
                    <a:bodyPr/>
                    <a:lstStyle/>
                    <a:p>
                      <a:pPr algn="l">
                        <a:spcAft>
                          <a:spcPts val="0"/>
                        </a:spcAft>
                      </a:pPr>
                      <a:r>
                        <a:rPr sz="1050" b="0">
                          <a:solidFill>
                            <a:srgbClr val="2B3744"/>
                          </a:solidFill>
                          <a:latin typeface="Arial"/>
                        </a:rPr>
                        <a:t>Agent-based transaction simulators</a:t>
                      </a:r>
                    </a:p>
                  </a:txBody>
                  <a:tcPr marL="64008" marR="54864" marT="32004" marB="32004" anchor="ctr"/>
                </a:tc>
                <a:tc>
                  <a:txBody>
                    <a:bodyPr/>
                    <a:lstStyle/>
                    <a:p>
                      <a:pPr algn="l">
                        <a:spcAft>
                          <a:spcPts val="0"/>
                        </a:spcAft>
                      </a:pPr>
                      <a:r>
                        <a:rPr sz="1050" b="0">
                          <a:solidFill>
                            <a:srgbClr val="2B3744"/>
                          </a:solidFill>
                          <a:latin typeface="Arial"/>
                        </a:rPr>
                        <a:t>Provide shareable labeled data for studying payment fraud.</a:t>
                      </a:r>
                    </a:p>
                  </a:txBody>
                  <a:tcPr marL="64008" marR="54864" marT="32004" marB="32004" anchor="ctr"/>
                </a:tc>
                <a:tc>
                  <a:txBody>
                    <a:bodyPr/>
                    <a:lstStyle/>
                    <a:p>
                      <a:pPr algn="l">
                        <a:spcAft>
                          <a:spcPts val="0"/>
                        </a:spcAft>
                      </a:pPr>
                      <a:r>
                        <a:rPr sz="1050" b="0">
                          <a:solidFill>
                            <a:srgbClr val="2B3744"/>
                          </a:solidFill>
                          <a:latin typeface="Arial"/>
                        </a:rPr>
                        <a:t>Synthetic transactions do not guarantee transfer to observed or future data.</a:t>
                      </a:r>
                    </a:p>
                  </a:txBody>
                  <a:tcPr marL="64008" marR="54864" marT="32004" marB="32004" anchor="ctr"/>
                </a:tc>
                <a:extLst>
                  <a:ext uri="{0D108BD9-81ED-4DB2-BD59-A6C34878D82A}">
                    <a16:rowId xmlns:a16="http://schemas.microsoft.com/office/drawing/2014/main" val="10002"/>
                  </a:ext>
                </a:extLst>
              </a:tr>
              <a:tr h="914400">
                <a:tc>
                  <a:txBody>
                    <a:bodyPr/>
                    <a:lstStyle/>
                    <a:p>
                      <a:pPr algn="ctr">
                        <a:spcAft>
                          <a:spcPts val="0"/>
                        </a:spcAft>
                      </a:pPr>
                      <a:r>
                        <a:rPr sz="1050" b="0">
                          <a:solidFill>
                            <a:srgbClr val="2B3744"/>
                          </a:solidFill>
                          <a:latin typeface="Arial"/>
                        </a:rPr>
                        <a:t>3</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Chen &amp; Guestrin (2016), XGBoost [4]</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Regularized gradient-boosted trees</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Scalable tree boosting for structured prediction tasks.</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Requires tuning; ranking performance does not set an operating threshold.</a:t>
                      </a:r>
                    </a:p>
                  </a:txBody>
                  <a:tcPr marL="64008" marR="54864" marT="32004" marB="32004" anchor="ctr">
                    <a:solidFill>
                      <a:srgbClr val="C4E1F2"/>
                    </a:solidFill>
                  </a:tcPr>
                </a:tc>
                <a:extLst>
                  <a:ext uri="{0D108BD9-81ED-4DB2-BD59-A6C34878D82A}">
                    <a16:rowId xmlns:a16="http://schemas.microsoft.com/office/drawing/2014/main" val="10003"/>
                  </a:ext>
                </a:extLst>
              </a:tr>
              <a:tr h="914400">
                <a:tc>
                  <a:txBody>
                    <a:bodyPr/>
                    <a:lstStyle/>
                    <a:p>
                      <a:pPr algn="ctr">
                        <a:spcAft>
                          <a:spcPts val="0"/>
                        </a:spcAft>
                      </a:pPr>
                      <a:r>
                        <a:rPr sz="1050" b="0">
                          <a:solidFill>
                            <a:srgbClr val="2B3744"/>
                          </a:solidFill>
                          <a:latin typeface="Arial"/>
                        </a:rPr>
                        <a:t>4</a:t>
                      </a:r>
                    </a:p>
                  </a:txBody>
                  <a:tcPr marL="64008" marR="54864" marT="32004" marB="32004" anchor="ctr"/>
                </a:tc>
                <a:tc>
                  <a:txBody>
                    <a:bodyPr/>
                    <a:lstStyle/>
                    <a:p>
                      <a:pPr algn="l">
                        <a:spcAft>
                          <a:spcPts val="0"/>
                        </a:spcAft>
                      </a:pPr>
                      <a:r>
                        <a:rPr sz="1050" b="0">
                          <a:solidFill>
                            <a:srgbClr val="2B3744"/>
                          </a:solidFill>
                          <a:latin typeface="Arial"/>
                        </a:rPr>
                        <a:t>Liu, Ting &amp; Zhou (2008), Isolation Forest [5]</a:t>
                      </a:r>
                    </a:p>
                  </a:txBody>
                  <a:tcPr marL="64008" marR="54864" marT="32004" marB="32004" anchor="ctr"/>
                </a:tc>
                <a:tc>
                  <a:txBody>
                    <a:bodyPr/>
                    <a:lstStyle/>
                    <a:p>
                      <a:pPr algn="l">
                        <a:spcAft>
                          <a:spcPts val="0"/>
                        </a:spcAft>
                      </a:pPr>
                      <a:r>
                        <a:rPr sz="1050" b="0">
                          <a:solidFill>
                            <a:srgbClr val="2B3744"/>
                          </a:solidFill>
                          <a:latin typeface="Arial"/>
                        </a:rPr>
                        <a:t>Unsupervised isolation-based anomaly detection</a:t>
                      </a:r>
                    </a:p>
                  </a:txBody>
                  <a:tcPr marL="64008" marR="54864" marT="32004" marB="32004" anchor="ctr"/>
                </a:tc>
                <a:tc>
                  <a:txBody>
                    <a:bodyPr/>
                    <a:lstStyle/>
                    <a:p>
                      <a:pPr algn="l">
                        <a:spcAft>
                          <a:spcPts val="0"/>
                        </a:spcAft>
                      </a:pPr>
                      <a:r>
                        <a:rPr sz="1050" b="0">
                          <a:solidFill>
                            <a:srgbClr val="2B3744"/>
                          </a:solidFill>
                          <a:latin typeface="Arial"/>
                        </a:rPr>
                        <a:t>Finds unusual records without supervised labels at fit time.</a:t>
                      </a:r>
                    </a:p>
                  </a:txBody>
                  <a:tcPr marL="64008" marR="54864" marT="32004" marB="32004" anchor="ctr"/>
                </a:tc>
                <a:tc>
                  <a:txBody>
                    <a:bodyPr/>
                    <a:lstStyle/>
                    <a:p>
                      <a:pPr algn="l">
                        <a:spcAft>
                          <a:spcPts val="0"/>
                        </a:spcAft>
                      </a:pPr>
                      <a:r>
                        <a:rPr sz="1050" b="0">
                          <a:solidFill>
                            <a:srgbClr val="2B3744"/>
                          </a:solidFill>
                          <a:latin typeface="Arial"/>
                        </a:rPr>
                        <a:t>Anomaly is not the same as fraud; anomaly scores need careful interpretation.</a:t>
                      </a:r>
                    </a:p>
                  </a:txBody>
                  <a:tcPr marL="64008" marR="54864" marT="32004" marB="32004"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C02A2637-A5A3-49FA-B214-6E67543099EF}" type="slidenum">
              <a:rPr lang="en-US" smtClean="0"/>
              <a:t>5</a:t>
            </a:fld>
            <a:endParaRPr lang="en-US"/>
          </a:p>
        </p:txBody>
      </p:sp>
      <p:sp>
        <p:nvSpPr>
          <p:cNvPr id="6" name="TextBox 5"/>
          <p:cNvSpPr txBox="1"/>
          <p:nvPr/>
        </p:nvSpPr>
        <p:spPr>
          <a:xfrm>
            <a:off x="566928" y="5843016"/>
            <a:ext cx="11612880" cy="713232"/>
          </a:xfrm>
          <a:prstGeom prst="rect">
            <a:avLst/>
          </a:prstGeom>
          <a:noFill/>
        </p:spPr>
        <p:txBody>
          <a:bodyPr wrap="square" anchor="ctr" lIns="10972" rIns="10972" tIns="10972" bIns="10972">
            <a:normAutofit/>
          </a:bodyPr>
          <a:lstStyle/>
          <a:p>
            <a:pPr algn="l"/>
            <a:r>
              <a:rPr sz="720" b="0">
                <a:solidFill>
                  <a:srgbClr val="63707E"/>
                </a:solidFill>
                <a:latin typeface="Arial"/>
              </a:rPr>
              <a:t>[1] R. J. Bolton and D. J. Hand, “Statistical Fraud Detection: A Review,” Statistical Science, vol. 17, no. 3, pp. 235–255, 2002.
[2] E. A. Lopez-Rojas, A. Elmir, and S. Axelsson, “PaySim: A Financial Mobile Money Simulator for Fraud Detection,” EMSS, 2016.
[3] E. A. Lopez-Rojas and S. Axelsson, “BankSim: A Bank Payments Simulator for Fraud Detection Research,” EMSS, 2014.
[4] T. Chen and C. Guestrin, “XGBoost: A Scalable Tree Boosting System,” Proc. ACM SIGKDD, pp. 785–794, 2016.
[5] F. T. Liu, K. M. Ting, and Z.-H. Zhou, “Isolation Forest,” Proc. IEEE ICDM, pp. 413–422, 2008.
[6] I. Sharafaldin, A. H. Lashkari, and A. A. Ghorbani, “Toward Generating a New Intrusion Detection Dataset and Intrusion Traffic Characterization,” ICISSP, 2018.
[7] IEEE Computational Intelligence Society, “IEEE-CIS Fraud Detection,” Kaggle competition, 2019.</a:t>
            </a:r>
          </a:p>
        </p:txBody>
      </p:sp>
    </p:spTree>
    <p:extLst>
      <p:ext uri="{BB962C8B-B14F-4D97-AF65-F5344CB8AC3E}">
        <p14:creationId xmlns:p14="http://schemas.microsoft.com/office/powerpoint/2010/main" val="309547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4EBC-07D1-5582-ECAD-FB015F64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3089C-2484-51E9-0A89-B13831434514}"/>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b="1">
                <a:latin typeface="Arial"/>
              </a:rPr>
              <a:t>4. RESEARCH GAPS</a:t>
            </a:r>
          </a:p>
        </p:txBody>
      </p:sp>
      <p:sp>
        <p:nvSpPr>
          <p:cNvPr id="4" name="Slide Number Placeholder 3">
            <a:extLst>
              <a:ext uri="{FF2B5EF4-FFF2-40B4-BE49-F238E27FC236}">
                <a16:creationId xmlns:a16="http://schemas.microsoft.com/office/drawing/2014/main" id="{A9E1DF2F-2EFC-F28C-9A44-F9337C42CAAA}"/>
              </a:ext>
            </a:extLst>
          </p:cNvPr>
          <p:cNvSpPr>
            <a:spLocks noGrp="1"/>
          </p:cNvSpPr>
          <p:nvPr>
            <p:ph type="sldNum" sz="quarter" idx="12"/>
          </p:nvPr>
        </p:nvSpPr>
        <p:spPr/>
        <p:txBody>
          <a:bodyPr/>
          <a:lstStyle/>
          <a:p>
            <a:fld id="{C02A2637-A5A3-49FA-B214-6E67543099EF}" type="slidenum">
              <a:rPr lang="en-US" smtClean="0"/>
              <a:t>6</a:t>
            </a:fld>
            <a:endParaRPr lang="en-US"/>
          </a:p>
        </p:txBody>
      </p:sp>
      <p:sp>
        <p:nvSpPr>
          <p:cNvPr id="5" name="Rounded Rectangle 4"/>
          <p:cNvSpPr/>
          <p:nvPr/>
        </p:nvSpPr>
        <p:spPr>
          <a:xfrm>
            <a:off x="594360" y="1783080"/>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94376" cy="310896"/>
          </a:xfrm>
          <a:prstGeom prst="rect">
            <a:avLst/>
          </a:prstGeom>
          <a:noFill/>
        </p:spPr>
        <p:txBody>
          <a:bodyPr wrap="square" anchor="ctr" lIns="9144" rIns="9144" tIns="9144" bIns="9144">
            <a:normAutofit/>
          </a:bodyPr>
          <a:lstStyle/>
          <a:p>
            <a:pPr algn="l"/>
            <a:r>
              <a:rPr sz="1600" b="1">
                <a:solidFill>
                  <a:srgbClr val="1282BE"/>
                </a:solidFill>
                <a:latin typeface="Arial"/>
              </a:rPr>
              <a:t>Data access</a:t>
            </a:r>
          </a:p>
        </p:txBody>
      </p:sp>
      <p:sp>
        <p:nvSpPr>
          <p:cNvPr id="8" name="TextBox 7"/>
          <p:cNvSpPr txBox="1"/>
          <p:nvPr/>
        </p:nvSpPr>
        <p:spPr>
          <a:xfrm>
            <a:off x="758952" y="2212848"/>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Financial data are sensitive; public payment benchmarks include simulated or anonymized records.</a:t>
            </a:r>
          </a:p>
        </p:txBody>
      </p:sp>
      <p:sp>
        <p:nvSpPr>
          <p:cNvPr id="9" name="Rounded Rectangle 8"/>
          <p:cNvSpPr/>
          <p:nvPr/>
        </p:nvSpPr>
        <p:spPr>
          <a:xfrm>
            <a:off x="6473952" y="1783080"/>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3952" y="1783080"/>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856231"/>
            <a:ext cx="5294376" cy="310896"/>
          </a:xfrm>
          <a:prstGeom prst="rect">
            <a:avLst/>
          </a:prstGeom>
          <a:noFill/>
        </p:spPr>
        <p:txBody>
          <a:bodyPr wrap="square" anchor="ctr" lIns="9144" rIns="9144" tIns="9144" bIns="9144">
            <a:normAutofit/>
          </a:bodyPr>
          <a:lstStyle/>
          <a:p>
            <a:pPr algn="l"/>
            <a:r>
              <a:rPr sz="1600" b="1">
                <a:solidFill>
                  <a:srgbClr val="248F84"/>
                </a:solidFill>
                <a:latin typeface="Arial"/>
              </a:rPr>
              <a:t>Class imbalance</a:t>
            </a:r>
          </a:p>
        </p:txBody>
      </p:sp>
      <p:sp>
        <p:nvSpPr>
          <p:cNvPr id="12" name="TextBox 11"/>
          <p:cNvSpPr txBox="1"/>
          <p:nvPr/>
        </p:nvSpPr>
        <p:spPr>
          <a:xfrm>
            <a:off x="6638544" y="2212848"/>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Rare positive cases make accuracy alone weak evidence; alert burden and missed cases both matter.</a:t>
            </a:r>
          </a:p>
        </p:txBody>
      </p:sp>
      <p:sp>
        <p:nvSpPr>
          <p:cNvPr id="13" name="Rounded Rectangle 12"/>
          <p:cNvSpPr/>
          <p:nvPr/>
        </p:nvSpPr>
        <p:spPr>
          <a:xfrm>
            <a:off x="594360" y="3218688"/>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18688"/>
            <a:ext cx="82296" cy="1225296"/>
          </a:xfrm>
          <a:prstGeom prst="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291840"/>
            <a:ext cx="5294376" cy="310896"/>
          </a:xfrm>
          <a:prstGeom prst="rect">
            <a:avLst/>
          </a:prstGeom>
          <a:noFill/>
        </p:spPr>
        <p:txBody>
          <a:bodyPr wrap="square" anchor="ctr" lIns="9144" rIns="9144" tIns="9144" bIns="9144">
            <a:normAutofit/>
          </a:bodyPr>
          <a:lstStyle/>
          <a:p>
            <a:pPr algn="l"/>
            <a:r>
              <a:rPr sz="1600" b="1">
                <a:solidFill>
                  <a:srgbClr val="D69120"/>
                </a:solidFill>
                <a:latin typeface="Arial"/>
              </a:rPr>
              <a:t>Domain shift</a:t>
            </a:r>
          </a:p>
        </p:txBody>
      </p:sp>
      <p:sp>
        <p:nvSpPr>
          <p:cNvPr id="16" name="TextBox 15"/>
          <p:cNvSpPr txBox="1"/>
          <p:nvPr/>
        </p:nvSpPr>
        <p:spPr>
          <a:xfrm>
            <a:off x="758952" y="3648456"/>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Payment fraud and network attacks are different tasks; a shared UI does not make their patterns interchangeable.</a:t>
            </a:r>
          </a:p>
        </p:txBody>
      </p:sp>
      <p:sp>
        <p:nvSpPr>
          <p:cNvPr id="17" name="Rounded Rectangle 16"/>
          <p:cNvSpPr/>
          <p:nvPr/>
        </p:nvSpPr>
        <p:spPr>
          <a:xfrm>
            <a:off x="6473952" y="3218688"/>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3218688"/>
            <a:ext cx="82296" cy="1225296"/>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291840"/>
            <a:ext cx="5294376" cy="310896"/>
          </a:xfrm>
          <a:prstGeom prst="rect">
            <a:avLst/>
          </a:prstGeom>
          <a:noFill/>
        </p:spPr>
        <p:txBody>
          <a:bodyPr wrap="square" anchor="ctr" lIns="9144" rIns="9144" tIns="9144" bIns="9144">
            <a:normAutofit/>
          </a:bodyPr>
          <a:lstStyle/>
          <a:p>
            <a:pPr algn="l"/>
            <a:r>
              <a:rPr sz="1600" b="1">
                <a:solidFill>
                  <a:srgbClr val="22AAD2"/>
                </a:solidFill>
                <a:latin typeface="Arial"/>
              </a:rPr>
              <a:t>Temporal validity</a:t>
            </a:r>
          </a:p>
        </p:txBody>
      </p:sp>
      <p:sp>
        <p:nvSpPr>
          <p:cNvPr id="20" name="TextBox 19"/>
          <p:cNvSpPr txBox="1"/>
          <p:nvPr/>
        </p:nvSpPr>
        <p:spPr>
          <a:xfrm>
            <a:off x="6638544" y="3648456"/>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Random holdouts may not represent future behavior; independent later-period validation is still needed.</a:t>
            </a:r>
          </a:p>
        </p:txBody>
      </p:sp>
      <p:sp>
        <p:nvSpPr>
          <p:cNvPr id="21" name="Rounded Rectangle 20"/>
          <p:cNvSpPr/>
          <p:nvPr/>
        </p:nvSpPr>
        <p:spPr>
          <a:xfrm>
            <a:off x="594360" y="4654296"/>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654296"/>
            <a:ext cx="82296" cy="1225296"/>
          </a:xfrm>
          <a:prstGeom prst="rect">
            <a:avLst/>
          </a:prstGeom>
          <a:solidFill>
            <a:srgbClr val="BB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27448"/>
            <a:ext cx="5294376" cy="310896"/>
          </a:xfrm>
          <a:prstGeom prst="rect">
            <a:avLst/>
          </a:prstGeom>
          <a:noFill/>
        </p:spPr>
        <p:txBody>
          <a:bodyPr wrap="square" anchor="ctr" lIns="9144" rIns="9144" tIns="9144" bIns="9144">
            <a:normAutofit/>
          </a:bodyPr>
          <a:lstStyle/>
          <a:p>
            <a:pPr algn="l"/>
            <a:r>
              <a:rPr sz="1600" b="1">
                <a:solidFill>
                  <a:srgbClr val="BB4141"/>
                </a:solidFill>
                <a:latin typeface="Arial"/>
              </a:rPr>
              <a:t>Decision costs</a:t>
            </a:r>
          </a:p>
        </p:txBody>
      </p:sp>
      <p:sp>
        <p:nvSpPr>
          <p:cNvPr id="24" name="TextBox 23"/>
          <p:cNvSpPr txBox="1"/>
          <p:nvPr/>
        </p:nvSpPr>
        <p:spPr>
          <a:xfrm>
            <a:off x="758952" y="5084064"/>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A useful threshold depends on review capacity and the cost of false positives versus false negatives.</a:t>
            </a:r>
          </a:p>
        </p:txBody>
      </p:sp>
      <p:sp>
        <p:nvSpPr>
          <p:cNvPr id="25" name="Rounded Rectangle 24"/>
          <p:cNvSpPr/>
          <p:nvPr/>
        </p:nvSpPr>
        <p:spPr>
          <a:xfrm>
            <a:off x="6473952" y="4654296"/>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4654296"/>
            <a:ext cx="82296" cy="1225296"/>
          </a:xfrm>
          <a:prstGeom prst="rect">
            <a:avLst/>
          </a:prstGeom>
          <a:solidFill>
            <a:srgbClr val="19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4727448"/>
            <a:ext cx="5294376" cy="310896"/>
          </a:xfrm>
          <a:prstGeom prst="rect">
            <a:avLst/>
          </a:prstGeom>
          <a:noFill/>
        </p:spPr>
        <p:txBody>
          <a:bodyPr wrap="square" anchor="ctr" lIns="9144" rIns="9144" tIns="9144" bIns="9144">
            <a:normAutofit/>
          </a:bodyPr>
          <a:lstStyle/>
          <a:p>
            <a:pPr algn="l"/>
            <a:r>
              <a:rPr sz="1600" b="1">
                <a:solidFill>
                  <a:srgbClr val="19324D"/>
                </a:solidFill>
                <a:latin typeface="Arial"/>
              </a:rPr>
              <a:t>Twin validation</a:t>
            </a:r>
          </a:p>
        </p:txBody>
      </p:sp>
      <p:sp>
        <p:nvSpPr>
          <p:cNvPr id="28" name="TextBox 27"/>
          <p:cNvSpPr txBox="1"/>
          <p:nvPr/>
        </p:nvSpPr>
        <p:spPr>
          <a:xfrm>
            <a:off x="6638544" y="5084064"/>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The current scenario transitions are configured, not learned or calibrated against observed system dynamics.</a:t>
            </a:r>
          </a:p>
        </p:txBody>
      </p:sp>
      <p:sp>
        <p:nvSpPr>
          <p:cNvPr id="29" name="TextBox 28"/>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These gaps motivate comparison and transparent reporting; this prototype does not claim to resolve them all.</a:t>
            </a:r>
          </a:p>
        </p:txBody>
      </p:sp>
    </p:spTree>
    <p:extLst>
      <p:ext uri="{BB962C8B-B14F-4D97-AF65-F5344CB8AC3E}">
        <p14:creationId xmlns:p14="http://schemas.microsoft.com/office/powerpoint/2010/main" val="4241540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b="1">
                <a:latin typeface="Arial"/>
              </a:rPr>
              <a:t>5. OBJECTIVES</a:t>
            </a: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7</a:t>
            </a:fld>
            <a:endParaRPr lang="en-US"/>
          </a:p>
        </p:txBody>
      </p:sp>
      <p:sp>
        <p:nvSpPr>
          <p:cNvPr id="5" name="Rounded Rectangle 4"/>
          <p:cNvSpPr/>
          <p:nvPr/>
        </p:nvSpPr>
        <p:spPr>
          <a:xfrm>
            <a:off x="594360" y="1783080"/>
            <a:ext cx="5559552" cy="1207008"/>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20700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94376" cy="310896"/>
          </a:xfrm>
          <a:prstGeom prst="rect">
            <a:avLst/>
          </a:prstGeom>
          <a:noFill/>
        </p:spPr>
        <p:txBody>
          <a:bodyPr wrap="square" anchor="ctr" lIns="9144" rIns="9144" tIns="9144" bIns="9144">
            <a:normAutofit/>
          </a:bodyPr>
          <a:lstStyle/>
          <a:p>
            <a:pPr algn="l"/>
            <a:r>
              <a:rPr sz="1550" b="1">
                <a:solidFill>
                  <a:srgbClr val="1282BE"/>
                </a:solidFill>
                <a:latin typeface="Arial"/>
              </a:rPr>
              <a:t>01  Multi-domain data</a:t>
            </a:r>
          </a:p>
        </p:txBody>
      </p:sp>
      <p:sp>
        <p:nvSpPr>
          <p:cNvPr id="8" name="TextBox 7"/>
          <p:cNvSpPr txBox="1"/>
          <p:nvPr/>
        </p:nvSpPr>
        <p:spPr>
          <a:xfrm>
            <a:off x="758952" y="2212848"/>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Prepare four labeled datasets for separate binary detection tasks.</a:t>
            </a:r>
          </a:p>
        </p:txBody>
      </p:sp>
      <p:sp>
        <p:nvSpPr>
          <p:cNvPr id="9" name="Rounded Rectangle 8"/>
          <p:cNvSpPr/>
          <p:nvPr/>
        </p:nvSpPr>
        <p:spPr>
          <a:xfrm>
            <a:off x="6473952" y="1783080"/>
            <a:ext cx="5559552" cy="1207008"/>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3952" y="1783080"/>
            <a:ext cx="82296" cy="120700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856231"/>
            <a:ext cx="5294376" cy="310896"/>
          </a:xfrm>
          <a:prstGeom prst="rect">
            <a:avLst/>
          </a:prstGeom>
          <a:noFill/>
        </p:spPr>
        <p:txBody>
          <a:bodyPr wrap="square" anchor="ctr" lIns="9144" rIns="9144" tIns="9144" bIns="9144">
            <a:normAutofit/>
          </a:bodyPr>
          <a:lstStyle/>
          <a:p>
            <a:pPr algn="l"/>
            <a:r>
              <a:rPr sz="1550" b="1">
                <a:solidFill>
                  <a:srgbClr val="248F84"/>
                </a:solidFill>
                <a:latin typeface="Arial"/>
              </a:rPr>
              <a:t>02  Safe preparation</a:t>
            </a:r>
          </a:p>
        </p:txBody>
      </p:sp>
      <p:sp>
        <p:nvSpPr>
          <p:cNvPr id="12" name="TextBox 11"/>
          <p:cNvSpPr txBox="1"/>
          <p:nvPr/>
        </p:nvSpPr>
        <p:spPr>
          <a:xfrm>
            <a:off x="6638544" y="2212848"/>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Use configured features, remove target/leakage fields, and keep preprocessing within a saved pipeline.</a:t>
            </a:r>
          </a:p>
        </p:txBody>
      </p:sp>
      <p:sp>
        <p:nvSpPr>
          <p:cNvPr id="13" name="Rounded Rectangle 12"/>
          <p:cNvSpPr/>
          <p:nvPr/>
        </p:nvSpPr>
        <p:spPr>
          <a:xfrm>
            <a:off x="594360" y="3209544"/>
            <a:ext cx="5559552" cy="1207008"/>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09544"/>
            <a:ext cx="82296" cy="120700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282696"/>
            <a:ext cx="5294376" cy="310896"/>
          </a:xfrm>
          <a:prstGeom prst="rect">
            <a:avLst/>
          </a:prstGeom>
          <a:noFill/>
        </p:spPr>
        <p:txBody>
          <a:bodyPr wrap="square" anchor="ctr" lIns="9144" rIns="9144" tIns="9144" bIns="9144">
            <a:normAutofit/>
          </a:bodyPr>
          <a:lstStyle/>
          <a:p>
            <a:pPr algn="l"/>
            <a:r>
              <a:rPr sz="1550" b="1">
                <a:solidFill>
                  <a:srgbClr val="1282BE"/>
                </a:solidFill>
                <a:latin typeface="Arial"/>
              </a:rPr>
              <a:t>03  Model comparison</a:t>
            </a:r>
          </a:p>
        </p:txBody>
      </p:sp>
      <p:sp>
        <p:nvSpPr>
          <p:cNvPr id="16" name="TextBox 15"/>
          <p:cNvSpPr txBox="1"/>
          <p:nvPr/>
        </p:nvSpPr>
        <p:spPr>
          <a:xfrm>
            <a:off x="758952" y="3639311"/>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Evaluate three supervised classifiers and one unsupervised anomaly detector.</a:t>
            </a:r>
          </a:p>
        </p:txBody>
      </p:sp>
      <p:sp>
        <p:nvSpPr>
          <p:cNvPr id="17" name="Rounded Rectangle 16"/>
          <p:cNvSpPr/>
          <p:nvPr/>
        </p:nvSpPr>
        <p:spPr>
          <a:xfrm>
            <a:off x="6473952" y="3209544"/>
            <a:ext cx="5559552" cy="1207008"/>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3209544"/>
            <a:ext cx="82296" cy="120700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282696"/>
            <a:ext cx="5294376" cy="310896"/>
          </a:xfrm>
          <a:prstGeom prst="rect">
            <a:avLst/>
          </a:prstGeom>
          <a:noFill/>
        </p:spPr>
        <p:txBody>
          <a:bodyPr wrap="square" anchor="ctr" lIns="9144" rIns="9144" tIns="9144" bIns="9144">
            <a:normAutofit/>
          </a:bodyPr>
          <a:lstStyle/>
          <a:p>
            <a:pPr algn="l"/>
            <a:r>
              <a:rPr sz="1550" b="1">
                <a:solidFill>
                  <a:srgbClr val="248F84"/>
                </a:solidFill>
                <a:latin typeface="Arial"/>
              </a:rPr>
              <a:t>04  Explain trade-offs</a:t>
            </a:r>
          </a:p>
        </p:txBody>
      </p:sp>
      <p:sp>
        <p:nvSpPr>
          <p:cNvPr id="20" name="TextBox 19"/>
          <p:cNvSpPr txBox="1"/>
          <p:nvPr/>
        </p:nvSpPr>
        <p:spPr>
          <a:xfrm>
            <a:off x="6638544" y="3639311"/>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Show precision, recall, F1, AUC, confusion counts, and dataset/model thresholds.</a:t>
            </a:r>
          </a:p>
        </p:txBody>
      </p:sp>
      <p:sp>
        <p:nvSpPr>
          <p:cNvPr id="21" name="Rounded Rectangle 20"/>
          <p:cNvSpPr/>
          <p:nvPr/>
        </p:nvSpPr>
        <p:spPr>
          <a:xfrm>
            <a:off x="594360" y="4636008"/>
            <a:ext cx="5559552" cy="1207008"/>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636008"/>
            <a:ext cx="82296" cy="120700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09160"/>
            <a:ext cx="5294376" cy="310896"/>
          </a:xfrm>
          <a:prstGeom prst="rect">
            <a:avLst/>
          </a:prstGeom>
          <a:noFill/>
        </p:spPr>
        <p:txBody>
          <a:bodyPr wrap="square" anchor="ctr" lIns="9144" rIns="9144" tIns="9144" bIns="9144">
            <a:normAutofit/>
          </a:bodyPr>
          <a:lstStyle/>
          <a:p>
            <a:pPr algn="l"/>
            <a:r>
              <a:rPr sz="1550" b="1">
                <a:solidFill>
                  <a:srgbClr val="1282BE"/>
                </a:solidFill>
                <a:latin typeface="Arial"/>
              </a:rPr>
              <a:t>05  Interactive prototype</a:t>
            </a:r>
          </a:p>
        </p:txBody>
      </p:sp>
      <p:sp>
        <p:nvSpPr>
          <p:cNvPr id="24" name="TextBox 23"/>
          <p:cNvSpPr txBox="1"/>
          <p:nvPr/>
        </p:nvSpPr>
        <p:spPr>
          <a:xfrm>
            <a:off x="758952" y="5065776"/>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Score user-entered examples and display configured risk-scenario simulations.</a:t>
            </a:r>
          </a:p>
        </p:txBody>
      </p:sp>
      <p:sp>
        <p:nvSpPr>
          <p:cNvPr id="25" name="Rounded Rectangle 24"/>
          <p:cNvSpPr/>
          <p:nvPr/>
        </p:nvSpPr>
        <p:spPr>
          <a:xfrm>
            <a:off x="6473952" y="4636008"/>
            <a:ext cx="5559552" cy="1207008"/>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4636008"/>
            <a:ext cx="82296" cy="120700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4709160"/>
            <a:ext cx="5294376" cy="310896"/>
          </a:xfrm>
          <a:prstGeom prst="rect">
            <a:avLst/>
          </a:prstGeom>
          <a:noFill/>
        </p:spPr>
        <p:txBody>
          <a:bodyPr wrap="square" anchor="ctr" lIns="9144" rIns="9144" tIns="9144" bIns="9144">
            <a:normAutofit/>
          </a:bodyPr>
          <a:lstStyle/>
          <a:p>
            <a:pPr algn="l"/>
            <a:r>
              <a:rPr sz="1550" b="1">
                <a:solidFill>
                  <a:srgbClr val="248F84"/>
                </a:solidFill>
                <a:latin typeface="Arial"/>
              </a:rPr>
              <a:t>06  Honest reporting</a:t>
            </a:r>
          </a:p>
        </p:txBody>
      </p:sp>
      <p:sp>
        <p:nvSpPr>
          <p:cNvPr id="28" name="TextBox 27"/>
          <p:cNvSpPr txBox="1"/>
          <p:nvPr/>
        </p:nvSpPr>
        <p:spPr>
          <a:xfrm>
            <a:off x="6638544" y="5065776"/>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Document data provenance, sample sizes, limitations, and validation needs.</a:t>
            </a:r>
          </a:p>
        </p:txBody>
      </p:sp>
    </p:spTree>
    <p:extLst>
      <p:ext uri="{BB962C8B-B14F-4D97-AF65-F5344CB8AC3E}">
        <p14:creationId xmlns:p14="http://schemas.microsoft.com/office/powerpoint/2010/main" val="786986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6. RESEARCH WORK DONE</a:t>
            </a:r>
          </a:p>
        </p:txBody>
      </p:sp>
      <p:sp>
        <p:nvSpPr>
          <p:cNvPr id="4" name="Slide Number Placeholder 3"/>
          <p:cNvSpPr>
            <a:spLocks noGrp="1"/>
          </p:cNvSpPr>
          <p:nvPr>
            <p:ph type="sldNum" sz="quarter" idx="12"/>
          </p:nvPr>
        </p:nvSpPr>
        <p:spPr/>
        <p:txBody>
          <a:bodyPr/>
          <a:lstStyle/>
          <a:p>
            <a:fld id="{C02A2637-A5A3-49FA-B214-6E67543099EF}" type="slidenum">
              <a:rPr lang="en-US" smtClean="0"/>
              <a:t>8</a:t>
            </a:fld>
            <a:endParaRPr lang="en-US"/>
          </a:p>
        </p:txBody>
      </p:sp>
      <p:sp>
        <p:nvSpPr>
          <p:cNvPr id="5" name="TextBox 4"/>
          <p:cNvSpPr txBox="1"/>
          <p:nvPr/>
        </p:nvSpPr>
        <p:spPr>
          <a:xfrm>
            <a:off x="594360" y="1901952"/>
            <a:ext cx="11430000" cy="329184"/>
          </a:xfrm>
          <a:prstGeom prst="rect">
            <a:avLst/>
          </a:prstGeom>
          <a:noFill/>
        </p:spPr>
        <p:txBody>
          <a:bodyPr wrap="square" anchor="ctr" lIns="54864" rIns="54864" tIns="54864" bIns="54864">
            <a:normAutofit/>
          </a:bodyPr>
          <a:lstStyle/>
          <a:p>
            <a:pPr algn="ctr"/>
            <a:r>
              <a:rPr sz="1300" b="1">
                <a:solidFill>
                  <a:srgbClr val="63707E"/>
                </a:solidFill>
                <a:latin typeface="Arial"/>
              </a:rPr>
              <a:t>PROJECT IMPLEMENTATION STATUS</a:t>
            </a:r>
          </a:p>
        </p:txBody>
      </p:sp>
      <p:sp>
        <p:nvSpPr>
          <p:cNvPr id="6" name="Rounded Rectangle 5"/>
          <p:cNvSpPr/>
          <p:nvPr/>
        </p:nvSpPr>
        <p:spPr>
          <a:xfrm>
            <a:off x="566928"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761488"/>
            <a:ext cx="82296" cy="202996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34640"/>
            <a:ext cx="2432304" cy="310896"/>
          </a:xfrm>
          <a:prstGeom prst="rect">
            <a:avLst/>
          </a:prstGeom>
          <a:noFill/>
        </p:spPr>
        <p:txBody>
          <a:bodyPr wrap="square" anchor="ctr" lIns="9144" rIns="9144" tIns="9144" bIns="9144">
            <a:normAutofit/>
          </a:bodyPr>
          <a:lstStyle/>
          <a:p>
            <a:pPr algn="l"/>
            <a:r>
              <a:rPr sz="1700" b="1">
                <a:solidFill>
                  <a:srgbClr val="1282BE"/>
                </a:solidFill>
                <a:latin typeface="Arial"/>
              </a:rPr>
              <a:t>DATA</a:t>
            </a:r>
          </a:p>
        </p:txBody>
      </p:sp>
      <p:sp>
        <p:nvSpPr>
          <p:cNvPr id="9" name="TextBox 8"/>
          <p:cNvSpPr txBox="1"/>
          <p:nvPr/>
        </p:nvSpPr>
        <p:spPr>
          <a:xfrm>
            <a:off x="731520"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Four benchmark/simulator sources prepared; row counts and target labels recorded.</a:t>
            </a:r>
          </a:p>
        </p:txBody>
      </p:sp>
      <p:sp>
        <p:nvSpPr>
          <p:cNvPr id="10" name="Right Arrow 9"/>
          <p:cNvSpPr/>
          <p:nvPr/>
        </p:nvSpPr>
        <p:spPr>
          <a:xfrm>
            <a:off x="3291840" y="3611880"/>
            <a:ext cx="228600" cy="310896"/>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40"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2761488"/>
            <a:ext cx="82296" cy="202996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032" y="2834640"/>
            <a:ext cx="2432304" cy="310896"/>
          </a:xfrm>
          <a:prstGeom prst="rect">
            <a:avLst/>
          </a:prstGeom>
          <a:noFill/>
        </p:spPr>
        <p:txBody>
          <a:bodyPr wrap="square" anchor="ctr" lIns="9144" rIns="9144" tIns="9144" bIns="9144">
            <a:normAutofit/>
          </a:bodyPr>
          <a:lstStyle/>
          <a:p>
            <a:pPr algn="l"/>
            <a:r>
              <a:rPr sz="1700" b="1">
                <a:solidFill>
                  <a:srgbClr val="248F84"/>
                </a:solidFill>
                <a:latin typeface="Arial"/>
              </a:rPr>
              <a:t>PIPELINE</a:t>
            </a:r>
          </a:p>
        </p:txBody>
      </p:sp>
      <p:sp>
        <p:nvSpPr>
          <p:cNvPr id="14" name="TextBox 13"/>
          <p:cNvSpPr txBox="1"/>
          <p:nvPr/>
        </p:nvSpPr>
        <p:spPr>
          <a:xfrm>
            <a:off x="3685032"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Dataset-specific input fields, leakage exclusions, splits, and transforms implemented.</a:t>
            </a:r>
          </a:p>
        </p:txBody>
      </p:sp>
      <p:sp>
        <p:nvSpPr>
          <p:cNvPr id="15" name="Right Arrow 14"/>
          <p:cNvSpPr/>
          <p:nvPr/>
        </p:nvSpPr>
        <p:spPr>
          <a:xfrm>
            <a:off x="6245352" y="3611880"/>
            <a:ext cx="228600" cy="310896"/>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73952"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73952" y="2761488"/>
            <a:ext cx="82296" cy="202996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38544" y="2834640"/>
            <a:ext cx="2432304" cy="310896"/>
          </a:xfrm>
          <a:prstGeom prst="rect">
            <a:avLst/>
          </a:prstGeom>
          <a:noFill/>
        </p:spPr>
        <p:txBody>
          <a:bodyPr wrap="square" anchor="ctr" lIns="9144" rIns="9144" tIns="9144" bIns="9144">
            <a:normAutofit/>
          </a:bodyPr>
          <a:lstStyle/>
          <a:p>
            <a:pPr algn="l"/>
            <a:r>
              <a:rPr sz="1700" b="1">
                <a:solidFill>
                  <a:srgbClr val="22AAD2"/>
                </a:solidFill>
                <a:latin typeface="Arial"/>
              </a:rPr>
              <a:t>MODELS</a:t>
            </a:r>
          </a:p>
        </p:txBody>
      </p:sp>
      <p:sp>
        <p:nvSpPr>
          <p:cNvPr id="19" name="TextBox 18"/>
          <p:cNvSpPr txBox="1"/>
          <p:nvPr/>
        </p:nvSpPr>
        <p:spPr>
          <a:xfrm>
            <a:off x="6638544"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Four model families trained per dataset; 16 saved pipelines are present.</a:t>
            </a:r>
          </a:p>
        </p:txBody>
      </p:sp>
      <p:sp>
        <p:nvSpPr>
          <p:cNvPr id="20" name="Right Arrow 19"/>
          <p:cNvSpPr/>
          <p:nvPr/>
        </p:nvSpPr>
        <p:spPr>
          <a:xfrm>
            <a:off x="9198864" y="3611880"/>
            <a:ext cx="228600" cy="310896"/>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427463"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27463" y="2761488"/>
            <a:ext cx="82296" cy="2029968"/>
          </a:xfrm>
          <a:prstGeom prst="rect">
            <a:avLst/>
          </a:prstGeom>
          <a:solidFill>
            <a:srgbClr val="19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92055" y="2834640"/>
            <a:ext cx="2432304" cy="310896"/>
          </a:xfrm>
          <a:prstGeom prst="rect">
            <a:avLst/>
          </a:prstGeom>
          <a:noFill/>
        </p:spPr>
        <p:txBody>
          <a:bodyPr wrap="square" anchor="ctr" lIns="9144" rIns="9144" tIns="9144" bIns="9144">
            <a:normAutofit/>
          </a:bodyPr>
          <a:lstStyle/>
          <a:p>
            <a:pPr algn="l"/>
            <a:r>
              <a:rPr sz="1700" b="1">
                <a:solidFill>
                  <a:srgbClr val="19324D"/>
                </a:solidFill>
                <a:latin typeface="Arial"/>
              </a:rPr>
              <a:t>DASHBOARD</a:t>
            </a:r>
          </a:p>
        </p:txBody>
      </p:sp>
      <p:sp>
        <p:nvSpPr>
          <p:cNvPr id="24" name="TextBox 23"/>
          <p:cNvSpPr txBox="1"/>
          <p:nvPr/>
        </p:nvSpPr>
        <p:spPr>
          <a:xfrm>
            <a:off x="9592055"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Five Streamlit sections connected to saved models, metrics, forms, and scenarios.</a:t>
            </a:r>
          </a:p>
        </p:txBody>
      </p:sp>
      <p:sp>
        <p:nvSpPr>
          <p:cNvPr id="25" name="TextBox 24"/>
          <p:cNvSpPr txBox="1"/>
          <p:nvPr/>
        </p:nvSpPr>
        <p:spPr>
          <a:xfrm>
            <a:off x="841248" y="5230368"/>
            <a:ext cx="10972800" cy="658368"/>
          </a:xfrm>
          <a:prstGeom prst="rect">
            <a:avLst/>
          </a:prstGeom>
          <a:solidFill>
            <a:srgbClr val="FBF5E6"/>
          </a:solidFill>
          <a:ln>
            <a:noFill/>
          </a:ln>
        </p:spPr>
        <p:txBody>
          <a:bodyPr wrap="square" anchor="ctr" lIns="118872" rIns="118872" tIns="118872" bIns="118872">
            <a:normAutofit/>
          </a:bodyPr>
          <a:lstStyle/>
          <a:p>
            <a:pPr algn="ctr"/>
            <a:r>
              <a:rPr sz="1600" b="0">
                <a:solidFill>
                  <a:srgbClr val="2B3744"/>
                </a:solidFill>
                <a:latin typeface="Arial"/>
              </a:rPr>
              <a:t>Saved results are holdout evaluations. Independent external validation and any real payment/network integration remain future work.</a:t>
            </a:r>
          </a:p>
        </p:txBody>
      </p:sp>
    </p:spTree>
    <p:extLst>
      <p:ext uri="{BB962C8B-B14F-4D97-AF65-F5344CB8AC3E}">
        <p14:creationId xmlns:p14="http://schemas.microsoft.com/office/powerpoint/2010/main" val="1944416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8DAA3-E6F2-B842-5B2C-24A7FD7C2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44116-6BAB-BDE0-8F36-5DA7BCF987F2}"/>
              </a:ext>
            </a:extLst>
          </p:cNvPr>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MODULE IDENTIFICATION</a:t>
            </a:r>
          </a:p>
        </p:txBody>
      </p:sp>
      <p:sp>
        <p:nvSpPr>
          <p:cNvPr id="4" name="Slide Number Placeholder 3">
            <a:extLst>
              <a:ext uri="{FF2B5EF4-FFF2-40B4-BE49-F238E27FC236}">
                <a16:creationId xmlns:a16="http://schemas.microsoft.com/office/drawing/2014/main" id="{0C15EFEC-6BF3-4447-1E0F-489E9855AF57}"/>
              </a:ext>
            </a:extLst>
          </p:cNvPr>
          <p:cNvSpPr>
            <a:spLocks noGrp="1"/>
          </p:cNvSpPr>
          <p:nvPr>
            <p:ph type="sldNum" sz="quarter" idx="12"/>
          </p:nvPr>
        </p:nvSpPr>
        <p:spPr/>
        <p:txBody>
          <a:bodyPr/>
          <a:lstStyle/>
          <a:p>
            <a:fld id="{C02A2637-A5A3-49FA-B214-6E67543099EF}" type="slidenum">
              <a:rPr lang="en-US" smtClean="0"/>
              <a:t>9</a:t>
            </a:fld>
            <a:endParaRPr lang="en-US"/>
          </a:p>
        </p:txBody>
      </p:sp>
      <p:sp>
        <p:nvSpPr>
          <p:cNvPr id="5" name="Rounded Rectangle 4"/>
          <p:cNvSpPr/>
          <p:nvPr/>
        </p:nvSpPr>
        <p:spPr>
          <a:xfrm>
            <a:off x="594360" y="1783080"/>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94376" cy="310896"/>
          </a:xfrm>
          <a:prstGeom prst="rect">
            <a:avLst/>
          </a:prstGeom>
          <a:noFill/>
        </p:spPr>
        <p:txBody>
          <a:bodyPr wrap="square" anchor="ctr" lIns="9144" rIns="9144" tIns="9144" bIns="9144">
            <a:normAutofit/>
          </a:bodyPr>
          <a:lstStyle/>
          <a:p>
            <a:pPr algn="l"/>
            <a:r>
              <a:rPr sz="1500" b="1">
                <a:solidFill>
                  <a:srgbClr val="1282BE"/>
                </a:solidFill>
                <a:latin typeface="Arial"/>
              </a:rPr>
              <a:t>1. Data &amp; configuration</a:t>
            </a:r>
          </a:p>
        </p:txBody>
      </p:sp>
      <p:sp>
        <p:nvSpPr>
          <p:cNvPr id="8" name="TextBox 7"/>
          <p:cNvSpPr txBox="1"/>
          <p:nvPr/>
        </p:nvSpPr>
        <p:spPr>
          <a:xfrm>
            <a:off x="758952" y="2212848"/>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download_datasets.py + config.py
Dataset paths, target columns, feature lists, sample caps and model settings.</a:t>
            </a:r>
          </a:p>
        </p:txBody>
      </p:sp>
      <p:sp>
        <p:nvSpPr>
          <p:cNvPr id="9" name="Rounded Rectangle 8"/>
          <p:cNvSpPr/>
          <p:nvPr/>
        </p:nvSpPr>
        <p:spPr>
          <a:xfrm>
            <a:off x="6473952" y="1783080"/>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3952" y="1783080"/>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856231"/>
            <a:ext cx="5294376" cy="310896"/>
          </a:xfrm>
          <a:prstGeom prst="rect">
            <a:avLst/>
          </a:prstGeom>
          <a:noFill/>
        </p:spPr>
        <p:txBody>
          <a:bodyPr wrap="square" anchor="ctr" lIns="9144" rIns="9144" tIns="9144" bIns="9144">
            <a:normAutofit/>
          </a:bodyPr>
          <a:lstStyle/>
          <a:p>
            <a:pPr algn="l"/>
            <a:r>
              <a:rPr sz="1500" b="1">
                <a:solidFill>
                  <a:srgbClr val="248F84"/>
                </a:solidFill>
                <a:latin typeface="Arial"/>
              </a:rPr>
              <a:t>2. Loader &amp; labels</a:t>
            </a:r>
          </a:p>
        </p:txBody>
      </p:sp>
      <p:sp>
        <p:nvSpPr>
          <p:cNvPr id="12" name="TextBox 11"/>
          <p:cNvSpPr txBox="1"/>
          <p:nvPr/>
        </p:nvSpPr>
        <p:spPr>
          <a:xfrm>
            <a:off x="6638544" y="2212848"/>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modules/data_loader.py
Reads full sources, finds target, binarizes labels and records row/class statistics.</a:t>
            </a:r>
          </a:p>
        </p:txBody>
      </p:sp>
      <p:sp>
        <p:nvSpPr>
          <p:cNvPr id="13" name="Rounded Rectangle 12"/>
          <p:cNvSpPr/>
          <p:nvPr/>
        </p:nvSpPr>
        <p:spPr>
          <a:xfrm>
            <a:off x="594360" y="3218688"/>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18688"/>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291840"/>
            <a:ext cx="5294376" cy="310896"/>
          </a:xfrm>
          <a:prstGeom prst="rect">
            <a:avLst/>
          </a:prstGeom>
          <a:noFill/>
        </p:spPr>
        <p:txBody>
          <a:bodyPr wrap="square" anchor="ctr" lIns="9144" rIns="9144" tIns="9144" bIns="9144">
            <a:normAutofit/>
          </a:bodyPr>
          <a:lstStyle/>
          <a:p>
            <a:pPr algn="l"/>
            <a:r>
              <a:rPr sz="1500" b="1">
                <a:solidFill>
                  <a:srgbClr val="1282BE"/>
                </a:solidFill>
                <a:latin typeface="Arial"/>
              </a:rPr>
              <a:t>3. Feature pipeline</a:t>
            </a:r>
          </a:p>
        </p:txBody>
      </p:sp>
      <p:sp>
        <p:nvSpPr>
          <p:cNvPr id="16" name="TextBox 15"/>
          <p:cNvSpPr txBox="1"/>
          <p:nvPr/>
        </p:nvSpPr>
        <p:spPr>
          <a:xfrm>
            <a:off x="758952" y="3648456"/>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Domain extractor + ColumnTransformer
Cleans missing/infinite values, engineers selected fields, encodes categories and scales numeric inputs.</a:t>
            </a:r>
          </a:p>
        </p:txBody>
      </p:sp>
      <p:sp>
        <p:nvSpPr>
          <p:cNvPr id="17" name="Rounded Rectangle 16"/>
          <p:cNvSpPr/>
          <p:nvPr/>
        </p:nvSpPr>
        <p:spPr>
          <a:xfrm>
            <a:off x="6473952" y="3218688"/>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3218688"/>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291840"/>
            <a:ext cx="5294376" cy="310896"/>
          </a:xfrm>
          <a:prstGeom prst="rect">
            <a:avLst/>
          </a:prstGeom>
          <a:noFill/>
        </p:spPr>
        <p:txBody>
          <a:bodyPr wrap="square" anchor="ctr" lIns="9144" rIns="9144" tIns="9144" bIns="9144">
            <a:normAutofit/>
          </a:bodyPr>
          <a:lstStyle/>
          <a:p>
            <a:pPr algn="l"/>
            <a:r>
              <a:rPr sz="1500" b="1">
                <a:solidFill>
                  <a:srgbClr val="248F84"/>
                </a:solidFill>
                <a:latin typeface="Arial"/>
              </a:rPr>
              <a:t>4. Model service</a:t>
            </a:r>
          </a:p>
        </p:txBody>
      </p:sp>
      <p:sp>
        <p:nvSpPr>
          <p:cNvPr id="20" name="TextBox 19"/>
          <p:cNvSpPr txBox="1"/>
          <p:nvPr/>
        </p:nvSpPr>
        <p:spPr>
          <a:xfrm>
            <a:off x="6638544" y="3648456"/>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modules/model_trainer.py
Fits LR, Random Forest, XGBoost and Isolation Forest; computes holdout metrics and saves pipelines.</a:t>
            </a:r>
          </a:p>
        </p:txBody>
      </p:sp>
      <p:sp>
        <p:nvSpPr>
          <p:cNvPr id="21" name="Rounded Rectangle 20"/>
          <p:cNvSpPr/>
          <p:nvPr/>
        </p:nvSpPr>
        <p:spPr>
          <a:xfrm>
            <a:off x="594360" y="4654296"/>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654296"/>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27448"/>
            <a:ext cx="5294376" cy="310896"/>
          </a:xfrm>
          <a:prstGeom prst="rect">
            <a:avLst/>
          </a:prstGeom>
          <a:noFill/>
        </p:spPr>
        <p:txBody>
          <a:bodyPr wrap="square" anchor="ctr" lIns="9144" rIns="9144" tIns="9144" bIns="9144">
            <a:normAutofit/>
          </a:bodyPr>
          <a:lstStyle/>
          <a:p>
            <a:pPr algn="l"/>
            <a:r>
              <a:rPr sz="1500" b="1">
                <a:solidFill>
                  <a:srgbClr val="1282BE"/>
                </a:solidFill>
                <a:latin typeface="Arial"/>
              </a:rPr>
              <a:t>5. Dashboard &amp; scoring</a:t>
            </a:r>
          </a:p>
        </p:txBody>
      </p:sp>
      <p:sp>
        <p:nvSpPr>
          <p:cNvPr id="24" name="TextBox 23"/>
          <p:cNvSpPr txBox="1"/>
          <p:nvPr/>
        </p:nvSpPr>
        <p:spPr>
          <a:xfrm>
            <a:off x="758952" y="5084064"/>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app.py
Five navigable pages, dataset/model selection, manual form scoring and executive charts.</a:t>
            </a:r>
          </a:p>
        </p:txBody>
      </p:sp>
      <p:sp>
        <p:nvSpPr>
          <p:cNvPr id="25" name="Rounded Rectangle 24"/>
          <p:cNvSpPr/>
          <p:nvPr/>
        </p:nvSpPr>
        <p:spPr>
          <a:xfrm>
            <a:off x="6473952" y="4654296"/>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4654296"/>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4727448"/>
            <a:ext cx="5294376" cy="310896"/>
          </a:xfrm>
          <a:prstGeom prst="rect">
            <a:avLst/>
          </a:prstGeom>
          <a:noFill/>
        </p:spPr>
        <p:txBody>
          <a:bodyPr wrap="square" anchor="ctr" lIns="9144" rIns="9144" tIns="9144" bIns="9144">
            <a:normAutofit/>
          </a:bodyPr>
          <a:lstStyle/>
          <a:p>
            <a:pPr algn="l"/>
            <a:r>
              <a:rPr sz="1500" b="1">
                <a:solidFill>
                  <a:srgbClr val="248F84"/>
                </a:solidFill>
                <a:latin typeface="Arial"/>
              </a:rPr>
              <a:t>6. Scenario simulator</a:t>
            </a:r>
          </a:p>
        </p:txBody>
      </p:sp>
      <p:sp>
        <p:nvSpPr>
          <p:cNvPr id="28" name="TextBox 27"/>
          <p:cNvSpPr txBox="1"/>
          <p:nvPr/>
        </p:nvSpPr>
        <p:spPr>
          <a:xfrm>
            <a:off x="6638544" y="5084064"/>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modules/digital_twin.py
Configured state-transition probabilities and a hard-coded intervention-score adjustment.</a:t>
            </a:r>
          </a:p>
        </p:txBody>
      </p:sp>
      <p:sp>
        <p:nvSpPr>
          <p:cNvPr id="29" name="TextBox 28"/>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Offline training is separated from Streamlit inference: `offline_trainer.py` writes artifacts; `app.py` loads them.</a:t>
            </a:r>
          </a:p>
        </p:txBody>
      </p:sp>
    </p:spTree>
    <p:extLst>
      <p:ext uri="{BB962C8B-B14F-4D97-AF65-F5344CB8AC3E}">
        <p14:creationId xmlns:p14="http://schemas.microsoft.com/office/powerpoint/2010/main" val="2855362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b="1">
                <a:latin typeface="Arial"/>
              </a:rPr>
              <a:t>SYSTEM ARCHITECTURE</a:t>
            </a:r>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a:p>
        </p:txBody>
      </p:sp>
      <p:sp>
        <p:nvSpPr>
          <p:cNvPr id="5" name="Rounded Rectangle 4"/>
          <p:cNvSpPr/>
          <p:nvPr/>
        </p:nvSpPr>
        <p:spPr>
          <a:xfrm>
            <a:off x="438912" y="1874519"/>
            <a:ext cx="2331720" cy="1261872"/>
          </a:xfrm>
          <a:prstGeom prst="roundRect">
            <a:avLst/>
          </a:prstGeom>
          <a:solidFill>
            <a:srgbClr val="E5F2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20239"/>
            <a:ext cx="2203703" cy="329184"/>
          </a:xfrm>
          <a:prstGeom prst="rect">
            <a:avLst/>
          </a:prstGeom>
          <a:noFill/>
        </p:spPr>
        <p:txBody>
          <a:bodyPr wrap="square" anchor="ctr" lIns="9144" rIns="9144" tIns="9144" bIns="9144">
            <a:normAutofit/>
          </a:bodyPr>
          <a:lstStyle/>
          <a:p>
            <a:pPr algn="ctr"/>
            <a:r>
              <a:rPr sz="1300" b="1">
                <a:solidFill>
                  <a:srgbClr val="1282BE"/>
                </a:solidFill>
                <a:latin typeface="Arial"/>
              </a:rPr>
              <a:t>DATA SOURCES</a:t>
            </a:r>
          </a:p>
        </p:txBody>
      </p:sp>
      <p:sp>
        <p:nvSpPr>
          <p:cNvPr id="7" name="TextBox 6"/>
          <p:cNvSpPr txBox="1"/>
          <p:nvPr/>
        </p:nvSpPr>
        <p:spPr>
          <a:xfrm>
            <a:off x="548640"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PaySim • BankSim
IEEE-CIS • CICIDS2017</a:t>
            </a:r>
          </a:p>
        </p:txBody>
      </p:sp>
      <p:sp>
        <p:nvSpPr>
          <p:cNvPr id="8" name="Rounded Rectangle 7"/>
          <p:cNvSpPr/>
          <p:nvPr/>
        </p:nvSpPr>
        <p:spPr>
          <a:xfrm>
            <a:off x="3154680" y="1874519"/>
            <a:ext cx="2331720" cy="1261872"/>
          </a:xfrm>
          <a:prstGeom prst="roundRect">
            <a:avLst/>
          </a:prstGeom>
          <a:solidFill>
            <a:srgbClr val="E8F5EE"/>
          </a:solidFill>
          <a:ln w="15875">
            <a:solidFill>
              <a:srgbClr val="248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18688" y="1920239"/>
            <a:ext cx="2203703" cy="329184"/>
          </a:xfrm>
          <a:prstGeom prst="rect">
            <a:avLst/>
          </a:prstGeom>
          <a:noFill/>
        </p:spPr>
        <p:txBody>
          <a:bodyPr wrap="square" anchor="ctr" lIns="9144" rIns="9144" tIns="9144" bIns="9144">
            <a:normAutofit/>
          </a:bodyPr>
          <a:lstStyle/>
          <a:p>
            <a:pPr algn="ctr"/>
            <a:r>
              <a:rPr sz="1300" b="1">
                <a:solidFill>
                  <a:srgbClr val="248F84"/>
                </a:solidFill>
                <a:latin typeface="Arial"/>
              </a:rPr>
              <a:t>LOAD &amp; PREPARE</a:t>
            </a:r>
          </a:p>
        </p:txBody>
      </p:sp>
      <p:sp>
        <p:nvSpPr>
          <p:cNvPr id="10" name="TextBox 9"/>
          <p:cNvSpPr txBox="1"/>
          <p:nvPr/>
        </p:nvSpPr>
        <p:spPr>
          <a:xfrm>
            <a:off x="3264408"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Target + feature selection
Clean • split • transform</a:t>
            </a:r>
          </a:p>
        </p:txBody>
      </p:sp>
      <p:sp>
        <p:nvSpPr>
          <p:cNvPr id="11" name="Rounded Rectangle 10"/>
          <p:cNvSpPr/>
          <p:nvPr/>
        </p:nvSpPr>
        <p:spPr>
          <a:xfrm>
            <a:off x="5870448" y="1874519"/>
            <a:ext cx="2331720" cy="1261872"/>
          </a:xfrm>
          <a:prstGeom prst="roundRect">
            <a:avLst/>
          </a:prstGeom>
          <a:solidFill>
            <a:srgbClr val="E5F2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34456" y="1920239"/>
            <a:ext cx="2203703" cy="329184"/>
          </a:xfrm>
          <a:prstGeom prst="rect">
            <a:avLst/>
          </a:prstGeom>
          <a:noFill/>
        </p:spPr>
        <p:txBody>
          <a:bodyPr wrap="square" anchor="ctr" lIns="9144" rIns="9144" tIns="9144" bIns="9144">
            <a:normAutofit/>
          </a:bodyPr>
          <a:lstStyle/>
          <a:p>
            <a:pPr algn="ctr"/>
            <a:r>
              <a:rPr sz="1300" b="1">
                <a:solidFill>
                  <a:srgbClr val="1282BE"/>
                </a:solidFill>
                <a:latin typeface="Arial"/>
              </a:rPr>
              <a:t>MODEL LAYER</a:t>
            </a:r>
          </a:p>
        </p:txBody>
      </p:sp>
      <p:sp>
        <p:nvSpPr>
          <p:cNvPr id="13" name="TextBox 12"/>
          <p:cNvSpPr txBox="1"/>
          <p:nvPr/>
        </p:nvSpPr>
        <p:spPr>
          <a:xfrm>
            <a:off x="5980176"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LR • Random Forest
XGBoost • Isolation Forest</a:t>
            </a:r>
          </a:p>
        </p:txBody>
      </p:sp>
      <p:sp>
        <p:nvSpPr>
          <p:cNvPr id="14" name="Rounded Rectangle 13"/>
          <p:cNvSpPr/>
          <p:nvPr/>
        </p:nvSpPr>
        <p:spPr>
          <a:xfrm>
            <a:off x="8586216" y="1874519"/>
            <a:ext cx="2331720" cy="1261872"/>
          </a:xfrm>
          <a:prstGeom prst="roundRect">
            <a:avLst/>
          </a:prstGeom>
          <a:solidFill>
            <a:srgbClr val="FBF5E6"/>
          </a:solidFill>
          <a:ln w="15875">
            <a:solidFill>
              <a:srgbClr val="D69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50224" y="1920239"/>
            <a:ext cx="2203703" cy="329184"/>
          </a:xfrm>
          <a:prstGeom prst="rect">
            <a:avLst/>
          </a:prstGeom>
          <a:noFill/>
        </p:spPr>
        <p:txBody>
          <a:bodyPr wrap="square" anchor="ctr" lIns="9144" rIns="9144" tIns="9144" bIns="9144">
            <a:normAutofit/>
          </a:bodyPr>
          <a:lstStyle/>
          <a:p>
            <a:pPr algn="ctr"/>
            <a:r>
              <a:rPr sz="1300" b="1">
                <a:solidFill>
                  <a:srgbClr val="D69120"/>
                </a:solidFill>
                <a:latin typeface="Arial"/>
              </a:rPr>
              <a:t>EVALUATE &amp; SAVE</a:t>
            </a:r>
          </a:p>
        </p:txBody>
      </p:sp>
      <p:sp>
        <p:nvSpPr>
          <p:cNvPr id="16" name="TextBox 15"/>
          <p:cNvSpPr txBox="1"/>
          <p:nvPr/>
        </p:nvSpPr>
        <p:spPr>
          <a:xfrm>
            <a:off x="8695944"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Holdout metrics + thresholds
Pipelines + dataset stats</a:t>
            </a:r>
          </a:p>
        </p:txBody>
      </p:sp>
      <p:sp>
        <p:nvSpPr>
          <p:cNvPr id="17" name="Right Arrow 16"/>
          <p:cNvSpPr/>
          <p:nvPr/>
        </p:nvSpPr>
        <p:spPr>
          <a:xfrm>
            <a:off x="2798064" y="2350008"/>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5513832" y="2350008"/>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8229600" y="2350008"/>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78992" y="3977639"/>
            <a:ext cx="3246120" cy="1335024"/>
          </a:xfrm>
          <a:prstGeom prst="roundRect">
            <a:avLst/>
          </a:prstGeom>
          <a:solidFill>
            <a:srgbClr val="EFF6FA"/>
          </a:solidFill>
          <a:ln w="15875">
            <a:solidFill>
              <a:srgbClr val="19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4023359"/>
            <a:ext cx="3118103" cy="329184"/>
          </a:xfrm>
          <a:prstGeom prst="rect">
            <a:avLst/>
          </a:prstGeom>
          <a:noFill/>
        </p:spPr>
        <p:txBody>
          <a:bodyPr wrap="square" anchor="ctr" lIns="9144" rIns="9144" tIns="9144" bIns="9144">
            <a:normAutofit/>
          </a:bodyPr>
          <a:lstStyle/>
          <a:p>
            <a:pPr algn="ctr"/>
            <a:r>
              <a:rPr sz="1400" b="1">
                <a:solidFill>
                  <a:srgbClr val="19324D"/>
                </a:solidFill>
                <a:latin typeface="Arial"/>
              </a:rPr>
              <a:t>SAVED ARTIFACTS</a:t>
            </a:r>
          </a:p>
        </p:txBody>
      </p:sp>
      <p:sp>
        <p:nvSpPr>
          <p:cNvPr id="22" name="TextBox 21"/>
          <p:cNvSpPr txBox="1"/>
          <p:nvPr/>
        </p:nvSpPr>
        <p:spPr>
          <a:xfrm>
            <a:off x="1188719" y="4370831"/>
            <a:ext cx="3026663" cy="877824"/>
          </a:xfrm>
          <a:prstGeom prst="rect">
            <a:avLst/>
          </a:prstGeom>
          <a:noFill/>
        </p:spPr>
        <p:txBody>
          <a:bodyPr wrap="square" anchor="ctr" lIns="18288" rIns="18288" tIns="18288" bIns="18288">
            <a:normAutofit/>
          </a:bodyPr>
          <a:lstStyle/>
          <a:p>
            <a:pPr algn="ctr"/>
            <a:r>
              <a:rPr sz="1200" b="0">
                <a:solidFill>
                  <a:srgbClr val="2B3744"/>
                </a:solidFill>
                <a:latin typeface="Arial"/>
              </a:rPr>
              <a:t>models/*.pkl
evaluation_metrics.json • dataset_stats.json</a:t>
            </a:r>
          </a:p>
        </p:txBody>
      </p:sp>
      <p:sp>
        <p:nvSpPr>
          <p:cNvPr id="23" name="Rounded Rectangle 22"/>
          <p:cNvSpPr/>
          <p:nvPr/>
        </p:nvSpPr>
        <p:spPr>
          <a:xfrm>
            <a:off x="4736592" y="3977639"/>
            <a:ext cx="3246120" cy="1335024"/>
          </a:xfrm>
          <a:prstGeom prst="roundRect">
            <a:avLst/>
          </a:prstGeom>
          <a:solidFill>
            <a:srgbClr val="E5F2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4023359"/>
            <a:ext cx="3118103" cy="329184"/>
          </a:xfrm>
          <a:prstGeom prst="rect">
            <a:avLst/>
          </a:prstGeom>
          <a:noFill/>
        </p:spPr>
        <p:txBody>
          <a:bodyPr wrap="square" anchor="ctr" lIns="9144" rIns="9144" tIns="9144" bIns="9144">
            <a:normAutofit/>
          </a:bodyPr>
          <a:lstStyle/>
          <a:p>
            <a:pPr algn="ctr"/>
            <a:r>
              <a:rPr sz="1400" b="1">
                <a:solidFill>
                  <a:srgbClr val="1282BE"/>
                </a:solidFill>
                <a:latin typeface="Arial"/>
              </a:rPr>
              <a:t>STREAMLIT DASHBOARD</a:t>
            </a:r>
          </a:p>
        </p:txBody>
      </p:sp>
      <p:sp>
        <p:nvSpPr>
          <p:cNvPr id="25" name="TextBox 24"/>
          <p:cNvSpPr txBox="1"/>
          <p:nvPr/>
        </p:nvSpPr>
        <p:spPr>
          <a:xfrm>
            <a:off x="4846320" y="4370831"/>
            <a:ext cx="3026663" cy="877824"/>
          </a:xfrm>
          <a:prstGeom prst="rect">
            <a:avLst/>
          </a:prstGeom>
          <a:noFill/>
        </p:spPr>
        <p:txBody>
          <a:bodyPr wrap="square" anchor="ctr" lIns="18288" rIns="18288" tIns="18288" bIns="18288">
            <a:normAutofit/>
          </a:bodyPr>
          <a:lstStyle/>
          <a:p>
            <a:pPr algn="ctr"/>
            <a:r>
              <a:rPr sz="1200" b="0">
                <a:solidFill>
                  <a:srgbClr val="2B3744"/>
                </a:solidFill>
                <a:latin typeface="Arial"/>
              </a:rPr>
              <a:t>Data • Evaluation • Simulator
Example Prediction • Executive Insights</a:t>
            </a:r>
          </a:p>
        </p:txBody>
      </p:sp>
      <p:sp>
        <p:nvSpPr>
          <p:cNvPr id="26" name="Rounded Rectangle 25"/>
          <p:cNvSpPr/>
          <p:nvPr/>
        </p:nvSpPr>
        <p:spPr>
          <a:xfrm>
            <a:off x="8394192" y="3977639"/>
            <a:ext cx="3246120" cy="1335024"/>
          </a:xfrm>
          <a:prstGeom prst="roundRect">
            <a:avLst/>
          </a:prstGeom>
          <a:solidFill>
            <a:srgbClr val="E8F5EE"/>
          </a:solidFill>
          <a:ln w="15875">
            <a:solidFill>
              <a:srgbClr val="248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4023359"/>
            <a:ext cx="3118103" cy="329184"/>
          </a:xfrm>
          <a:prstGeom prst="rect">
            <a:avLst/>
          </a:prstGeom>
          <a:noFill/>
        </p:spPr>
        <p:txBody>
          <a:bodyPr wrap="square" anchor="ctr" lIns="9144" rIns="9144" tIns="9144" bIns="9144">
            <a:normAutofit/>
          </a:bodyPr>
          <a:lstStyle/>
          <a:p>
            <a:pPr algn="ctr"/>
            <a:r>
              <a:rPr sz="1400" b="1">
                <a:solidFill>
                  <a:srgbClr val="248F84"/>
                </a:solidFill>
                <a:latin typeface="Arial"/>
              </a:rPr>
              <a:t>USER OUTPUT</a:t>
            </a:r>
          </a:p>
        </p:txBody>
      </p:sp>
      <p:sp>
        <p:nvSpPr>
          <p:cNvPr id="28" name="TextBox 27"/>
          <p:cNvSpPr txBox="1"/>
          <p:nvPr/>
        </p:nvSpPr>
        <p:spPr>
          <a:xfrm>
            <a:off x="8503919" y="4370831"/>
            <a:ext cx="3026663" cy="877824"/>
          </a:xfrm>
          <a:prstGeom prst="rect">
            <a:avLst/>
          </a:prstGeom>
          <a:noFill/>
        </p:spPr>
        <p:txBody>
          <a:bodyPr wrap="square" anchor="ctr" lIns="18288" rIns="18288" tIns="18288" bIns="18288">
            <a:normAutofit/>
          </a:bodyPr>
          <a:lstStyle/>
          <a:p>
            <a:pPr algn="ctr"/>
            <a:r>
              <a:rPr sz="1150" b="0">
                <a:solidFill>
                  <a:srgbClr val="2B3744"/>
                </a:solidFill>
                <a:latin typeface="Arial"/>
              </a:rPr>
              <a:t>Metrics and plots
Example score + threshold decision
Scenario trajectory</a:t>
            </a:r>
          </a:p>
        </p:txBody>
      </p:sp>
      <p:sp>
        <p:nvSpPr>
          <p:cNvPr id="29" name="Right Arrow 28"/>
          <p:cNvSpPr/>
          <p:nvPr/>
        </p:nvSpPr>
        <p:spPr>
          <a:xfrm>
            <a:off x="4370832" y="4507992"/>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8028431" y="4507992"/>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596128"/>
            <a:ext cx="10972800" cy="384048"/>
          </a:xfrm>
          <a:prstGeom prst="rect">
            <a:avLst/>
          </a:prstGeom>
          <a:noFill/>
        </p:spPr>
        <p:txBody>
          <a:bodyPr wrap="square" anchor="ctr" lIns="54864" rIns="54864" tIns="54864" bIns="54864">
            <a:normAutofit/>
          </a:bodyPr>
          <a:lstStyle/>
          <a:p>
            <a:pPr algn="ctr"/>
            <a:r>
              <a:rPr sz="1330" b="1">
                <a:solidFill>
                  <a:srgbClr val="19324D"/>
                </a:solidFill>
                <a:latin typeface="Arial"/>
              </a:rPr>
              <a:t>Technology: Python • pandas/NumPy • scikit-learn • imbalanced-learn • XGBoost • Streamlit • Plotly • joblib</a:t>
            </a:r>
          </a:p>
        </p:txBody>
      </p:sp>
      <p:sp>
        <p:nvSpPr>
          <p:cNvPr id="32" name="TextBox 31"/>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The dashboard does not connect to a live financial or network service; the prediction page scores manual inputs.</a:t>
            </a:r>
          </a:p>
        </p:txBody>
      </p:sp>
    </p:spTree>
    <p:extLst>
      <p:ext uri="{BB962C8B-B14F-4D97-AF65-F5344CB8AC3E}">
        <p14:creationId xmlns:p14="http://schemas.microsoft.com/office/powerpoint/2010/main" val="1380825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DEVELOPMENT &amp; INTEGRATION</a:t>
            </a: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11</a:t>
            </a:fld>
            <a:endParaRPr lang="en-US"/>
          </a:p>
        </p:txBody>
      </p:sp>
      <p:sp>
        <p:nvSpPr>
          <p:cNvPr id="5" name="Rounded Rectangle 4"/>
          <p:cNvSpPr/>
          <p:nvPr/>
        </p:nvSpPr>
        <p:spPr>
          <a:xfrm>
            <a:off x="594360" y="1783080"/>
            <a:ext cx="5532120" cy="1828800"/>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828800"/>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66944" cy="310896"/>
          </a:xfrm>
          <a:prstGeom prst="rect">
            <a:avLst/>
          </a:prstGeom>
          <a:noFill/>
        </p:spPr>
        <p:txBody>
          <a:bodyPr wrap="square" anchor="ctr" lIns="9144" rIns="9144" tIns="9144" bIns="9144">
            <a:normAutofit/>
          </a:bodyPr>
          <a:lstStyle/>
          <a:p>
            <a:pPr algn="l"/>
            <a:r>
              <a:rPr sz="1600" b="1">
                <a:solidFill>
                  <a:srgbClr val="1282BE"/>
                </a:solidFill>
                <a:latin typeface="Arial"/>
              </a:rPr>
              <a:t>IMPLEMENTATION</a:t>
            </a:r>
          </a:p>
        </p:txBody>
      </p:sp>
      <p:sp>
        <p:nvSpPr>
          <p:cNvPr id="8" name="TextBox 7"/>
          <p:cNvSpPr txBox="1"/>
          <p:nvPr/>
        </p:nvSpPr>
        <p:spPr>
          <a:xfrm>
            <a:off x="758952" y="2212848"/>
            <a:ext cx="5257800" cy="1344168"/>
          </a:xfrm>
          <a:prstGeom prst="rect">
            <a:avLst/>
          </a:prstGeom>
          <a:noFill/>
        </p:spPr>
        <p:txBody>
          <a:bodyPr wrap="square" anchor="t" lIns="9144" rIns="9144" tIns="9144" bIns="9144">
            <a:normAutofit/>
          </a:bodyPr>
          <a:lstStyle/>
          <a:p>
            <a:pPr algn="l"/>
            <a:r>
              <a:rPr sz="1230" b="0">
                <a:solidFill>
                  <a:srgbClr val="2B3744"/>
                </a:solidFill>
                <a:latin typeface="Arial"/>
              </a:rPr>
              <a:t>• Download/prepare data outside dashboard startup.
• Split data before fitting model transforms.
• Keep feature extraction and preprocessing in serialized pipelines.
• Store metrics and dataset summaries as JSON for the UI.</a:t>
            </a:r>
          </a:p>
        </p:txBody>
      </p:sp>
      <p:sp>
        <p:nvSpPr>
          <p:cNvPr id="9" name="Rounded Rectangle 8"/>
          <p:cNvSpPr/>
          <p:nvPr/>
        </p:nvSpPr>
        <p:spPr>
          <a:xfrm>
            <a:off x="6355080" y="1783080"/>
            <a:ext cx="5532120" cy="1828800"/>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82296" cy="1828800"/>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856231"/>
            <a:ext cx="5266944" cy="310896"/>
          </a:xfrm>
          <a:prstGeom prst="rect">
            <a:avLst/>
          </a:prstGeom>
          <a:noFill/>
        </p:spPr>
        <p:txBody>
          <a:bodyPr wrap="square" anchor="ctr" lIns="9144" rIns="9144" tIns="9144" bIns="9144">
            <a:normAutofit/>
          </a:bodyPr>
          <a:lstStyle/>
          <a:p>
            <a:pPr algn="l"/>
            <a:r>
              <a:rPr sz="1600" b="1">
                <a:solidFill>
                  <a:srgbClr val="248F84"/>
                </a:solidFill>
                <a:latin typeface="Arial"/>
              </a:rPr>
              <a:t>INTEGRATION</a:t>
            </a:r>
          </a:p>
        </p:txBody>
      </p:sp>
      <p:sp>
        <p:nvSpPr>
          <p:cNvPr id="12" name="TextBox 11"/>
          <p:cNvSpPr txBox="1"/>
          <p:nvPr/>
        </p:nvSpPr>
        <p:spPr>
          <a:xfrm>
            <a:off x="6519672" y="2212848"/>
            <a:ext cx="5257800" cy="1344168"/>
          </a:xfrm>
          <a:prstGeom prst="rect">
            <a:avLst/>
          </a:prstGeom>
          <a:noFill/>
        </p:spPr>
        <p:txBody>
          <a:bodyPr wrap="square" anchor="t" lIns="9144" rIns="9144" tIns="9144" bIns="9144">
            <a:normAutofit/>
          </a:bodyPr>
          <a:lstStyle/>
          <a:p>
            <a:pPr algn="l"/>
            <a:r>
              <a:rPr sz="1250" b="0">
                <a:solidFill>
                  <a:srgbClr val="2B3744"/>
                </a:solidFill>
                <a:latin typeface="Arial"/>
              </a:rPr>
              <a:t>offline_trainer.py → saved pipeline + JSON → app.py
Live Prediction reuses the saved model pipeline and dataset/model threshold.
Prediction forms align their fields to the model input schema.</a:t>
            </a:r>
          </a:p>
        </p:txBody>
      </p:sp>
      <p:sp>
        <p:nvSpPr>
          <p:cNvPr id="13" name="Rounded Rectangle 12"/>
          <p:cNvSpPr/>
          <p:nvPr/>
        </p:nvSpPr>
        <p:spPr>
          <a:xfrm>
            <a:off x="594360" y="3877056"/>
            <a:ext cx="5532120" cy="1691640"/>
          </a:xfrm>
          <a:prstGeom prst="roundRect">
            <a:avLst/>
          </a:prstGeom>
          <a:solidFill>
            <a:srgbClr val="FBF5E6"/>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877056"/>
            <a:ext cx="82296" cy="1691640"/>
          </a:xfrm>
          <a:prstGeom prst="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950208"/>
            <a:ext cx="5266944" cy="310896"/>
          </a:xfrm>
          <a:prstGeom prst="rect">
            <a:avLst/>
          </a:prstGeom>
          <a:noFill/>
        </p:spPr>
        <p:txBody>
          <a:bodyPr wrap="square" anchor="ctr" lIns="9144" rIns="9144" tIns="9144" bIns="9144">
            <a:normAutofit/>
          </a:bodyPr>
          <a:lstStyle/>
          <a:p>
            <a:pPr algn="l"/>
            <a:r>
              <a:rPr sz="1500" b="1">
                <a:solidFill>
                  <a:srgbClr val="D69120"/>
                </a:solidFill>
                <a:latin typeface="Arial"/>
              </a:rPr>
              <a:t>CHALLENGES ADDRESSED</a:t>
            </a:r>
          </a:p>
        </p:txBody>
      </p:sp>
      <p:sp>
        <p:nvSpPr>
          <p:cNvPr id="16" name="TextBox 15"/>
          <p:cNvSpPr txBox="1"/>
          <p:nvPr/>
        </p:nvSpPr>
        <p:spPr>
          <a:xfrm>
            <a:off x="758952" y="4306824"/>
            <a:ext cx="5257800" cy="1207008"/>
          </a:xfrm>
          <a:prstGeom prst="rect">
            <a:avLst/>
          </a:prstGeom>
          <a:noFill/>
        </p:spPr>
        <p:txBody>
          <a:bodyPr wrap="square" anchor="t" lIns="9144" rIns="9144" tIns="9144" bIns="9144">
            <a:normAutofit/>
          </a:bodyPr>
          <a:lstStyle/>
          <a:p>
            <a:pPr algn="l"/>
            <a:r>
              <a:rPr sz="1220" b="0">
                <a:solidFill>
                  <a:srgbClr val="2B3744"/>
                </a:solidFill>
                <a:latin typeface="Arial"/>
              </a:rPr>
              <a:t>Target leakage checks • large-file bounded sampling • missing/infinite values • categorical encoding • class imbalance • time-aware splits for BankSim/IEEE when both classes permit.</a:t>
            </a:r>
          </a:p>
        </p:txBody>
      </p:sp>
      <p:sp>
        <p:nvSpPr>
          <p:cNvPr id="17" name="Rounded Rectangle 16"/>
          <p:cNvSpPr/>
          <p:nvPr/>
        </p:nvSpPr>
        <p:spPr>
          <a:xfrm>
            <a:off x="6355080" y="3877056"/>
            <a:ext cx="5532120" cy="1691640"/>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3877056"/>
            <a:ext cx="82296" cy="1691640"/>
          </a:xfrm>
          <a:prstGeom prst="rect">
            <a:avLst/>
          </a:prstGeom>
          <a:solidFill>
            <a:srgbClr val="BB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3950208"/>
            <a:ext cx="5266944" cy="310896"/>
          </a:xfrm>
          <a:prstGeom prst="rect">
            <a:avLst/>
          </a:prstGeom>
          <a:noFill/>
        </p:spPr>
        <p:txBody>
          <a:bodyPr wrap="square" anchor="ctr" lIns="9144" rIns="9144" tIns="9144" bIns="9144">
            <a:normAutofit/>
          </a:bodyPr>
          <a:lstStyle/>
          <a:p>
            <a:pPr algn="l"/>
            <a:r>
              <a:rPr sz="1500" b="1">
                <a:solidFill>
                  <a:srgbClr val="BB4141"/>
                </a:solidFill>
                <a:latin typeface="Arial"/>
              </a:rPr>
              <a:t>LIMITS TO VERIFY</a:t>
            </a:r>
          </a:p>
        </p:txBody>
      </p:sp>
      <p:sp>
        <p:nvSpPr>
          <p:cNvPr id="20" name="TextBox 19"/>
          <p:cNvSpPr txBox="1"/>
          <p:nvPr/>
        </p:nvSpPr>
        <p:spPr>
          <a:xfrm>
            <a:off x="6519672" y="4306824"/>
            <a:ext cx="5257800" cy="1207008"/>
          </a:xfrm>
          <a:prstGeom prst="rect">
            <a:avLst/>
          </a:prstGeom>
          <a:noFill/>
        </p:spPr>
        <p:txBody>
          <a:bodyPr wrap="square" anchor="t" lIns="9144" rIns="9144" tIns="9144" bIns="9144">
            <a:normAutofit/>
          </a:bodyPr>
          <a:lstStyle/>
          <a:p>
            <a:pPr algn="l"/>
            <a:r>
              <a:rPr sz="1220" b="0">
                <a:solidFill>
                  <a:srgbClr val="2B3744"/>
                </a:solidFill>
                <a:latin typeface="Arial"/>
              </a:rPr>
              <a:t>Input forms may impute unasked model fields. Thresholds need operational cost setting. Results need independent time-based validation. Scenario rules are illustrative, not learned.</a:t>
            </a:r>
          </a:p>
        </p:txBody>
      </p:sp>
      <p:sp>
        <p:nvSpPr>
          <p:cNvPr id="21" name="TextBox 20"/>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Training/evaluation commands: `python offline_trainer.py`  |  Refresh saved-model metrics: `python offline_trainer.py --evaluate-existing`.</a:t>
            </a:r>
          </a:p>
        </p:txBody>
      </p:sp>
    </p:spTree>
    <p:extLst>
      <p:ext uri="{BB962C8B-B14F-4D97-AF65-F5344CB8AC3E}">
        <p14:creationId xmlns:p14="http://schemas.microsoft.com/office/powerpoint/2010/main" val="3369243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F5EA-D62B-1983-B948-F514CA25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38A4-31C7-3BA3-41EC-856FFC3F2CD3}"/>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PROTOTYPE / RESEARCH FRAMEWORK</a:t>
            </a:r>
          </a:p>
        </p:txBody>
      </p:sp>
      <p:sp>
        <p:nvSpPr>
          <p:cNvPr id="4" name="Slide Number Placeholder 3">
            <a:extLst>
              <a:ext uri="{FF2B5EF4-FFF2-40B4-BE49-F238E27FC236}">
                <a16:creationId xmlns:a16="http://schemas.microsoft.com/office/drawing/2014/main" id="{55D83B01-BF0B-D797-AC89-252288DAD2AE}"/>
              </a:ext>
            </a:extLst>
          </p:cNvPr>
          <p:cNvSpPr>
            <a:spLocks noGrp="1"/>
          </p:cNvSpPr>
          <p:nvPr>
            <p:ph type="sldNum" sz="quarter" idx="12"/>
          </p:nvPr>
        </p:nvSpPr>
        <p:spPr/>
        <p:txBody>
          <a:bodyPr/>
          <a:lstStyle/>
          <a:p>
            <a:fld id="{C02A2637-A5A3-49FA-B214-6E67543099EF}" type="slidenum">
              <a:rPr lang="en-US" smtClean="0"/>
              <a:t>12</a:t>
            </a:fld>
            <a:endParaRPr lang="en-US"/>
          </a:p>
        </p:txBody>
      </p:sp>
      <p:sp>
        <p:nvSpPr>
          <p:cNvPr id="5" name="TextBox 4"/>
          <p:cNvSpPr txBox="1"/>
          <p:nvPr/>
        </p:nvSpPr>
        <p:spPr>
          <a:xfrm>
            <a:off x="621792" y="1700784"/>
            <a:ext cx="11430000" cy="411480"/>
          </a:xfrm>
          <a:prstGeom prst="rect">
            <a:avLst/>
          </a:prstGeom>
          <a:noFill/>
        </p:spPr>
        <p:txBody>
          <a:bodyPr wrap="square" anchor="ctr" lIns="54864" rIns="54864" tIns="54864" bIns="54864">
            <a:normAutofit/>
          </a:bodyPr>
          <a:lstStyle/>
          <a:p>
            <a:pPr algn="ctr"/>
            <a:r>
              <a:rPr sz="1600" b="1">
                <a:solidFill>
                  <a:srgbClr val="19324D"/>
                </a:solidFill>
                <a:latin typeface="Arial"/>
              </a:rPr>
              <a:t>DASHBOARD WALKTHROUGH  |  streamlit run app.py</a:t>
            </a:r>
          </a:p>
        </p:txBody>
      </p:sp>
      <p:sp>
        <p:nvSpPr>
          <p:cNvPr id="6" name="Rounded Rectangle 5"/>
          <p:cNvSpPr/>
          <p:nvPr/>
        </p:nvSpPr>
        <p:spPr>
          <a:xfrm>
            <a:off x="594360" y="2331720"/>
            <a:ext cx="2084831" cy="822960"/>
          </a:xfrm>
          <a:prstGeom prst="round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1  Data
Management</a:t>
            </a:r>
          </a:p>
        </p:txBody>
      </p:sp>
      <p:sp>
        <p:nvSpPr>
          <p:cNvPr id="8" name="Rounded Rectangle 7"/>
          <p:cNvSpPr/>
          <p:nvPr/>
        </p:nvSpPr>
        <p:spPr>
          <a:xfrm>
            <a:off x="2944368" y="2331720"/>
            <a:ext cx="2084831" cy="822960"/>
          </a:xfrm>
          <a:prstGeom prst="round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0087"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2  Model
Evaluation</a:t>
            </a:r>
          </a:p>
        </p:txBody>
      </p:sp>
      <p:sp>
        <p:nvSpPr>
          <p:cNvPr id="10" name="Rounded Rectangle 9"/>
          <p:cNvSpPr/>
          <p:nvPr/>
        </p:nvSpPr>
        <p:spPr>
          <a:xfrm>
            <a:off x="5294376" y="2331720"/>
            <a:ext cx="2084831" cy="822960"/>
          </a:xfrm>
          <a:prstGeom prst="round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0096"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3  Twin
Simulator</a:t>
            </a:r>
          </a:p>
        </p:txBody>
      </p:sp>
      <p:sp>
        <p:nvSpPr>
          <p:cNvPr id="12" name="Rounded Rectangle 11"/>
          <p:cNvSpPr/>
          <p:nvPr/>
        </p:nvSpPr>
        <p:spPr>
          <a:xfrm>
            <a:off x="7644383" y="2331720"/>
            <a:ext cx="2084831" cy="822960"/>
          </a:xfrm>
          <a:prstGeom prst="round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0104"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4  Example
Prediction</a:t>
            </a:r>
          </a:p>
        </p:txBody>
      </p:sp>
      <p:sp>
        <p:nvSpPr>
          <p:cNvPr id="14" name="Rounded Rectangle 13"/>
          <p:cNvSpPr/>
          <p:nvPr/>
        </p:nvSpPr>
        <p:spPr>
          <a:xfrm>
            <a:off x="9994392" y="2331720"/>
            <a:ext cx="2084831" cy="822960"/>
          </a:xfrm>
          <a:prstGeom prst="roundRect">
            <a:avLst/>
          </a:prstGeom>
          <a:solidFill>
            <a:srgbClr val="19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40112"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5  Executive
Insights</a:t>
            </a:r>
          </a:p>
        </p:txBody>
      </p:sp>
      <p:sp>
        <p:nvSpPr>
          <p:cNvPr id="16" name="Rounded Rectangle 15"/>
          <p:cNvSpPr/>
          <p:nvPr/>
        </p:nvSpPr>
        <p:spPr>
          <a:xfrm>
            <a:off x="667512" y="3858768"/>
            <a:ext cx="1947672" cy="1133856"/>
          </a:xfrm>
          <a:prstGeom prst="roundRect">
            <a:avLst/>
          </a:prstGeom>
          <a:solidFill>
            <a:srgbClr val="EFF6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04487"/>
            <a:ext cx="1819655" cy="329184"/>
          </a:xfrm>
          <a:prstGeom prst="rect">
            <a:avLst/>
          </a:prstGeom>
          <a:noFill/>
        </p:spPr>
        <p:txBody>
          <a:bodyPr wrap="square" anchor="ctr" lIns="9144" rIns="9144" tIns="9144" bIns="9144">
            <a:normAutofit/>
          </a:bodyPr>
          <a:lstStyle/>
          <a:p>
            <a:pPr algn="ctr"/>
            <a:r>
              <a:rPr sz="1300" b="1">
                <a:solidFill>
                  <a:srgbClr val="1282BE"/>
                </a:solidFill>
                <a:latin typeface="Arial"/>
              </a:rPr>
              <a:t>SELECT</a:t>
            </a:r>
          </a:p>
        </p:txBody>
      </p:sp>
      <p:sp>
        <p:nvSpPr>
          <p:cNvPr id="18" name="TextBox 17"/>
          <p:cNvSpPr txBox="1"/>
          <p:nvPr/>
        </p:nvSpPr>
        <p:spPr>
          <a:xfrm>
            <a:off x="777240"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Dataset +
saved model</a:t>
            </a:r>
          </a:p>
        </p:txBody>
      </p:sp>
      <p:sp>
        <p:nvSpPr>
          <p:cNvPr id="19" name="Right Arrow 18"/>
          <p:cNvSpPr/>
          <p:nvPr/>
        </p:nvSpPr>
        <p:spPr>
          <a:xfrm>
            <a:off x="2679192"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017520" y="3858768"/>
            <a:ext cx="1947672" cy="1133856"/>
          </a:xfrm>
          <a:prstGeom prst="roundRect">
            <a:avLst/>
          </a:prstGeom>
          <a:solidFill>
            <a:srgbClr val="E5F2FA"/>
          </a:solidFill>
          <a:ln w="15875">
            <a:solidFill>
              <a:srgbClr val="248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81527" y="3904487"/>
            <a:ext cx="1819655" cy="329184"/>
          </a:xfrm>
          <a:prstGeom prst="rect">
            <a:avLst/>
          </a:prstGeom>
          <a:noFill/>
        </p:spPr>
        <p:txBody>
          <a:bodyPr wrap="square" anchor="ctr" lIns="9144" rIns="9144" tIns="9144" bIns="9144">
            <a:normAutofit/>
          </a:bodyPr>
          <a:lstStyle/>
          <a:p>
            <a:pPr algn="ctr"/>
            <a:r>
              <a:rPr sz="1300" b="1">
                <a:solidFill>
                  <a:srgbClr val="248F84"/>
                </a:solidFill>
                <a:latin typeface="Arial"/>
              </a:rPr>
              <a:t>ENTER</a:t>
            </a:r>
          </a:p>
        </p:txBody>
      </p:sp>
      <p:sp>
        <p:nvSpPr>
          <p:cNvPr id="22" name="TextBox 21"/>
          <p:cNvSpPr txBox="1"/>
          <p:nvPr/>
        </p:nvSpPr>
        <p:spPr>
          <a:xfrm>
            <a:off x="3127248"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Example fields
(manual input)</a:t>
            </a:r>
          </a:p>
        </p:txBody>
      </p:sp>
      <p:sp>
        <p:nvSpPr>
          <p:cNvPr id="23" name="Right Arrow 22"/>
          <p:cNvSpPr/>
          <p:nvPr/>
        </p:nvSpPr>
        <p:spPr>
          <a:xfrm>
            <a:off x="5029200"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367527" y="3858768"/>
            <a:ext cx="1947672" cy="1133856"/>
          </a:xfrm>
          <a:prstGeom prst="roundRect">
            <a:avLst/>
          </a:prstGeom>
          <a:solidFill>
            <a:srgbClr val="EFF6FA"/>
          </a:solidFill>
          <a:ln w="15875">
            <a:solidFill>
              <a:srgbClr val="D69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31536" y="3904487"/>
            <a:ext cx="1819655" cy="329184"/>
          </a:xfrm>
          <a:prstGeom prst="rect">
            <a:avLst/>
          </a:prstGeom>
          <a:noFill/>
        </p:spPr>
        <p:txBody>
          <a:bodyPr wrap="square" anchor="ctr" lIns="9144" rIns="9144" tIns="9144" bIns="9144">
            <a:normAutofit/>
          </a:bodyPr>
          <a:lstStyle/>
          <a:p>
            <a:pPr algn="ctr"/>
            <a:r>
              <a:rPr sz="1300" b="1">
                <a:solidFill>
                  <a:srgbClr val="D69120"/>
                </a:solidFill>
                <a:latin typeface="Arial"/>
              </a:rPr>
              <a:t>SCORE</a:t>
            </a:r>
          </a:p>
        </p:txBody>
      </p:sp>
      <p:sp>
        <p:nvSpPr>
          <p:cNvPr id="26" name="TextBox 25"/>
          <p:cNvSpPr txBox="1"/>
          <p:nvPr/>
        </p:nvSpPr>
        <p:spPr>
          <a:xfrm>
            <a:off x="5477255"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Saved pipeline
returns model score</a:t>
            </a:r>
          </a:p>
        </p:txBody>
      </p:sp>
      <p:sp>
        <p:nvSpPr>
          <p:cNvPr id="27" name="Right Arrow 26"/>
          <p:cNvSpPr/>
          <p:nvPr/>
        </p:nvSpPr>
        <p:spPr>
          <a:xfrm>
            <a:off x="7379208"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17536" y="3858768"/>
            <a:ext cx="1947672" cy="1133856"/>
          </a:xfrm>
          <a:prstGeom prst="roundRect">
            <a:avLst/>
          </a:prstGeom>
          <a:solidFill>
            <a:srgbClr val="E5F2FA"/>
          </a:solidFill>
          <a:ln w="15875">
            <a:solidFill>
              <a:srgbClr val="22AA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81544" y="3904487"/>
            <a:ext cx="1819655" cy="329184"/>
          </a:xfrm>
          <a:prstGeom prst="rect">
            <a:avLst/>
          </a:prstGeom>
          <a:noFill/>
        </p:spPr>
        <p:txBody>
          <a:bodyPr wrap="square" anchor="ctr" lIns="9144" rIns="9144" tIns="9144" bIns="9144">
            <a:normAutofit/>
          </a:bodyPr>
          <a:lstStyle/>
          <a:p>
            <a:pPr algn="ctr"/>
            <a:r>
              <a:rPr sz="1300" b="1">
                <a:solidFill>
                  <a:srgbClr val="22AAD2"/>
                </a:solidFill>
                <a:latin typeface="Arial"/>
              </a:rPr>
              <a:t>DECIDE</a:t>
            </a:r>
          </a:p>
        </p:txBody>
      </p:sp>
      <p:sp>
        <p:nvSpPr>
          <p:cNvPr id="30" name="TextBox 29"/>
          <p:cNvSpPr txBox="1"/>
          <p:nvPr/>
        </p:nvSpPr>
        <p:spPr>
          <a:xfrm>
            <a:off x="7827263"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Compare score
with threshold</a:t>
            </a:r>
          </a:p>
        </p:txBody>
      </p:sp>
      <p:sp>
        <p:nvSpPr>
          <p:cNvPr id="31" name="Right Arrow 30"/>
          <p:cNvSpPr/>
          <p:nvPr/>
        </p:nvSpPr>
        <p:spPr>
          <a:xfrm>
            <a:off x="9729216"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67544" y="3858768"/>
            <a:ext cx="1947672" cy="1133856"/>
          </a:xfrm>
          <a:prstGeom prst="roundRect">
            <a:avLst/>
          </a:prstGeom>
          <a:solidFill>
            <a:srgbClr val="EFF6FA"/>
          </a:solidFill>
          <a:ln w="15875">
            <a:solidFill>
              <a:srgbClr val="19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31552" y="3904487"/>
            <a:ext cx="1819655" cy="329184"/>
          </a:xfrm>
          <a:prstGeom prst="rect">
            <a:avLst/>
          </a:prstGeom>
          <a:noFill/>
        </p:spPr>
        <p:txBody>
          <a:bodyPr wrap="square" anchor="ctr" lIns="9144" rIns="9144" tIns="9144" bIns="9144">
            <a:normAutofit/>
          </a:bodyPr>
          <a:lstStyle/>
          <a:p>
            <a:pPr algn="ctr"/>
            <a:r>
              <a:rPr sz="1300" b="1">
                <a:solidFill>
                  <a:srgbClr val="19324D"/>
                </a:solidFill>
                <a:latin typeface="Arial"/>
              </a:rPr>
              <a:t>EXPLAIN</a:t>
            </a:r>
          </a:p>
        </p:txBody>
      </p:sp>
      <p:sp>
        <p:nvSpPr>
          <p:cNvPr id="34" name="TextBox 33"/>
          <p:cNvSpPr txBox="1"/>
          <p:nvPr/>
        </p:nvSpPr>
        <p:spPr>
          <a:xfrm>
            <a:off x="10177272"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Display alert,
metrics and context</a:t>
            </a:r>
          </a:p>
        </p:txBody>
      </p:sp>
      <p:sp>
        <p:nvSpPr>
          <p:cNvPr id="35" name="TextBox 34"/>
          <p:cNvSpPr txBox="1"/>
          <p:nvPr/>
        </p:nvSpPr>
        <p:spPr>
          <a:xfrm>
            <a:off x="960120" y="5376672"/>
            <a:ext cx="10789920" cy="685800"/>
          </a:xfrm>
          <a:prstGeom prst="rect">
            <a:avLst/>
          </a:prstGeom>
          <a:solidFill>
            <a:srgbClr val="FBF5E6"/>
          </a:solidFill>
          <a:ln>
            <a:noFill/>
          </a:ln>
        </p:spPr>
        <p:txBody>
          <a:bodyPr wrap="square" anchor="ctr" lIns="109728" rIns="109728" tIns="109728" bIns="109728">
            <a:normAutofit/>
          </a:bodyPr>
          <a:lstStyle/>
          <a:p>
            <a:pPr algn="ctr"/>
            <a:r>
              <a:rPr sz="1450" b="0">
                <a:solidFill>
                  <a:srgbClr val="2B3744"/>
                </a:solidFill>
                <a:latin typeface="Arial"/>
              </a:rPr>
              <a:t>Prototype boundary: manual local scoring only. The scenario page uses configured transitions; neither feature is connected to a live payment or network feed.</a:t>
            </a:r>
          </a:p>
        </p:txBody>
      </p:sp>
    </p:spTree>
    <p:extLst>
      <p:ext uri="{BB962C8B-B14F-4D97-AF65-F5344CB8AC3E}">
        <p14:creationId xmlns:p14="http://schemas.microsoft.com/office/powerpoint/2010/main" val="1145004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6C8D-B43E-DA7C-E00A-0FC4EA185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4C6AA-E1C2-EA6C-246E-CC1479CDED74}"/>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7. CONCLUSIONS</a:t>
            </a:r>
          </a:p>
        </p:txBody>
      </p:sp>
      <p:sp>
        <p:nvSpPr>
          <p:cNvPr id="4" name="Slide Number Placeholder 3">
            <a:extLst>
              <a:ext uri="{FF2B5EF4-FFF2-40B4-BE49-F238E27FC236}">
                <a16:creationId xmlns:a16="http://schemas.microsoft.com/office/drawing/2014/main" id="{C20BB0C0-AF3E-C46D-0A00-DD8E18E7843A}"/>
              </a:ext>
            </a:extLst>
          </p:cNvPr>
          <p:cNvSpPr>
            <a:spLocks noGrp="1"/>
          </p:cNvSpPr>
          <p:nvPr>
            <p:ph type="sldNum" sz="quarter" idx="12"/>
          </p:nvPr>
        </p:nvSpPr>
        <p:spPr/>
        <p:txBody>
          <a:bodyPr/>
          <a:lstStyle/>
          <a:p>
            <a:fld id="{C02A2637-A5A3-49FA-B214-6E67543099EF}" type="slidenum">
              <a:rPr lang="en-US" smtClean="0"/>
              <a:t>13</a:t>
            </a:fld>
            <a:endParaRPr lang="en-US"/>
          </a:p>
        </p:txBody>
      </p:sp>
      <p:sp>
        <p:nvSpPr>
          <p:cNvPr id="5" name="TextBox 4"/>
          <p:cNvSpPr txBox="1"/>
          <p:nvPr/>
        </p:nvSpPr>
        <p:spPr>
          <a:xfrm>
            <a:off x="658368" y="1810512"/>
            <a:ext cx="2834640" cy="640080"/>
          </a:xfrm>
          <a:prstGeom prst="rect">
            <a:avLst/>
          </a:prstGeom>
          <a:noFill/>
        </p:spPr>
        <p:txBody>
          <a:bodyPr wrap="square" anchor="ctr" lIns="54864" rIns="54864" tIns="54864" bIns="54864">
            <a:normAutofit/>
          </a:bodyPr>
          <a:lstStyle/>
          <a:p>
            <a:pPr algn="l"/>
            <a:r>
              <a:rPr sz="1500" b="1">
                <a:solidFill>
                  <a:srgbClr val="1282BE"/>
                </a:solidFill>
                <a:latin typeface="Arial"/>
              </a:rPr>
              <a:t>A complete prototype workflow is present</a:t>
            </a:r>
          </a:p>
        </p:txBody>
      </p:sp>
      <p:sp>
        <p:nvSpPr>
          <p:cNvPr id="6" name="TextBox 5"/>
          <p:cNvSpPr txBox="1"/>
          <p:nvPr/>
        </p:nvSpPr>
        <p:spPr>
          <a:xfrm>
            <a:off x="3429000" y="1810512"/>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Four datasets, four model families, saved pipelines and metrics, and five dashboard sections are integrated.</a:t>
            </a:r>
          </a:p>
        </p:txBody>
      </p:sp>
      <p:cxnSp>
        <p:nvCxnSpPr>
          <p:cNvPr id="7" name="Connector 6"/>
          <p:cNvCxnSpPr/>
          <p:nvPr/>
        </p:nvCxnSpPr>
        <p:spPr>
          <a:xfrm>
            <a:off x="658368" y="2651760"/>
            <a:ext cx="11183112" cy="0"/>
          </a:xfrm>
          <a:prstGeom prst="line">
            <a:avLst/>
          </a:prstGeom>
          <a:ln w="10160">
            <a:solidFill>
              <a:srgbClr val="CFDC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2880360"/>
            <a:ext cx="2834640" cy="640080"/>
          </a:xfrm>
          <a:prstGeom prst="rect">
            <a:avLst/>
          </a:prstGeom>
          <a:noFill/>
        </p:spPr>
        <p:txBody>
          <a:bodyPr wrap="square" anchor="ctr" lIns="54864" rIns="54864" tIns="54864" bIns="54864">
            <a:normAutofit/>
          </a:bodyPr>
          <a:lstStyle/>
          <a:p>
            <a:pPr algn="l"/>
            <a:r>
              <a:rPr sz="1500" b="1">
                <a:solidFill>
                  <a:srgbClr val="248F84"/>
                </a:solidFill>
                <a:latin typeface="Arial"/>
              </a:rPr>
              <a:t>Metrics reveal different operating trade-offs</a:t>
            </a:r>
          </a:p>
        </p:txBody>
      </p:sp>
      <p:sp>
        <p:nvSpPr>
          <p:cNvPr id="9" name="TextBox 8"/>
          <p:cNvSpPr txBox="1"/>
          <p:nvPr/>
        </p:nvSpPr>
        <p:spPr>
          <a:xfrm>
            <a:off x="3429000" y="2880360"/>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High recall can coexist with low precision; accuracy and AUC alone do not describe alert quality.</a:t>
            </a:r>
          </a:p>
        </p:txBody>
      </p:sp>
      <p:cxnSp>
        <p:nvCxnSpPr>
          <p:cNvPr id="10" name="Connector 9"/>
          <p:cNvCxnSpPr/>
          <p:nvPr/>
        </p:nvCxnSpPr>
        <p:spPr>
          <a:xfrm>
            <a:off x="658368" y="3721608"/>
            <a:ext cx="11183112" cy="0"/>
          </a:xfrm>
          <a:prstGeom prst="line">
            <a:avLst/>
          </a:prstGeom>
          <a:ln w="10160">
            <a:solidFill>
              <a:srgbClr val="CFDC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3950208"/>
            <a:ext cx="2834640" cy="640080"/>
          </a:xfrm>
          <a:prstGeom prst="rect">
            <a:avLst/>
          </a:prstGeom>
          <a:noFill/>
        </p:spPr>
        <p:txBody>
          <a:bodyPr wrap="square" anchor="ctr" lIns="54864" rIns="54864" tIns="54864" bIns="54864">
            <a:normAutofit/>
          </a:bodyPr>
          <a:lstStyle/>
          <a:p>
            <a:pPr algn="l"/>
            <a:r>
              <a:rPr sz="1500" b="1">
                <a:solidFill>
                  <a:srgbClr val="1282BE"/>
                </a:solidFill>
                <a:latin typeface="Arial"/>
              </a:rPr>
              <a:t>Results must stay in context</a:t>
            </a:r>
          </a:p>
        </p:txBody>
      </p:sp>
      <p:sp>
        <p:nvSpPr>
          <p:cNvPr id="12" name="TextBox 11"/>
          <p:cNvSpPr txBox="1"/>
          <p:nvPr/>
        </p:nvSpPr>
        <p:spPr>
          <a:xfrm>
            <a:off x="3429000" y="3950208"/>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BankSim and PaySim are simulated; CICIDS2017 is network intrusion; IEEE-CIS is an anonymized competition benchmark.</a:t>
            </a:r>
          </a:p>
        </p:txBody>
      </p:sp>
      <p:cxnSp>
        <p:nvCxnSpPr>
          <p:cNvPr id="13" name="Connector 12"/>
          <p:cNvCxnSpPr/>
          <p:nvPr/>
        </p:nvCxnSpPr>
        <p:spPr>
          <a:xfrm>
            <a:off x="658368" y="4791456"/>
            <a:ext cx="11183112" cy="0"/>
          </a:xfrm>
          <a:prstGeom prst="line">
            <a:avLst/>
          </a:prstGeom>
          <a:ln w="10160">
            <a:solidFill>
              <a:srgbClr val="CFDC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5020056"/>
            <a:ext cx="2834640" cy="640080"/>
          </a:xfrm>
          <a:prstGeom prst="rect">
            <a:avLst/>
          </a:prstGeom>
          <a:noFill/>
        </p:spPr>
        <p:txBody>
          <a:bodyPr wrap="square" anchor="ctr" lIns="54864" rIns="54864" tIns="54864" bIns="54864">
            <a:normAutofit/>
          </a:bodyPr>
          <a:lstStyle/>
          <a:p>
            <a:pPr algn="l"/>
            <a:r>
              <a:rPr sz="1500" b="1">
                <a:solidFill>
                  <a:srgbClr val="248F84"/>
                </a:solidFill>
                <a:latin typeface="Arial"/>
              </a:rPr>
              <a:t>Validation remains essential</a:t>
            </a:r>
          </a:p>
        </p:txBody>
      </p:sp>
      <p:sp>
        <p:nvSpPr>
          <p:cNvPr id="15" name="TextBox 14"/>
          <p:cNvSpPr txBox="1"/>
          <p:nvPr/>
        </p:nvSpPr>
        <p:spPr>
          <a:xfrm>
            <a:off x="3429000" y="5020056"/>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Saved holdout values are not a production guarantee. The rule-based simulator is illustrative and separate from model training.</a:t>
            </a:r>
          </a:p>
        </p:txBody>
      </p:sp>
      <p:sp>
        <p:nvSpPr>
          <p:cNvPr id="16" name="TextBox 15"/>
          <p:cNvSpPr txBox="1"/>
          <p:nvPr/>
        </p:nvSpPr>
        <p:spPr>
          <a:xfrm>
            <a:off x="914400" y="6236208"/>
            <a:ext cx="10972800" cy="347472"/>
          </a:xfrm>
          <a:prstGeom prst="rect">
            <a:avLst/>
          </a:prstGeom>
          <a:noFill/>
        </p:spPr>
        <p:txBody>
          <a:bodyPr wrap="square" anchor="ctr" lIns="54864" rIns="54864" tIns="54864" bIns="54864">
            <a:normAutofit/>
          </a:bodyPr>
          <a:lstStyle/>
          <a:p>
            <a:pPr algn="ctr"/>
            <a:r>
              <a:rPr sz="1350" b="1">
                <a:solidFill>
                  <a:srgbClr val="19324D"/>
                </a:solidFill>
                <a:latin typeface="Arial"/>
              </a:rPr>
              <a:t>Takeaway: a transparent detection prototype is useful when its data provenance, threshold trade-offs, and limitations are reported together.</a:t>
            </a:r>
          </a:p>
        </p:txBody>
      </p:sp>
    </p:spTree>
    <p:extLst>
      <p:ext uri="{BB962C8B-B14F-4D97-AF65-F5344CB8AC3E}">
        <p14:creationId xmlns:p14="http://schemas.microsoft.com/office/powerpoint/2010/main" val="137539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8BB3-2A5B-34AC-B39B-BAE5C65E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448EB-8A1A-C9A3-3C48-4830472042E6}"/>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8. OUTCOME</a:t>
            </a:r>
          </a:p>
        </p:txBody>
      </p:sp>
      <p:sp>
        <p:nvSpPr>
          <p:cNvPr id="4" name="Slide Number Placeholder 3">
            <a:extLst>
              <a:ext uri="{FF2B5EF4-FFF2-40B4-BE49-F238E27FC236}">
                <a16:creationId xmlns:a16="http://schemas.microsoft.com/office/drawing/2014/main" id="{3C63C818-3FBA-7FB8-3369-BCE4AC4BD8EF}"/>
              </a:ext>
            </a:extLst>
          </p:cNvPr>
          <p:cNvSpPr>
            <a:spLocks noGrp="1"/>
          </p:cNvSpPr>
          <p:nvPr>
            <p:ph type="sldNum" sz="quarter" idx="12"/>
          </p:nvPr>
        </p:nvSpPr>
        <p:spPr/>
        <p:txBody>
          <a:bodyPr/>
          <a:lstStyle/>
          <a:p>
            <a:fld id="{C02A2637-A5A3-49FA-B214-6E67543099EF}" type="slidenum">
              <a:rPr lang="en-US" smtClean="0"/>
              <a:t>14</a:t>
            </a:fld>
            <a:endParaRPr lang="en-US"/>
          </a:p>
        </p:txBody>
      </p:sp>
      <p:graphicFrame>
        <p:nvGraphicFramePr>
          <p:cNvPr id="5" name="Table 4"/>
          <p:cNvGraphicFramePr>
            <a:graphicFrameLocks noGrp="1"/>
          </p:cNvGraphicFramePr>
          <p:nvPr/>
        </p:nvGraphicFramePr>
        <p:xfrm>
          <a:off x="502920" y="1709928"/>
          <a:ext cx="11795760" cy="2240280"/>
        </p:xfrm>
        <a:graphic>
          <a:graphicData uri="http://schemas.openxmlformats.org/drawingml/2006/table">
            <a:tbl>
              <a:tblPr firstRow="1" bandRow="1">
                <a:tableStyleId>{5C22544A-7EE6-4342-B048-85BDC9FD1C3A}</a:tableStyleId>
              </a:tblPr>
              <a:tblGrid>
                <a:gridCol w="1600200"/>
                <a:gridCol w="2011680"/>
                <a:gridCol w="1417320"/>
                <a:gridCol w="1417320"/>
                <a:gridCol w="1417320"/>
                <a:gridCol w="1097280"/>
                <a:gridCol w="1417320"/>
                <a:gridCol w="1417320"/>
              </a:tblGrid>
              <a:tr h="448056">
                <a:tc>
                  <a:txBody>
                    <a:bodyPr/>
                    <a:lstStyle/>
                    <a:p>
                      <a:pPr algn="l">
                        <a:spcAft>
                          <a:spcPts val="0"/>
                        </a:spcAft>
                      </a:pPr>
                      <a:r>
                        <a:rPr sz="1080" b="1">
                          <a:solidFill>
                            <a:srgbClr val="FFFFFF"/>
                          </a:solidFill>
                          <a:latin typeface="Arial"/>
                        </a:rPr>
                        <a:t>Dataset</a:t>
                      </a:r>
                    </a:p>
                  </a:txBody>
                  <a:tcPr anchor="ctr" marL="36576" marR="36576" marT="22860" marB="22860">
                    <a:solidFill>
                      <a:srgbClr val="19324D"/>
                    </a:solidFill>
                  </a:tcPr>
                </a:tc>
                <a:tc>
                  <a:txBody>
                    <a:bodyPr/>
                    <a:lstStyle/>
                    <a:p>
                      <a:pPr algn="l">
                        <a:spcAft>
                          <a:spcPts val="0"/>
                        </a:spcAft>
                      </a:pPr>
                      <a:r>
                        <a:rPr sz="1080" b="1">
                          <a:solidFill>
                            <a:srgbClr val="FFFFFF"/>
                          </a:solidFill>
                          <a:latin typeface="Arial"/>
                        </a:rPr>
                        <a:t>Best model</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Accuracy</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Precision</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Recall</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F1</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ROC-AUC</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Threshold</a:t>
                      </a:r>
                    </a:p>
                  </a:txBody>
                  <a:tcPr anchor="ctr" marL="36576" marR="36576" marT="22860" marB="22860">
                    <a:solidFill>
                      <a:srgbClr val="19324D"/>
                    </a:solidFill>
                  </a:tcPr>
                </a:tc>
              </a:tr>
              <a:tr h="448056">
                <a:tc>
                  <a:txBody>
                    <a:bodyPr/>
                    <a:lstStyle/>
                    <a:p>
                      <a:pPr algn="l">
                        <a:spcAft>
                          <a:spcPts val="0"/>
                        </a:spcAft>
                      </a:pPr>
                      <a:r>
                        <a:rPr sz="1050" b="1">
                          <a:solidFill>
                            <a:srgbClr val="2B3744"/>
                          </a:solidFill>
                          <a:latin typeface="Arial"/>
                        </a:rPr>
                        <a:t>PaySim</a:t>
                      </a:r>
                    </a:p>
                  </a:txBody>
                  <a:tcPr anchor="ctr" marL="36576" marR="36576" marT="22860" marB="22860">
                    <a:solidFill>
                      <a:srgbClr val="EFF6FA"/>
                    </a:solidFill>
                  </a:tcPr>
                </a:tc>
                <a:tc>
                  <a:txBody>
                    <a:bodyPr/>
                    <a:lstStyle/>
                    <a:p>
                      <a:pPr algn="l">
                        <a:spcAft>
                          <a:spcPts val="0"/>
                        </a:spcAft>
                      </a:pPr>
                      <a:r>
                        <a:rPr sz="1050" b="0">
                          <a:solidFill>
                            <a:srgbClr val="2B3744"/>
                          </a:solidFill>
                          <a:latin typeface="Arial"/>
                        </a:rPr>
                        <a:t>XGBoost</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0.9995</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0.7326</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0.9844</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0.8400</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0.9935</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0.005</a:t>
                      </a:r>
                    </a:p>
                  </a:txBody>
                  <a:tcPr anchor="ctr" marL="36576" marR="36576" marT="22860" marB="22860">
                    <a:solidFill>
                      <a:srgbClr val="EFF6FA"/>
                    </a:solidFill>
                  </a:tcPr>
                </a:tc>
              </a:tr>
              <a:tr h="448056">
                <a:tc>
                  <a:txBody>
                    <a:bodyPr/>
                    <a:lstStyle/>
                    <a:p>
                      <a:pPr algn="l">
                        <a:spcAft>
                          <a:spcPts val="0"/>
                        </a:spcAft>
                      </a:pPr>
                      <a:r>
                        <a:rPr sz="1050" b="1">
                          <a:solidFill>
                            <a:srgbClr val="2B3744"/>
                          </a:solidFill>
                          <a:latin typeface="Arial"/>
                        </a:rPr>
                        <a:t>BankSim</a:t>
                      </a:r>
                    </a:p>
                  </a:txBody>
                  <a:tcPr anchor="ctr" marL="36576" marR="36576" marT="22860" marB="22860">
                    <a:solidFill>
                      <a:srgbClr val="FFFFFF"/>
                    </a:solidFill>
                  </a:tcPr>
                </a:tc>
                <a:tc>
                  <a:txBody>
                    <a:bodyPr/>
                    <a:lstStyle/>
                    <a:p>
                      <a:pPr algn="l">
                        <a:spcAft>
                          <a:spcPts val="0"/>
                        </a:spcAft>
                      </a:pPr>
                      <a:r>
                        <a:rPr sz="1050" b="0">
                          <a:solidFill>
                            <a:srgbClr val="2B3744"/>
                          </a:solidFill>
                          <a:latin typeface="Arial"/>
                        </a:rPr>
                        <a:t>Random Forest</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0.9534</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0.1807</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0.9386</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0.3031</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0.9920</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0.500</a:t>
                      </a:r>
                    </a:p>
                  </a:txBody>
                  <a:tcPr anchor="ctr" marL="36576" marR="36576" marT="22860" marB="22860">
                    <a:solidFill>
                      <a:srgbClr val="FFFFFF"/>
                    </a:solidFill>
                  </a:tcPr>
                </a:tc>
              </a:tr>
              <a:tr h="448056">
                <a:tc>
                  <a:txBody>
                    <a:bodyPr/>
                    <a:lstStyle/>
                    <a:p>
                      <a:pPr algn="l">
                        <a:spcAft>
                          <a:spcPts val="0"/>
                        </a:spcAft>
                      </a:pPr>
                      <a:r>
                        <a:rPr sz="1050" b="1">
                          <a:solidFill>
                            <a:srgbClr val="2B3744"/>
                          </a:solidFill>
                          <a:latin typeface="Arial"/>
                        </a:rPr>
                        <a:t>CICIDS2017</a:t>
                      </a:r>
                    </a:p>
                  </a:txBody>
                  <a:tcPr anchor="ctr" marL="36576" marR="36576" marT="22860" marB="22860">
                    <a:solidFill>
                      <a:srgbClr val="EFF6FA"/>
                    </a:solidFill>
                  </a:tcPr>
                </a:tc>
                <a:tc>
                  <a:txBody>
                    <a:bodyPr/>
                    <a:lstStyle/>
                    <a:p>
                      <a:pPr algn="l">
                        <a:spcAft>
                          <a:spcPts val="0"/>
                        </a:spcAft>
                      </a:pPr>
                      <a:r>
                        <a:rPr sz="1050" b="0">
                          <a:solidFill>
                            <a:srgbClr val="2B3744"/>
                          </a:solidFill>
                          <a:latin typeface="Arial"/>
                        </a:rPr>
                        <a:t>XGBoost</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0.8781</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0.6179</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0.9992</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0.7636</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0.9989</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0.005</a:t>
                      </a:r>
                    </a:p>
                  </a:txBody>
                  <a:tcPr anchor="ctr" marL="36576" marR="36576" marT="22860" marB="22860">
                    <a:solidFill>
                      <a:srgbClr val="EFF6FA"/>
                    </a:solidFill>
                  </a:tcPr>
                </a:tc>
              </a:tr>
              <a:tr h="448056">
                <a:tc>
                  <a:txBody>
                    <a:bodyPr/>
                    <a:lstStyle/>
                    <a:p>
                      <a:pPr algn="l">
                        <a:spcAft>
                          <a:spcPts val="0"/>
                        </a:spcAft>
                      </a:pPr>
                      <a:r>
                        <a:rPr sz="1050" b="1">
                          <a:solidFill>
                            <a:srgbClr val="2B3744"/>
                          </a:solidFill>
                          <a:latin typeface="Arial"/>
                        </a:rPr>
                        <a:t>IEEE-CIS</a:t>
                      </a:r>
                    </a:p>
                  </a:txBody>
                  <a:tcPr anchor="ctr" marL="36576" marR="36576" marT="22860" marB="22860">
                    <a:solidFill>
                      <a:srgbClr val="FFFFFF"/>
                    </a:solidFill>
                  </a:tcPr>
                </a:tc>
                <a:tc>
                  <a:txBody>
                    <a:bodyPr/>
                    <a:lstStyle/>
                    <a:p>
                      <a:pPr algn="l">
                        <a:spcAft>
                          <a:spcPts val="0"/>
                        </a:spcAft>
                      </a:pPr>
                      <a:r>
                        <a:rPr sz="1050" b="0">
                          <a:solidFill>
                            <a:srgbClr val="2B3744"/>
                          </a:solidFill>
                          <a:latin typeface="Arial"/>
                        </a:rPr>
                        <a:t>Random Forest</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0.8771</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0.1734</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0.6828</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0.2766</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0.8684</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0.500</a:t>
                      </a:r>
                    </a:p>
                  </a:txBody>
                  <a:tcPr anchor="ctr" marL="36576" marR="36576" marT="22860" marB="22860">
                    <a:solidFill>
                      <a:srgbClr val="FFFFFF"/>
                    </a:solidFill>
                  </a:tcPr>
                </a:tc>
              </a:tr>
            </a:tbl>
          </a:graphicData>
        </a:graphic>
      </p:graphicFrame>
      <p:sp>
        <p:nvSpPr>
          <p:cNvPr id="6" name="TextBox 5"/>
          <p:cNvSpPr txBox="1"/>
          <p:nvPr/>
        </p:nvSpPr>
        <p:spPr>
          <a:xfrm>
            <a:off x="704088" y="4114800"/>
            <a:ext cx="2788920" cy="347472"/>
          </a:xfrm>
          <a:prstGeom prst="rect">
            <a:avLst/>
          </a:prstGeom>
          <a:noFill/>
        </p:spPr>
        <p:txBody>
          <a:bodyPr wrap="square" anchor="ctr" lIns="54864" rIns="54864" tIns="54864" bIns="54864">
            <a:normAutofit/>
          </a:bodyPr>
          <a:lstStyle/>
          <a:p>
            <a:pPr algn="l"/>
            <a:r>
              <a:rPr sz="1400" b="1">
                <a:solidFill>
                  <a:srgbClr val="19324D"/>
                </a:solidFill>
                <a:latin typeface="Arial"/>
              </a:rPr>
              <a:t>BEST-MODEL F1 BY DATASET</a:t>
            </a:r>
          </a:p>
        </p:txBody>
      </p:sp>
      <p:sp>
        <p:nvSpPr>
          <p:cNvPr id="7" name="TextBox 6"/>
          <p:cNvSpPr txBox="1"/>
          <p:nvPr/>
        </p:nvSpPr>
        <p:spPr>
          <a:xfrm>
            <a:off x="731520" y="455371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PaySim</a:t>
            </a:r>
          </a:p>
        </p:txBody>
      </p:sp>
      <p:sp>
        <p:nvSpPr>
          <p:cNvPr id="8" name="Rounded Rectangle 7"/>
          <p:cNvSpPr/>
          <p:nvPr/>
        </p:nvSpPr>
        <p:spPr>
          <a:xfrm>
            <a:off x="2157984" y="459486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57984" y="4594860"/>
            <a:ext cx="2880360" cy="182880"/>
          </a:xfrm>
          <a:prstGeom prst="round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455371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0.840</a:t>
            </a:r>
          </a:p>
        </p:txBody>
      </p:sp>
      <p:sp>
        <p:nvSpPr>
          <p:cNvPr id="11" name="TextBox 10"/>
          <p:cNvSpPr txBox="1"/>
          <p:nvPr/>
        </p:nvSpPr>
        <p:spPr>
          <a:xfrm>
            <a:off x="731520" y="491947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BankSim</a:t>
            </a:r>
          </a:p>
        </p:txBody>
      </p:sp>
      <p:sp>
        <p:nvSpPr>
          <p:cNvPr id="12" name="Rounded Rectangle 11"/>
          <p:cNvSpPr/>
          <p:nvPr/>
        </p:nvSpPr>
        <p:spPr>
          <a:xfrm>
            <a:off x="2157984" y="496062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57984" y="4960620"/>
            <a:ext cx="1039329" cy="182880"/>
          </a:xfrm>
          <a:prstGeom prst="round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491947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0.303</a:t>
            </a:r>
          </a:p>
        </p:txBody>
      </p:sp>
      <p:sp>
        <p:nvSpPr>
          <p:cNvPr id="15" name="TextBox 14"/>
          <p:cNvSpPr txBox="1"/>
          <p:nvPr/>
        </p:nvSpPr>
        <p:spPr>
          <a:xfrm>
            <a:off x="731520" y="528523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CICIDS2017</a:t>
            </a:r>
          </a:p>
        </p:txBody>
      </p:sp>
      <p:sp>
        <p:nvSpPr>
          <p:cNvPr id="16" name="Rounded Rectangle 15"/>
          <p:cNvSpPr/>
          <p:nvPr/>
        </p:nvSpPr>
        <p:spPr>
          <a:xfrm>
            <a:off x="2157984" y="532638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157984" y="5326380"/>
            <a:ext cx="2618384" cy="182880"/>
          </a:xfrm>
          <a:prstGeom prst="round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528523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0.764</a:t>
            </a:r>
          </a:p>
        </p:txBody>
      </p:sp>
      <p:sp>
        <p:nvSpPr>
          <p:cNvPr id="19" name="TextBox 18"/>
          <p:cNvSpPr txBox="1"/>
          <p:nvPr/>
        </p:nvSpPr>
        <p:spPr>
          <a:xfrm>
            <a:off x="731520" y="565099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IEEE-CIS</a:t>
            </a:r>
          </a:p>
        </p:txBody>
      </p:sp>
      <p:sp>
        <p:nvSpPr>
          <p:cNvPr id="20" name="Rounded Rectangle 19"/>
          <p:cNvSpPr/>
          <p:nvPr/>
        </p:nvSpPr>
        <p:spPr>
          <a:xfrm>
            <a:off x="2157984" y="569214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57984" y="5692140"/>
            <a:ext cx="948461" cy="182880"/>
          </a:xfrm>
          <a:prstGeom prst="round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565099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0.277</a:t>
            </a:r>
          </a:p>
        </p:txBody>
      </p:sp>
      <p:sp>
        <p:nvSpPr>
          <p:cNvPr id="23" name="TextBox 22"/>
          <p:cNvSpPr txBox="1"/>
          <p:nvPr/>
        </p:nvSpPr>
        <p:spPr>
          <a:xfrm>
            <a:off x="6537960" y="4224528"/>
            <a:ext cx="5166360" cy="1645920"/>
          </a:xfrm>
          <a:prstGeom prst="rect">
            <a:avLst/>
          </a:prstGeom>
          <a:solidFill>
            <a:srgbClr val="FBF5E6"/>
          </a:solidFill>
          <a:ln>
            <a:noFill/>
          </a:ln>
        </p:spPr>
        <p:txBody>
          <a:bodyPr wrap="square" anchor="ctr" lIns="146304" rIns="146304" tIns="146304" bIns="146304">
            <a:normAutofit/>
          </a:bodyPr>
          <a:lstStyle/>
          <a:p>
            <a:pPr algn="l"/>
            <a:r>
              <a:rPr sz="1310" b="0">
                <a:solidFill>
                  <a:srgbClr val="2B3744"/>
                </a:solidFill>
                <a:latin typeface="Arial"/>
              </a:rPr>
              <a:t>INTERPRETATION
BankSim: recall 0.9386 but precision 0.1807 at threshold 0.50. Many alerts may be false alarms.
PaySim: F1 0.8400 at threshold 0.005 on a rare-event sample.</a:t>
            </a:r>
          </a:p>
        </p:txBody>
      </p:sp>
      <p:sp>
        <p:nvSpPr>
          <p:cNvPr id="24" name="TextBox 23"/>
          <p:cNvSpPr txBox="1"/>
          <p:nvPr/>
        </p:nvSpPr>
        <p:spPr>
          <a:xfrm>
            <a:off x="566928" y="6355080"/>
            <a:ext cx="11612880" cy="256032"/>
          </a:xfrm>
          <a:prstGeom prst="rect">
            <a:avLst/>
          </a:prstGeom>
          <a:noFill/>
        </p:spPr>
        <p:txBody>
          <a:bodyPr wrap="square" anchor="ctr" lIns="9144" rIns="9144" tIns="9144" bIns="9144">
            <a:normAutofit/>
          </a:bodyPr>
          <a:lstStyle/>
          <a:p>
            <a:pPr algn="l"/>
            <a:r>
              <a:rPr sz="800" b="0">
                <a:solidFill>
                  <a:srgbClr val="63707E"/>
                </a:solidFill>
                <a:latin typeface="Arial"/>
              </a:rPr>
              <a:t>Saved holdout results from models/evaluation_metrics.json. PaySim/CICIDS samples: 250,000 / 150,000; BankSim/IEEE-CIS: 594,643 / 590,540 rows.</a:t>
            </a:r>
          </a:p>
        </p:txBody>
      </p:sp>
    </p:spTree>
    <p:extLst>
      <p:ext uri="{BB962C8B-B14F-4D97-AF65-F5344CB8AC3E}">
        <p14:creationId xmlns:p14="http://schemas.microsoft.com/office/powerpoint/2010/main" val="331974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b="1">
                <a:latin typeface="Arial"/>
              </a:rPr>
              <a:t>9. TIMELINE / GANTT CHART</a:t>
            </a:r>
          </a:p>
        </p:txBody>
      </p:sp>
      <p:sp>
        <p:nvSpPr>
          <p:cNvPr id="4" name="Slide Number Placeholder 3"/>
          <p:cNvSpPr>
            <a:spLocks noGrp="1"/>
          </p:cNvSpPr>
          <p:nvPr>
            <p:ph type="sldNum" sz="quarter" idx="12"/>
          </p:nvPr>
        </p:nvSpPr>
        <p:spPr/>
        <p:txBody>
          <a:bodyPr/>
          <a:lstStyle/>
          <a:p>
            <a:fld id="{C02A2637-A5A3-49FA-B214-6E67543099EF}" type="slidenum">
              <a:rPr lang="en-US" smtClean="0"/>
              <a:t>15</a:t>
            </a:fld>
            <a:endParaRPr lang="en-US"/>
          </a:p>
        </p:txBody>
      </p:sp>
      <p:sp>
        <p:nvSpPr>
          <p:cNvPr id="3" name="TextBox 2">
            <a:extLst>
              <a:ext uri="{FF2B5EF4-FFF2-40B4-BE49-F238E27FC236}">
                <a16:creationId xmlns:a16="http://schemas.microsoft.com/office/drawing/2014/main" id="{E4232115-B82D-8D1A-DF88-7F370475E570}"/>
              </a:ext>
            </a:extLst>
          </p:cNvPr>
          <p:cNvSpPr txBox="1"/>
          <p:nvPr/>
        </p:nvSpPr>
        <p:spPr>
          <a:xfrm>
            <a:off x="594360" y="1572768"/>
            <a:ext cx="11430000" cy="310896"/>
          </a:xfrm>
          <a:prstGeom prst="rect">
            <a:avLst/>
          </a:prstGeom>
          <a:noFill/>
        </p:spPr>
        <p:txBody>
          <a:bodyPr wrap="square" rtlCol="0" anchor="ctr" lIns="45720" rIns="45720" tIns="18288" bIns="18288">
            <a:normAutofit/>
          </a:bodyPr>
          <a:lstStyle/>
          <a:p>
            <a:pPr algn="ctr"/>
            <a:r>
              <a:rPr sz="1400" b="0">
                <a:solidFill>
                  <a:srgbClr val="63707E"/>
                </a:solidFill>
                <a:latin typeface="Arial"/>
              </a:rPr>
              <a:t>PROJECT PHASES  |  Status based on artifacts in this repository; calendar dates were not supplied.</a:t>
            </a:r>
          </a:p>
        </p:txBody>
      </p:sp>
      <p:sp>
        <p:nvSpPr>
          <p:cNvPr id="5" name="TextBox 4"/>
          <p:cNvSpPr txBox="1"/>
          <p:nvPr/>
        </p:nvSpPr>
        <p:spPr>
          <a:xfrm>
            <a:off x="3383280"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Data</a:t>
            </a:r>
          </a:p>
        </p:txBody>
      </p:sp>
      <p:sp>
        <p:nvSpPr>
          <p:cNvPr id="6" name="TextBox 5"/>
          <p:cNvSpPr txBox="1"/>
          <p:nvPr/>
        </p:nvSpPr>
        <p:spPr>
          <a:xfrm>
            <a:off x="4681728"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Pipeline</a:t>
            </a:r>
          </a:p>
        </p:txBody>
      </p:sp>
      <p:sp>
        <p:nvSpPr>
          <p:cNvPr id="7" name="TextBox 6"/>
          <p:cNvSpPr txBox="1"/>
          <p:nvPr/>
        </p:nvSpPr>
        <p:spPr>
          <a:xfrm>
            <a:off x="5980176"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Models</a:t>
            </a:r>
          </a:p>
        </p:txBody>
      </p:sp>
      <p:sp>
        <p:nvSpPr>
          <p:cNvPr id="8" name="TextBox 7"/>
          <p:cNvSpPr txBox="1"/>
          <p:nvPr/>
        </p:nvSpPr>
        <p:spPr>
          <a:xfrm>
            <a:off x="7278624"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Dashboard</a:t>
            </a:r>
          </a:p>
        </p:txBody>
      </p:sp>
      <p:sp>
        <p:nvSpPr>
          <p:cNvPr id="9" name="TextBox 8"/>
          <p:cNvSpPr txBox="1"/>
          <p:nvPr/>
        </p:nvSpPr>
        <p:spPr>
          <a:xfrm>
            <a:off x="8577072"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Review</a:t>
            </a:r>
          </a:p>
        </p:txBody>
      </p:sp>
      <p:sp>
        <p:nvSpPr>
          <p:cNvPr id="10" name="TextBox 9"/>
          <p:cNvSpPr txBox="1"/>
          <p:nvPr/>
        </p:nvSpPr>
        <p:spPr>
          <a:xfrm>
            <a:off x="9875520"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Next</a:t>
            </a:r>
          </a:p>
        </p:txBody>
      </p:sp>
      <p:sp>
        <p:nvSpPr>
          <p:cNvPr id="11" name="TextBox 10"/>
          <p:cNvSpPr txBox="1"/>
          <p:nvPr/>
        </p:nvSpPr>
        <p:spPr>
          <a:xfrm>
            <a:off x="594360" y="2459736"/>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Dataset acquisition and verification</a:t>
            </a:r>
          </a:p>
        </p:txBody>
      </p:sp>
      <p:sp>
        <p:nvSpPr>
          <p:cNvPr id="12" name="Rectangle 11"/>
          <p:cNvSpPr/>
          <p:nvPr/>
        </p:nvSpPr>
        <p:spPr>
          <a:xfrm>
            <a:off x="3429000"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27448"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25896"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24344"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22792"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921240"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29000" y="2532888"/>
            <a:ext cx="1152144"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82528" y="2459736"/>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20" name="TextBox 19"/>
          <p:cNvSpPr txBox="1"/>
          <p:nvPr/>
        </p:nvSpPr>
        <p:spPr>
          <a:xfrm>
            <a:off x="594360" y="2980944"/>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Feature preparation and data splits</a:t>
            </a:r>
          </a:p>
        </p:txBody>
      </p:sp>
      <p:sp>
        <p:nvSpPr>
          <p:cNvPr id="21" name="Rectangle 20"/>
          <p:cNvSpPr/>
          <p:nvPr/>
        </p:nvSpPr>
        <p:spPr>
          <a:xfrm>
            <a:off x="3429000"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27448"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25896"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4344"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22792"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921240"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727448" y="3054096"/>
            <a:ext cx="1152144"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82528" y="2980944"/>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29" name="TextBox 28"/>
          <p:cNvSpPr txBox="1"/>
          <p:nvPr/>
        </p:nvSpPr>
        <p:spPr>
          <a:xfrm>
            <a:off x="594360" y="3502152"/>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Model training and saved evaluations</a:t>
            </a:r>
          </a:p>
        </p:txBody>
      </p:sp>
      <p:sp>
        <p:nvSpPr>
          <p:cNvPr id="30" name="Rectangle 29"/>
          <p:cNvSpPr/>
          <p:nvPr/>
        </p:nvSpPr>
        <p:spPr>
          <a:xfrm>
            <a:off x="3429000"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27448"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25896"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24344"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22792"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21240"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25896" y="3575304"/>
            <a:ext cx="2450591"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82528" y="3502152"/>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38" name="TextBox 37"/>
          <p:cNvSpPr txBox="1"/>
          <p:nvPr/>
        </p:nvSpPr>
        <p:spPr>
          <a:xfrm>
            <a:off x="594360" y="4023360"/>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Dashboard and simulator integration</a:t>
            </a:r>
          </a:p>
        </p:txBody>
      </p:sp>
      <p:sp>
        <p:nvSpPr>
          <p:cNvPr id="39" name="Rectangle 38"/>
          <p:cNvSpPr/>
          <p:nvPr/>
        </p:nvSpPr>
        <p:spPr>
          <a:xfrm>
            <a:off x="3429000"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27448"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25896"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24344"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22792"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21240"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324344" y="4096512"/>
            <a:ext cx="1152144"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82528" y="4023360"/>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47" name="TextBox 46"/>
          <p:cNvSpPr txBox="1"/>
          <p:nvPr/>
        </p:nvSpPr>
        <p:spPr>
          <a:xfrm>
            <a:off x="594360" y="4544568"/>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Review, presentation and documentation</a:t>
            </a:r>
          </a:p>
        </p:txBody>
      </p:sp>
      <p:sp>
        <p:nvSpPr>
          <p:cNvPr id="48" name="Rectangle 47"/>
          <p:cNvSpPr/>
          <p:nvPr/>
        </p:nvSpPr>
        <p:spPr>
          <a:xfrm>
            <a:off x="3429000"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27448"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025896"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324344"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622792"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921240"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622792" y="4617720"/>
            <a:ext cx="1152144" cy="246888"/>
          </a:xfrm>
          <a:prstGeom prst="round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082528" y="4544568"/>
            <a:ext cx="1051560" cy="402336"/>
          </a:xfrm>
          <a:prstGeom prst="rect">
            <a:avLst/>
          </a:prstGeom>
          <a:noFill/>
        </p:spPr>
        <p:txBody>
          <a:bodyPr wrap="square" anchor="ctr" lIns="54864" rIns="54864" tIns="54864" bIns="54864">
            <a:normAutofit/>
          </a:bodyPr>
          <a:lstStyle/>
          <a:p>
            <a:pPr algn="ctr"/>
            <a:r>
              <a:rPr sz="980" b="1">
                <a:solidFill>
                  <a:srgbClr val="D69120"/>
                </a:solidFill>
                <a:latin typeface="Arial"/>
              </a:rPr>
              <a:t>CURRENT</a:t>
            </a:r>
          </a:p>
        </p:txBody>
      </p:sp>
      <p:sp>
        <p:nvSpPr>
          <p:cNvPr id="56" name="TextBox 55"/>
          <p:cNvSpPr txBox="1"/>
          <p:nvPr/>
        </p:nvSpPr>
        <p:spPr>
          <a:xfrm>
            <a:off x="594360" y="5065775"/>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Independent validation / deployment study</a:t>
            </a:r>
          </a:p>
        </p:txBody>
      </p:sp>
      <p:sp>
        <p:nvSpPr>
          <p:cNvPr id="57" name="Rectangle 56"/>
          <p:cNvSpPr/>
          <p:nvPr/>
        </p:nvSpPr>
        <p:spPr>
          <a:xfrm>
            <a:off x="3429000"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727448"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025896"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324344"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622792"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921240"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921240" y="5138927"/>
            <a:ext cx="1152144" cy="246888"/>
          </a:xfrm>
          <a:prstGeom prst="round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082528" y="5065775"/>
            <a:ext cx="1051560" cy="402336"/>
          </a:xfrm>
          <a:prstGeom prst="rect">
            <a:avLst/>
          </a:prstGeom>
          <a:noFill/>
        </p:spPr>
        <p:txBody>
          <a:bodyPr wrap="square" anchor="ctr" lIns="54864" rIns="54864" tIns="54864" bIns="54864">
            <a:normAutofit/>
          </a:bodyPr>
          <a:lstStyle/>
          <a:p>
            <a:pPr algn="ctr"/>
            <a:r>
              <a:rPr sz="980" b="1">
                <a:solidFill>
                  <a:srgbClr val="1282BE"/>
                </a:solidFill>
                <a:latin typeface="Arial"/>
              </a:rPr>
              <a:t>NEXT</a:t>
            </a:r>
          </a:p>
        </p:txBody>
      </p:sp>
      <p:sp>
        <p:nvSpPr>
          <p:cNvPr id="65" name="TextBox 64"/>
          <p:cNvSpPr txBox="1"/>
          <p:nvPr/>
        </p:nvSpPr>
        <p:spPr>
          <a:xfrm>
            <a:off x="914400" y="6062472"/>
            <a:ext cx="10881360" cy="384048"/>
          </a:xfrm>
          <a:prstGeom prst="rect">
            <a:avLst/>
          </a:prstGeom>
          <a:noFill/>
        </p:spPr>
        <p:txBody>
          <a:bodyPr wrap="square" anchor="ctr" lIns="54864" rIns="54864" tIns="54864" bIns="54864">
            <a:normAutofit/>
          </a:bodyPr>
          <a:lstStyle/>
          <a:p>
            <a:pPr algn="ctr"/>
            <a:r>
              <a:rPr sz="1310" b="1">
                <a:solidFill>
                  <a:srgbClr val="19324D"/>
                </a:solidFill>
                <a:latin typeface="Arial"/>
              </a:rPr>
              <a:t>Next milestone: independent time-based validation, threshold review for a defined use case, and clean-environment walkthrough.</a:t>
            </a:r>
          </a:p>
        </p:txBody>
      </p:sp>
    </p:spTree>
    <p:extLst>
      <p:ext uri="{BB962C8B-B14F-4D97-AF65-F5344CB8AC3E}">
        <p14:creationId xmlns:p14="http://schemas.microsoft.com/office/powerpoint/2010/main" val="318729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wrap="square" anchor="ctr" tIns="91440" bIns="91440">
            <a:normAutofit/>
          </a:bodyPr>
          <a:lstStyle/>
          <a:p>
            <a:pPr algn="ctr"/>
            <a:r>
              <a:rPr sz="3800" b="1">
                <a:solidFill>
                  <a:srgbClr val="19324D"/>
                </a:solidFill>
                <a:latin typeface="Arial"/>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16</a:t>
            </a:fld>
            <a:endParaRPr lang="en-US"/>
          </a:p>
        </p:txBody>
      </p:sp>
      <p:sp>
        <p:nvSpPr>
          <p:cNvPr id="4" name="TextBox 3"/>
          <p:cNvSpPr txBox="1"/>
          <p:nvPr/>
        </p:nvSpPr>
        <p:spPr>
          <a:xfrm>
            <a:off x="1463040" y="4160520"/>
            <a:ext cx="9875520" cy="658368"/>
          </a:xfrm>
          <a:prstGeom prst="rect">
            <a:avLst/>
          </a:prstGeom>
          <a:noFill/>
        </p:spPr>
        <p:txBody>
          <a:bodyPr wrap="square" anchor="ctr" lIns="54864" rIns="54864" tIns="54864" bIns="54864">
            <a:normAutofit/>
          </a:bodyPr>
          <a:lstStyle/>
          <a:p>
            <a:pPr algn="ctr"/>
            <a:r>
              <a:rPr sz="1800" b="0">
                <a:solidFill>
                  <a:srgbClr val="2B3744"/>
                </a:solidFill>
                <a:latin typeface="Arial"/>
              </a:rPr>
              <a:t>QUESTIONS &amp; DISCUSSION
Nexus Fraud Defense  |  Shambhu Pandey  |  25MCA1020</a:t>
            </a:r>
          </a:p>
        </p:txBody>
      </p:sp>
    </p:spTree>
    <p:extLst>
      <p:ext uri="{BB962C8B-B14F-4D97-AF65-F5344CB8AC3E}">
        <p14:creationId xmlns:p14="http://schemas.microsoft.com/office/powerpoint/2010/main" val="275039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15877</TotalTime>
  <Words>376</Words>
  <Application>Microsoft Office PowerPoint</Application>
  <PresentationFormat>Custom</PresentationFormat>
  <Paragraphs>99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&lt;&lt;PROJECT TITLE **ARIAL FONT SIZE 40**&gt;&gt;</vt:lpstr>
      <vt:lpstr>CONTENTS</vt:lpstr>
      <vt:lpstr>1.ABSTRACT</vt:lpstr>
      <vt:lpstr>2. INTRODUCTION</vt:lpstr>
      <vt:lpstr>3.LITERATURE SURVEY</vt:lpstr>
      <vt:lpstr>4. RESEARCH GAPS</vt:lpstr>
      <vt:lpstr>5. OBJECTIVES</vt:lpstr>
      <vt:lpstr>6. RESEARCH WORK DONE</vt:lpstr>
      <vt:lpstr>MODULE IDENTIFICATION</vt:lpstr>
      <vt:lpstr>SYSTEM ARCHITECTURE</vt:lpstr>
      <vt:lpstr>DEVELOPMENT &amp; INTEGRATION</vt:lpstr>
      <vt:lpstr>PROTOTYPE / RESEARCH FRAMEWORK</vt:lpstr>
      <vt:lpstr>7. CONCLUSIONS</vt:lpstr>
      <vt:lpstr>8. OUTCOME</vt:lpstr>
      <vt:lpstr>9. TIMELINE / GANTT CHART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Saravana Rajendran</cp:lastModifiedBy>
  <cp:revision>136</cp:revision>
  <dcterms:created xsi:type="dcterms:W3CDTF">2020-07-13T09:49:45Z</dcterms:created>
  <dcterms:modified xsi:type="dcterms:W3CDTF">2026-09-26T07:05:43Z</dcterms:modified>
</cp:coreProperties>
</file>