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324" r:id="rId3"/>
    <p:sldId id="259" r:id="rId4"/>
    <p:sldId id="260" r:id="rId5"/>
    <p:sldId id="325" r:id="rId6"/>
    <p:sldId id="336" r:id="rId23"/>
    <p:sldId id="337" r:id="rId24"/>
    <p:sldId id="333" r:id="rId7"/>
    <p:sldId id="334" r:id="rId8"/>
    <p:sldId id="265" r:id="rId9"/>
    <p:sldId id="335" r:id="rId10"/>
    <p:sldId id="312" r:id="rId11"/>
    <p:sldId id="328" r:id="rId12"/>
    <p:sldId id="330" r:id="rId13"/>
    <p:sldId id="332" r:id="rId14"/>
    <p:sldId id="331" r:id="rId15"/>
    <p:sldId id="340" r:id="rId27"/>
    <p:sldId id="341" r:id="rId28"/>
    <p:sldId id="342" r:id="rId29"/>
    <p:sldId id="327" r:id="rId16"/>
    <p:sldId id="338" r:id="rId25"/>
    <p:sldId id="339" r:id="rId26"/>
    <p:sldId id="321" r:id="rId17"/>
  </p:sldIdLst>
  <p:sldSz cx="12801600" cy="7315200"/>
  <p:notesSz cx="6858000" cy="9144000"/>
  <p:defaultTextStyle>
    <a:defPPr>
      <a:defRPr lang="en-US"/>
    </a:defPPr>
    <a:lvl1pPr marL="0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1F2"/>
    <a:srgbClr val="558ED5"/>
    <a:srgbClr val="C6D9F1"/>
    <a:srgbClr val="558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902" y="67"/>
      </p:cViewPr>
      <p:guideLst>
        <p:guide orient="horz" pos="230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7A36-15CF-4B40-B7C9-B299C824610E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E4103-D868-498D-BB7B-ABDA25F9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272456"/>
            <a:ext cx="1088136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E1E87-9C15-4984-91E0-215221CAF7F6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6BE9-D6CB-4D14-A12D-7F5512E1435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9D04-24B9-408C-A000-3B78FDBD0AE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B48-F2B5-44C0-A324-732125246729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3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7E91-F602-4F18-92CA-FB1A231376B0}" type="datetime1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8EFE-411D-495F-AE32-482368671348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129DD-E279-4A67-BA32-75987FE76FB7}" type="datetime1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A02B-9B73-458F-B848-E99C8FA83242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2997-1B9E-4EF2-B260-9EB38D81F553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0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70E5-7D69-44CE-AE73-71BFC3B68EE4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92948"/>
            <a:ext cx="288036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92948"/>
            <a:ext cx="842772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8B80-F83C-48AA-AA3F-63D37C1606D6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54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8E2D-1657-4F9E-9BA7-8881C66FCBC2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149448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801600" cy="1600199"/>
          </a:xfrm>
          <a:solidFill>
            <a:schemeClr val="tx2">
              <a:lumMod val="60000"/>
              <a:lumOff val="40000"/>
            </a:schemeClr>
          </a:solidFill>
        </p:spPr>
        <p:txBody>
          <a:bodyPr wrap="square" anchor="ctr" lIns="201168" rIns="201168" tIns="36576" bIns="36576">
            <a:normAutofit/>
          </a:bodyPr>
          <a:lstStyle/>
          <a:p>
            <a:pPr algn="ctr"/>
            <a:r>
              <a:rPr sz="3100" b="1">
                <a:solidFill>
                  <a:srgbClr val="19324D"/>
                </a:solidFill>
                <a:latin typeface="Arial"/>
              </a:rPr>
              <a:t>DIGITAL TWIN-ENABLED FRAMEWORK
FOR FORECASTING AND MITIGATING FRAUD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6920" y="3088640"/>
            <a:ext cx="8961120" cy="3982720"/>
          </a:xfrm>
        </p:spPr>
        <p:txBody>
          <a:bodyPr wrap="square" anchor="ctr" lIns="164592" rIns="164592">
            <a:norm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19324D"/>
                </a:solidFill>
                <a:latin typeface="Arial"/>
              </a:rPr>
              <a:t>MCA PROJECT WORK FINAL REVIEW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B3744"/>
                </a:solidFill>
                <a:latin typeface="Arial"/>
              </a:rPr>
              <a:t>Presented by</a:t>
            </a:r>
          </a:p>
          <a:p>
            <a:pPr algn="ctr">
              <a:spcAft>
                <a:spcPts val="500"/>
              </a:spcAft>
            </a:pPr>
            <a:r>
              <a:rPr sz="1900" b="1">
                <a:solidFill>
                  <a:srgbClr val="19324D"/>
                </a:solidFill>
                <a:latin typeface="Arial"/>
              </a:rPr>
              <a:t>SHAMBHU PANDEY  |  25MCA1020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B3744"/>
                </a:solidFill>
                <a:latin typeface="Arial"/>
              </a:rPr>
              <a:t>Master of Computer Applications (MCA)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B3744"/>
                </a:solidFill>
                <a:latin typeface="Arial"/>
              </a:rPr>
              <a:t>Under the Guidance of</a:t>
            </a:r>
          </a:p>
          <a:p>
            <a:pPr algn="ctr">
              <a:spcAft>
                <a:spcPts val="500"/>
              </a:spcAft>
            </a:pPr>
            <a:r>
              <a:rPr sz="1600" b="1">
                <a:solidFill>
                  <a:srgbClr val="19324D"/>
                </a:solidFill>
                <a:latin typeface="Arial"/>
              </a:rPr>
              <a:t>DR. TAMILARASI K  |  Assistant Professor Sr. Grade 1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B3744"/>
                </a:solidFill>
                <a:latin typeface="Arial"/>
              </a:rPr>
              <a:t>School of Computer Science and Engineering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B3744"/>
                </a:solidFill>
                <a:latin typeface="Arial"/>
              </a:rPr>
              <a:t>Vellore Institute of Technology, Chennai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77652-7BC5-33CD-3492-BA774BD65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719522"/>
            <a:ext cx="3620039" cy="136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4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b="1">
                <a:latin typeface="Arial"/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6200" y="1600200"/>
            <a:ext cx="12649200" cy="5638800"/>
          </a:xfrm>
          <a:prstGeom prst="rect">
            <a:avLst/>
          </a:prstGeom>
        </p:spPr>
        <p:txBody>
          <a:bodyPr vert="horz" lIns="914400" tIns="128016" rIns="320040" bIns="73152" rtlCol="0" wrap="square" anchor="t">
            <a:normAutofit/>
          </a:bodyPr>
          <a:lstStyle>
            <a:lvl1pPr marL="431044" indent="-431044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Font typeface="Wingdings" panose="05000000000000000000" pitchFamily="2" charset="2"/>
              <a:buChar char="v"/>
            </a:pPr>
            <a:r>
              <a:rPr sz="1700" b="0">
                <a:solidFill>
                  <a:srgbClr val="2B3744"/>
                </a:solidFill>
                <a:latin typeface="Arial"/>
              </a:rPr>
              <a:t>1. Abstract
2. Introduction
3. Literature Survey
3. Literature Survey (continued)
4. Research Gaps
5. Objectives
Review-II Objectives: Progress and Next Work
6. Module Identification
7. System Architecture
8. Development &amp; Integration
9. Prototype / Research Framework
10. Project Conclusion
10. Outcome: Best Models
Dataset Profiles and Full Model Results
11. Results: Holdout Evaluation
12. Timeline / Next Milestones
13. References</a:t>
            </a:r>
          </a:p>
        </p:txBody>
      </p:sp>
    </p:spTree>
    <p:extLst>
      <p:ext uri="{BB962C8B-B14F-4D97-AF65-F5344CB8AC3E}">
        <p14:creationId xmlns:p14="http://schemas.microsoft.com/office/powerpoint/2010/main" val="249015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b="1">
                <a:latin typeface="Arial"/>
              </a:rPr>
              <a:t>1.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06880"/>
            <a:ext cx="12344400" cy="4827694"/>
          </a:xfrm>
        </p:spPr>
        <p:txBody>
          <a:bodyPr wrap="square" anchor="ctr" lIns="365760" rIns="365760" tIns="146304" bIns="146304">
            <a:normAutofit/>
          </a:bodyPr>
          <a:lstStyle/>
          <a:p>
            <a:pPr marL="0" indent="0">
              <a:buNone/>
            </a:pPr>
            <a:r>
              <a:rPr sz="2100" b="0">
                <a:solidFill>
                  <a:srgbClr val="2B3744"/>
                </a:solidFill>
                <a:latin typeface="Times New Roman"/>
              </a:rPr>
              <a:t>The rapid growth of digital payments has increased the need for timely fraud analysis. This project develops Nexus Fraud Defense, a Streamlit prototype for preparing and evaluating PaySim, BankSim, IEEE-CIS, and CICIDS2017 data. Dataset-specific feature pipelines clean and transform records, then train Logistic Regression, Random Forest, XGBoost, and Isolation Forest models. Holdout evaluation reports precision, recall, F1, ROC-AUC, confusion counts, and decision thresholds so rare-event trade-offs remain visible. The dashboard includes data management, model evaluation, a scenario simulator, manual example prediction, and executive insights. The simulator uses configured state-transition probabilities and a heuristic intervention; it is not a data-calibrated or live digital twin. Saved results demonstrate a working research prototype, not production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43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b="1">
                <a:latin typeface="Arial"/>
              </a:rPr>
              <a:t>2.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50392" y="1810512"/>
            <a:ext cx="11064240" cy="3886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normAutofit/>
          </a:bodyPr>
          <a:lstStyle/>
          <a:p>
            <a:pPr algn="l"/>
            <a:r>
              <a:rPr sz="2200" b="0">
                <a:solidFill>
                  <a:srgbClr val="2B3744"/>
                </a:solidFill>
                <a:latin typeface="Arial"/>
              </a:rPr>
              <a:t>The expansion of digital payments, wallets, and online commerce creates more opportunities for fraudulent use of accounts and payment instruments. This project follows the Review-II aim of building a multi-model framework for forecasting and mitigating fraud, while making the prototype's current scope clear. It prepares PaySim and BankSim transaction simulators, the IEEE-CIS e-commerce benchmark, and CICIDS2017 network traffic as separate tasks. It compares supervised classifiers with an unsupervised anomaly detector and exposes the precision-recall and threshold trade-offs through a Streamlit dashboard. The digital-twin component is currently a configurable scenario simulator; it is not synchronized to a live payment service or trained to forecast real attacker behavior. The project therefore demonstrates an integrated research workflow, with external, temporal, explainability, and operational validation left as next steps.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797296"/>
            <a:ext cx="11612880" cy="731520"/>
          </a:xfrm>
          <a:prstGeom prst="rect">
            <a:avLst/>
          </a:prstGeom>
          <a:noFill/>
        </p:spPr>
        <p:txBody>
          <a:bodyPr wrap="square" anchor="ctr" lIns="10972" rIns="10972" tIns="10972" bIns="10972">
            <a:normAutofit/>
          </a:bodyPr>
          <a:lstStyle/>
          <a:p>
            <a:pPr algn="l"/>
            <a:r>
              <a:rPr sz="770" b="0">
                <a:solidFill>
                  <a:srgbClr val="63707E"/>
                </a:solidFill>
                <a:latin typeface="Arial"/>
              </a:rPr>
              <a:t>[1] R. J. Bolton and D. J. Hand, “Statistical Fraud Detection: A Review,” Statistical Science, vol. 17, no. 3, pp. 235–249, 2002.
[2] E. A. Lopez-Rojas, A. Elmir, and S. Axelsson, “PaySim: A Financial Mobile Money Simulator for Fraud Detection,” EMSS, 2016.
[3] E. A. Lopez-Rojas and S. Axelsson, “BankSim: A Bank Payments Simulator for Fraud Detection Research,” EMSS, 2014.
[13] I. Sharafaldin, A. H. Lashkari, and A. A. Ghorbani, “Toward Generating a New Intrusion Detection Dataset and Intrusion Traffic Characterization,” ICISSP, 2018. [14] IEEE-CIS Fraud Detection, Kaggle, 2019.</a:t>
            </a:r>
          </a:p>
        </p:txBody>
      </p:sp>
    </p:spTree>
    <p:extLst>
      <p:ext uri="{BB962C8B-B14F-4D97-AF65-F5344CB8AC3E}">
        <p14:creationId xmlns:p14="http://schemas.microsoft.com/office/powerpoint/2010/main" val="297397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b="1">
                <a:latin typeface="Arial"/>
              </a:rPr>
              <a:t>3. 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914007"/>
              </p:ext>
            </p:extLst>
          </p:nvPr>
        </p:nvGraphicFramePr>
        <p:xfrm>
          <a:off x="685799" y="1669892"/>
          <a:ext cx="11475720" cy="4096512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S.No</a:t>
                      </a:r>
                    </a:p>
                  </a:txBody>
                  <a:tcPr marL="64008" marR="54864" marT="32004" marB="32004" anchor="ctr">
                    <a:solidFill>
                      <a:srgbClr val="19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Article Title</a:t>
                      </a:r>
                    </a:p>
                  </a:txBody>
                  <a:tcPr marL="64008" marR="54864" marT="32004" marB="32004" anchor="ctr">
                    <a:solidFill>
                      <a:srgbClr val="19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Techniques Used</a:t>
                      </a:r>
                    </a:p>
                  </a:txBody>
                  <a:tcPr marL="64008" marR="54864" marT="32004" marB="32004" anchor="ctr">
                    <a:solidFill>
                      <a:srgbClr val="19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Key Findings</a:t>
                      </a:r>
                    </a:p>
                  </a:txBody>
                  <a:tcPr marL="64008" marR="54864" marT="32004" marB="32004" anchor="ctr">
                    <a:solidFill>
                      <a:srgbClr val="19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Limitations</a:t>
                      </a:r>
                    </a:p>
                  </a:txBody>
                  <a:tcPr marL="64008" marR="54864" marT="32004" marB="32004" anchor="ctr">
                    <a:solidFill>
                      <a:srgbClr val="19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54864" marT="32004" marB="32004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Bolton &amp; Hand (2002) [1]</a:t>
                      </a:r>
                    </a:p>
                  </a:txBody>
                  <a:tcPr marL="64008" marR="54864" marT="32004" marB="32004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Statistical fraud detection review</a:t>
                      </a:r>
                    </a:p>
                  </a:txBody>
                  <a:tcPr marL="64008" marR="54864" marT="32004" marB="32004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Frames fraud as a rare, adaptive detection problem.</a:t>
                      </a:r>
                    </a:p>
                  </a:txBody>
                  <a:tcPr marL="64008" marR="54864" marT="32004" marB="32004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Review paper; results depend on domain data and evaluation.</a:t>
                      </a:r>
                    </a:p>
                  </a:txBody>
                  <a:tcPr marL="64008" marR="54864" marT="32004" marB="32004" anchor="ctr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54864" marT="32004" marB="32004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PaySim (2016) + BankSim (2014) [2], [3]</a:t>
                      </a:r>
                    </a:p>
                  </a:txBody>
                  <a:tcPr marL="64008" marR="54864" marT="32004" marB="32004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Agent-based transaction simulators</a:t>
                      </a:r>
                    </a:p>
                  </a:txBody>
                  <a:tcPr marL="64008" marR="54864" marT="32004" marB="32004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Provide shareable labeled data for studying payment fraud.</a:t>
                      </a:r>
                    </a:p>
                  </a:txBody>
                  <a:tcPr marL="64008" marR="54864" marT="32004" marB="32004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Synthetic transactions do not guarantee transfer to observed or future data.</a:t>
                      </a:r>
                    </a:p>
                  </a:txBody>
                  <a:tcPr marL="64008" marR="54864" marT="32004" marB="3200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54864" marT="32004" marB="32004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Chen &amp; Guestrin (2016), XGBoost [4]</a:t>
                      </a:r>
                    </a:p>
                  </a:txBody>
                  <a:tcPr marL="64008" marR="54864" marT="32004" marB="32004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Regularized gradient-boosted trees</a:t>
                      </a:r>
                    </a:p>
                  </a:txBody>
                  <a:tcPr marL="64008" marR="54864" marT="32004" marB="32004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Scalable tree boosting for structured prediction tasks.</a:t>
                      </a:r>
                    </a:p>
                  </a:txBody>
                  <a:tcPr marL="64008" marR="54864" marT="32004" marB="32004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Requires tuning; ranking performance does not set an operating threshold.</a:t>
                      </a:r>
                    </a:p>
                  </a:txBody>
                  <a:tcPr marL="64008" marR="54864" marT="32004" marB="32004" anchor="ctr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54864" marT="32004" marB="32004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Liu, Ting &amp; Zhou (2008), Isolation Forest [5]</a:t>
                      </a:r>
                    </a:p>
                  </a:txBody>
                  <a:tcPr marL="64008" marR="54864" marT="32004" marB="32004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Unsupervised isolation-based anomaly detection</a:t>
                      </a:r>
                    </a:p>
                  </a:txBody>
                  <a:tcPr marL="64008" marR="54864" marT="32004" marB="32004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Finds unusual records without supervised labels at fit time.</a:t>
                      </a:r>
                    </a:p>
                  </a:txBody>
                  <a:tcPr marL="64008" marR="54864" marT="32004" marB="32004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Anomaly is not the same as fraud; anomaly scores need careful interpretation.</a:t>
                      </a:r>
                    </a:p>
                  </a:txBody>
                  <a:tcPr marL="64008" marR="54864" marT="32004" marB="3200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66928" y="5843016"/>
            <a:ext cx="11612880" cy="713232"/>
          </a:xfrm>
          <a:prstGeom prst="rect">
            <a:avLst/>
          </a:prstGeom>
          <a:noFill/>
        </p:spPr>
        <p:txBody>
          <a:bodyPr wrap="square" anchor="ctr" lIns="10972" rIns="10972" tIns="10972" bIns="10972">
            <a:normAutofit/>
          </a:bodyPr>
          <a:lstStyle/>
          <a:p>
            <a:pPr algn="l"/>
            <a:r>
              <a:rPr sz="720" b="0">
                <a:solidFill>
                  <a:srgbClr val="63707E"/>
                </a:solidFill>
                <a:latin typeface="Arial"/>
              </a:rPr>
              <a:t>[1] R. J. Bolton and D. J. Hand, “Statistical Fraud Detection: A Review,” Statistical Science, vol. 17, no. 3, pp. 235–249, 2002.
[2] E. A. Lopez-Rojas, A. Elmir, and S. Axelsson, “PaySim: A Financial Mobile Money Simulator for Fraud Detection,” EMSS, 2016.
[3] E. A. Lopez-Rojas and S. Axelsson, “BankSim: A Bank Payments Simulator for Fraud Detection Research,” EMSS, 2014.
[4] T. Chen and C. Guestrin, “XGBoost: A Scalable Tree Boosting System,” Proc. ACM SIGKDD, pp. 785–794, 2016.
[5] F. T. Liu, K. M. Ting, and Z.-H. Zhou, “Isolation Forest,” Proc. IEEE ICDM, pp. 413–422, 2008.
[13] I. Sharafaldin, A. H. Lashkari, and A. A. Ghorbani, “Toward Generating a New Intrusion Detection Dataset and Intrusion Traffic Characterization,” ICISSP, 2018.
[14] IEEE Computational Intelligence Society, “IEEE-CIS Fraud Detection,” Kaggle competition, 2019.</a:t>
            </a:r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b="1">
                <a:latin typeface="Arial"/>
              </a:rPr>
              <a:t>4. RESEARCH GAPS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11480" y="1664208"/>
            <a:ext cx="3675887" cy="1161288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64208"/>
            <a:ext cx="82296" cy="1161288"/>
          </a:xfrm>
          <a:prstGeom prst="rect">
            <a:avLst/>
          </a:prstGeom>
          <a:solidFill>
            <a:srgbClr val="12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737360"/>
            <a:ext cx="3410711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340" b="1">
                <a:solidFill>
                  <a:srgbClr val="1282BE"/>
                </a:solidFill>
                <a:latin typeface="Arial"/>
              </a:rPr>
              <a:t>AI + digital twin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093976"/>
            <a:ext cx="3401568" cy="67665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90" b="0">
                <a:solidFill>
                  <a:srgbClr val="2B3744"/>
                </a:solidFill>
                <a:latin typeface="Arial"/>
              </a:rPr>
              <a:t>Review II identifies detection and simulation as separate strands. This prototype combines them in one UI, but does not couple the simulator to learned model states.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64208"/>
            <a:ext cx="3675887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1664208"/>
            <a:ext cx="82296" cy="1161288"/>
          </a:xfrm>
          <a:prstGeom prst="rect">
            <a:avLst/>
          </a:prstGeom>
          <a:solidFill>
            <a:srgbClr val="2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1737360"/>
            <a:ext cx="3410711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340" b="1">
                <a:solidFill>
                  <a:srgbClr val="248F84"/>
                </a:solidFill>
                <a:latin typeface="Arial"/>
              </a:rPr>
              <a:t>Financial-domain twin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093976"/>
            <a:ext cx="3401568" cy="67665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90" b="0">
                <a:solidFill>
                  <a:srgbClr val="2B3744"/>
                </a:solidFill>
                <a:latin typeface="Arial"/>
              </a:rPr>
              <a:t>Digital-twin security literature largely studies cyber-physical/industrial settings; financial fraud use needs domain-specific validation.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1664208"/>
            <a:ext cx="3675887" cy="1161288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38744" y="1664208"/>
            <a:ext cx="82296" cy="1161288"/>
          </a:xfrm>
          <a:prstGeom prst="rect">
            <a:avLst/>
          </a:prstGeom>
          <a:solidFill>
            <a:srgbClr val="D69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1737360"/>
            <a:ext cx="3410711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340" b="1">
                <a:solidFill>
                  <a:srgbClr val="D69120"/>
                </a:solidFill>
                <a:latin typeface="Arial"/>
              </a:rPr>
              <a:t>Explainability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2093976"/>
            <a:ext cx="3401568" cy="67665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90" b="0">
                <a:solidFill>
                  <a:srgbClr val="2B3744"/>
                </a:solidFill>
                <a:latin typeface="Arial"/>
              </a:rPr>
              <a:t>Complex models need human-readable context. Current scoring shows simple risk factors; SHAP/LIME are not consistently integrated in the prediction 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017520"/>
            <a:ext cx="3675887" cy="1161288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017520"/>
            <a:ext cx="82296" cy="1161288"/>
          </a:xfrm>
          <a:prstGeom prst="rect">
            <a:avLst/>
          </a:prstGeom>
          <a:solidFill>
            <a:srgbClr val="22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090672"/>
            <a:ext cx="3410711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340" b="1">
                <a:solidFill>
                  <a:srgbClr val="22AAD2"/>
                </a:solidFill>
                <a:latin typeface="Arial"/>
              </a:rPr>
              <a:t>Operational response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447287"/>
            <a:ext cx="3401568" cy="67665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90" b="0">
                <a:solidFill>
                  <a:srgbClr val="2B3744"/>
                </a:solidFill>
                <a:latin typeface="Arial"/>
              </a:rPr>
              <a:t>Offline benchmarks do not establish pre-authorization performance. The current form is manual and has no measured sub-second live feed.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3017520"/>
            <a:ext cx="3675887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5112" y="3017520"/>
            <a:ext cx="82296" cy="1161288"/>
          </a:xfrm>
          <a:prstGeom prst="rect">
            <a:avLst/>
          </a:prstGeom>
          <a:solidFill>
            <a:srgbClr val="BB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9704" y="3090672"/>
            <a:ext cx="3410711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340" b="1">
                <a:solidFill>
                  <a:srgbClr val="BB4141"/>
                </a:solidFill>
                <a:latin typeface="Arial"/>
              </a:rPr>
              <a:t>Realistic, labeled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447287"/>
            <a:ext cx="3401568" cy="67665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90" b="0">
                <a:solidFill>
                  <a:srgbClr val="2B3744"/>
                </a:solidFill>
                <a:latin typeface="Arial"/>
              </a:rPr>
              <a:t>Public payment data are simulated or anonymized. Results cannot establish performance on a bank's private transaction stream.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38744" y="3017520"/>
            <a:ext cx="3675887" cy="1161288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38744" y="3017520"/>
            <a:ext cx="82296" cy="1161288"/>
          </a:xfrm>
          <a:prstGeom prst="rect">
            <a:avLst/>
          </a:prstGeom>
          <a:solidFill>
            <a:srgbClr val="19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03336" y="3090672"/>
            <a:ext cx="3410711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340" b="1">
                <a:solidFill>
                  <a:srgbClr val="19324D"/>
                </a:solidFill>
                <a:latin typeface="Arial"/>
              </a:rPr>
              <a:t>False-positive burden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6" y="3447287"/>
            <a:ext cx="3401568" cy="67665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90" b="0">
                <a:solidFill>
                  <a:srgbClr val="2B3744"/>
                </a:solidFill>
                <a:latin typeface="Arial"/>
              </a:rPr>
              <a:t>Rare-event detection can achieve high recall while generating many false alerts; BankSim/IEEE precision demonstrates this trade-off.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370832"/>
            <a:ext cx="3675887" cy="1161288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4370832"/>
            <a:ext cx="82296" cy="11612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4443984"/>
            <a:ext cx="3410711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340" b="1">
                <a:solidFill>
                  <a:srgbClr val="2E8B57"/>
                </a:solidFill>
                <a:latin typeface="Arial"/>
              </a:rPr>
              <a:t>Concept drift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" y="4800600"/>
            <a:ext cx="3401568" cy="67665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90" b="0">
                <a:solidFill>
                  <a:srgbClr val="2B3744"/>
                </a:solidFill>
                <a:latin typeface="Arial"/>
              </a:rPr>
              <a:t>The saved models are static. Drift monitoring and adaptive retraining are not implemented.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5112" y="4370832"/>
            <a:ext cx="3675887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25112" y="4370832"/>
            <a:ext cx="82296" cy="1161288"/>
          </a:xfrm>
          <a:prstGeom prst="rect">
            <a:avLst/>
          </a:prstGeom>
          <a:solidFill>
            <a:srgbClr val="12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9704" y="4443984"/>
            <a:ext cx="3410711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340" b="1">
                <a:solidFill>
                  <a:srgbClr val="1282BE"/>
                </a:solidFill>
                <a:latin typeface="Arial"/>
              </a:rPr>
              <a:t>Scalability and modularity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800600"/>
            <a:ext cx="3401568" cy="67665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90" b="0">
                <a:solidFill>
                  <a:srgbClr val="2B3744"/>
                </a:solidFill>
                <a:latin typeface="Arial"/>
              </a:rPr>
              <a:t>The code is modular for a prototype, but no distributed streaming load test or production-scale study is provided.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38744" y="4370832"/>
            <a:ext cx="3675887" cy="1161288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38744" y="4370832"/>
            <a:ext cx="82296" cy="1161288"/>
          </a:xfrm>
          <a:prstGeom prst="rect">
            <a:avLst/>
          </a:prstGeom>
          <a:solidFill>
            <a:srgbClr val="2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3336" y="4443984"/>
            <a:ext cx="3410711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340" b="1">
                <a:solidFill>
                  <a:srgbClr val="248F84"/>
                </a:solidFill>
                <a:latin typeface="Arial"/>
              </a:rPr>
              <a:t>XAI computation 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3336" y="4800600"/>
            <a:ext cx="3401568" cy="67665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90" b="0">
                <a:solidFill>
                  <a:srgbClr val="2B3744"/>
                </a:solidFill>
                <a:latin typeface="Arial"/>
              </a:rPr>
              <a:t>Explanation latency and stability have not been benchmarked; this matters before using local explanations in a live workflow.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419088"/>
            <a:ext cx="11612880" cy="25603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740" b="0">
                <a:solidFill>
                  <a:srgbClr val="63707E"/>
                </a:solidFill>
                <a:latin typeface="Arial"/>
              </a:rPr>
              <a:t>These are the challenges motivating the Review-II objectives; current implementation status is shown on the next slides.</a:t>
            </a:r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66A5-DEC6-423E-4642-6DAA4690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9D02-AB68-99CB-182A-0A2671D6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b="1">
                <a:latin typeface="Arial"/>
              </a:rPr>
              <a:t>5.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A4E0E-51B9-057E-EB16-03F09679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7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94360" y="1664208"/>
            <a:ext cx="5559552" cy="987552"/>
          </a:xfrm>
          <a:prstGeom prst="roundRect">
            <a:avLst/>
          </a:prstGeom>
          <a:solidFill>
            <a:srgbClr val="E5F2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64208"/>
            <a:ext cx="82296" cy="987552"/>
          </a:xfrm>
          <a:prstGeom prst="rect">
            <a:avLst/>
          </a:prstGeom>
          <a:solidFill>
            <a:srgbClr val="12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37360"/>
            <a:ext cx="529437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320" b="1">
                <a:solidFill>
                  <a:srgbClr val="1282BE"/>
                </a:solidFill>
                <a:latin typeface="Arial"/>
              </a:rPr>
              <a:t>01  Multi-Model ML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093976"/>
            <a:ext cx="5285232" cy="50292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60" b="0">
                <a:solidFill>
                  <a:srgbClr val="2B3744"/>
                </a:solidFill>
                <a:latin typeface="Arial"/>
              </a:rPr>
              <a:t>Compare LR, Random Forest, XGBoost, and Isolation Forest. Current build trains four model families; autoencoders are not included.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73952" y="1664208"/>
            <a:ext cx="5559552" cy="987552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3952" y="1664208"/>
            <a:ext cx="82296" cy="987552"/>
          </a:xfrm>
          <a:prstGeom prst="rect">
            <a:avLst/>
          </a:prstGeom>
          <a:solidFill>
            <a:srgbClr val="2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38544" y="1737360"/>
            <a:ext cx="529437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320" b="1">
                <a:solidFill>
                  <a:srgbClr val="248F84"/>
                </a:solidFill>
                <a:latin typeface="Arial"/>
              </a:rPr>
              <a:t>02  Digital Twin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544" y="2093976"/>
            <a:ext cx="5285232" cy="50292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60" b="0">
                <a:solidFill>
                  <a:srgbClr val="2B3744"/>
                </a:solidFill>
                <a:latin typeface="Arial"/>
              </a:rPr>
              <a:t>Explore evolving risk states in a configurable simulator. It is a rule-based sandbox, not a calibrated live twin.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798064"/>
            <a:ext cx="5559552" cy="987552"/>
          </a:xfrm>
          <a:prstGeom prst="roundRect">
            <a:avLst/>
          </a:prstGeom>
          <a:solidFill>
            <a:srgbClr val="E5F2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798064"/>
            <a:ext cx="82296" cy="987552"/>
          </a:xfrm>
          <a:prstGeom prst="rect">
            <a:avLst/>
          </a:prstGeom>
          <a:solidFill>
            <a:srgbClr val="12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71216"/>
            <a:ext cx="529437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320" b="1">
                <a:solidFill>
                  <a:srgbClr val="1282BE"/>
                </a:solidFill>
                <a:latin typeface="Arial"/>
              </a:rPr>
              <a:t>03  Explainable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227832"/>
            <a:ext cx="5285232" cy="50292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60" b="0">
                <a:solidFill>
                  <a:srgbClr val="2B3744"/>
                </a:solidFill>
                <a:latin typeface="Arial"/>
              </a:rPr>
              <a:t>Show simple risk-factor context now; full SHAP/LIME integration across live prediction is future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2798064"/>
            <a:ext cx="5559552" cy="987552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73952" y="2798064"/>
            <a:ext cx="82296" cy="987552"/>
          </a:xfrm>
          <a:prstGeom prst="rect">
            <a:avLst/>
          </a:prstGeom>
          <a:solidFill>
            <a:srgbClr val="2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8544" y="2871216"/>
            <a:ext cx="529437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320" b="1">
                <a:solidFill>
                  <a:srgbClr val="248F84"/>
                </a:solidFill>
                <a:latin typeface="Arial"/>
              </a:rPr>
              <a:t>04  Resilient Imbalance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3227832"/>
            <a:ext cx="5285232" cy="50292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60" b="0">
                <a:solidFill>
                  <a:srgbClr val="2B3744"/>
                </a:solidFill>
                <a:latin typeface="Arial"/>
              </a:rPr>
              <a:t>Report rare-event metrics and use dataset-specific training strategies; resampling is not applied uniformly to all sources.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931920"/>
            <a:ext cx="5559552" cy="987552"/>
          </a:xfrm>
          <a:prstGeom prst="roundRect">
            <a:avLst/>
          </a:prstGeom>
          <a:solidFill>
            <a:srgbClr val="E5F2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931920"/>
            <a:ext cx="82296" cy="987552"/>
          </a:xfrm>
          <a:prstGeom prst="rect">
            <a:avLst/>
          </a:prstGeom>
          <a:solidFill>
            <a:srgbClr val="12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4005072"/>
            <a:ext cx="529437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320" b="1">
                <a:solidFill>
                  <a:srgbClr val="1282BE"/>
                </a:solidFill>
                <a:latin typeface="Arial"/>
              </a:rPr>
              <a:t>05  Low-Latency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361688"/>
            <a:ext cx="5285232" cy="50292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60" b="0">
                <a:solidFill>
                  <a:srgbClr val="2B3744"/>
                </a:solidFill>
                <a:latin typeface="Arial"/>
              </a:rPr>
              <a:t>Review-II target: sub-second monitoring. Current app scores manual inputs; live-feed latency is not measured.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3931920"/>
            <a:ext cx="5559552" cy="987552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73952" y="3931920"/>
            <a:ext cx="82296" cy="987552"/>
          </a:xfrm>
          <a:prstGeom prst="rect">
            <a:avLst/>
          </a:prstGeom>
          <a:solidFill>
            <a:srgbClr val="2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8544" y="4005072"/>
            <a:ext cx="529437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320" b="1">
                <a:solidFill>
                  <a:srgbClr val="248F84"/>
                </a:solidFill>
                <a:latin typeface="Arial"/>
              </a:rPr>
              <a:t>06  Interactive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544" y="4361688"/>
            <a:ext cx="5285232" cy="50292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60" b="0">
                <a:solidFill>
                  <a:srgbClr val="2B3744"/>
                </a:solidFill>
                <a:latin typeface="Arial"/>
              </a:rPr>
              <a:t>Implemented Streamlit navigation for data, evaluation, simulator, prediction, and executive insights.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065776"/>
            <a:ext cx="5559552" cy="987552"/>
          </a:xfrm>
          <a:prstGeom prst="roundRect">
            <a:avLst/>
          </a:prstGeom>
          <a:solidFill>
            <a:srgbClr val="E5F2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5065776"/>
            <a:ext cx="82296" cy="987552"/>
          </a:xfrm>
          <a:prstGeom prst="rect">
            <a:avLst/>
          </a:prstGeom>
          <a:solidFill>
            <a:srgbClr val="12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138928"/>
            <a:ext cx="529437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320" b="1">
                <a:solidFill>
                  <a:srgbClr val="1282BE"/>
                </a:solidFill>
                <a:latin typeface="Arial"/>
              </a:rPr>
              <a:t>07  Multi-Domain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5495544"/>
            <a:ext cx="5285232" cy="50292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60" b="0">
                <a:solidFill>
                  <a:srgbClr val="2B3744"/>
                </a:solidFill>
                <a:latin typeface="Arial"/>
              </a:rPr>
              <a:t>Evaluate four datasets separately; do not interpret network intrusion results as financial-fraud results.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73952" y="5065776"/>
            <a:ext cx="5559552" cy="987552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73952" y="5065776"/>
            <a:ext cx="82296" cy="987552"/>
          </a:xfrm>
          <a:prstGeom prst="rect">
            <a:avLst/>
          </a:prstGeom>
          <a:solidFill>
            <a:srgbClr val="2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8544" y="5138928"/>
            <a:ext cx="529437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320" b="1">
                <a:solidFill>
                  <a:srgbClr val="248F84"/>
                </a:solidFill>
                <a:latin typeface="Arial"/>
              </a:rPr>
              <a:t>08  Drift Detection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38544" y="5495544"/>
            <a:ext cx="5285232" cy="50292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60" b="0">
                <a:solidFill>
                  <a:srgbClr val="2B3744"/>
                </a:solidFill>
                <a:latin typeface="Arial"/>
              </a:rPr>
              <a:t>Review-II target: monitor changing fraud patterns. Drift alerting/adaptive retraining remains future work.</a:t>
            </a:r>
          </a:p>
        </p:txBody>
      </p:sp>
    </p:spTree>
    <p:extLst>
      <p:ext uri="{BB962C8B-B14F-4D97-AF65-F5344CB8AC3E}">
        <p14:creationId xmlns:p14="http://schemas.microsoft.com/office/powerpoint/2010/main" val="786986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b="1">
                <a:latin typeface="Arial"/>
              </a:rPr>
              <a:t>OBJECTIVE STATUS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94360" y="1901952"/>
            <a:ext cx="11430000" cy="32918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1300" b="1">
                <a:solidFill>
                  <a:srgbClr val="63707E"/>
                </a:solidFill>
                <a:latin typeface="Arial"/>
              </a:rPr>
              <a:t>REVIEW-II OBJECTIVES: PROJECT IMPLEMENTATION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3611880" cy="2423160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331720"/>
            <a:ext cx="82296" cy="24231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04872"/>
            <a:ext cx="3346704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500" b="1">
                <a:solidFill>
                  <a:srgbClr val="2E8B57"/>
                </a:solidFill>
                <a:latin typeface="Arial"/>
              </a:rPr>
              <a:t>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61487"/>
            <a:ext cx="3337560" cy="193852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320" b="0">
                <a:solidFill>
                  <a:srgbClr val="2B3744"/>
                </a:solidFill>
                <a:latin typeface="Arial"/>
              </a:rPr>
              <a:t>Four datasets prepared
Four model families per dataset
16 saved evaluation pipelines
Five Streamlit navigation 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2331720"/>
            <a:ext cx="3611880" cy="2423160"/>
          </a:xfrm>
          <a:prstGeom prst="roundRect">
            <a:avLst/>
          </a:prstGeom>
          <a:solidFill>
            <a:srgbClr val="FBF5E6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2331720"/>
            <a:ext cx="82296" cy="2423160"/>
          </a:xfrm>
          <a:prstGeom prst="rect">
            <a:avLst/>
          </a:prstGeom>
          <a:solidFill>
            <a:srgbClr val="D69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404872"/>
            <a:ext cx="3346704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500" b="1">
                <a:solidFill>
                  <a:srgbClr val="D69120"/>
                </a:solidFill>
                <a:latin typeface="Arial"/>
              </a:rPr>
              <a:t>PARTLY IMPLEMENTED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61487"/>
            <a:ext cx="3337560" cy="193852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320" b="0">
                <a:solidFill>
                  <a:srgbClr val="2B3744"/>
                </a:solidFill>
                <a:latin typeface="Arial"/>
              </a:rPr>
              <a:t>Separate multi-domain evaluation
Rule-based twin-style simulator
Basic prediction risk factors
Dataset-specific imbalance strategy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03336" y="2331720"/>
            <a:ext cx="3611880" cy="2423160"/>
          </a:xfrm>
          <a:prstGeom prst="roundRect">
            <a:avLst/>
          </a:prstGeom>
          <a:solidFill>
            <a:srgbClr val="E5F2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03336" y="2331720"/>
            <a:ext cx="82296" cy="2423160"/>
          </a:xfrm>
          <a:prstGeom prst="rect">
            <a:avLst/>
          </a:prstGeom>
          <a:solidFill>
            <a:srgbClr val="12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2404872"/>
            <a:ext cx="3346704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500" b="1">
                <a:solidFill>
                  <a:srgbClr val="1282BE"/>
                </a:solidFill>
                <a:latin typeface="Arial"/>
              </a:rPr>
              <a:t>NEXT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761487"/>
            <a:ext cx="3337560" cy="193852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320" b="0">
                <a:solidFill>
                  <a:srgbClr val="2B3744"/>
                </a:solidFill>
                <a:latin typeface="Arial"/>
              </a:rPr>
              <a:t>Integrated SHAP/LIME explanations
Concept-drift monitoring
Live transaction-stream latency
Independent temporal/external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138928"/>
            <a:ext cx="109728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18872" rIns="118872" tIns="118872" bIns="118872">
            <a:normAutofit/>
          </a:bodyPr>
          <a:lstStyle/>
          <a:p>
            <a:pPr algn="ctr"/>
            <a:r>
              <a:rPr sz="1500" b="0">
                <a:solidFill>
                  <a:srgbClr val="2B3744"/>
                </a:solidFill>
                <a:latin typeface="Arial"/>
              </a:rPr>
              <a:t>Review-II proposed the broader targets; these status labels distinguish working project features from planned research extensions.</a:t>
            </a:r>
          </a:p>
        </p:txBody>
      </p:sp>
    </p:spTree>
    <p:extLst>
      <p:ext uri="{BB962C8B-B14F-4D97-AF65-F5344CB8AC3E}">
        <p14:creationId xmlns:p14="http://schemas.microsoft.com/office/powerpoint/2010/main" val="1944416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8DAA3-E6F2-B842-5B2C-24A7FD7C2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44116-6BAB-BDE0-8F36-5DA7BCF98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b="1">
                <a:latin typeface="Arial"/>
              </a:rPr>
              <a:t>6. MODULE IDENTIFICATION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5EFEC-6BF3-4447-1E0F-489E9855A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9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94360" y="1572768"/>
            <a:ext cx="5559552" cy="1005840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82296" cy="1005840"/>
          </a:xfrm>
          <a:prstGeom prst="rect">
            <a:avLst/>
          </a:prstGeom>
          <a:solidFill>
            <a:srgbClr val="12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529437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280" b="1">
                <a:solidFill>
                  <a:srgbClr val="1282BE"/>
                </a:solidFill>
                <a:latin typeface="Arial"/>
              </a:rPr>
              <a:t>1. Data ingestion &amp;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002536"/>
            <a:ext cx="5285232" cy="52120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40" b="0">
                <a:solidFill>
                  <a:srgbClr val="2B3744"/>
                </a:solidFill>
                <a:latin typeface="Arial"/>
              </a:rPr>
              <a:t>download_datasets.py + modules/data_loader.py
Loads the four local sources, checks target labels, and records rows and class 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73952" y="1572768"/>
            <a:ext cx="5559552" cy="1005840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3952" y="1572768"/>
            <a:ext cx="82296" cy="1005840"/>
          </a:xfrm>
          <a:prstGeom prst="rect">
            <a:avLst/>
          </a:prstGeom>
          <a:solidFill>
            <a:srgbClr val="2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38544" y="1645920"/>
            <a:ext cx="529437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280" b="1">
                <a:solidFill>
                  <a:srgbClr val="248F84"/>
                </a:solidFill>
                <a:latin typeface="Arial"/>
              </a:rPr>
              <a:t>2. Cleaning &amp; 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544" y="2002536"/>
            <a:ext cx="5285232" cy="52120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40" b="0">
                <a:solidFill>
                  <a:srgbClr val="2B3744"/>
                </a:solidFill>
                <a:latin typeface="Arial"/>
              </a:rPr>
              <a:t>Dataset-specific pipelines
Handle missing/infinite values, select inputs, split data, and fit transforms within training.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752344"/>
            <a:ext cx="555955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752344"/>
            <a:ext cx="82296" cy="1005840"/>
          </a:xfrm>
          <a:prstGeom prst="rect">
            <a:avLst/>
          </a:prstGeom>
          <a:solidFill>
            <a:srgbClr val="12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25496"/>
            <a:ext cx="529437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280" b="1">
                <a:solidFill>
                  <a:srgbClr val="1282BE"/>
                </a:solidFill>
                <a:latin typeface="Arial"/>
              </a:rPr>
              <a:t>3. Imbalance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182111"/>
            <a:ext cx="5285232" cy="52120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40" b="0">
                <a:solidFill>
                  <a:srgbClr val="2B3744"/>
                </a:solidFill>
                <a:latin typeface="Arial"/>
              </a:rPr>
              <a:t>modules/model_trainer.py
PaySim uses train-fold SMOTE-Tomek; BankSim/IEEE-CIS use class weighting; CICIDS is kept separate.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2752344"/>
            <a:ext cx="555955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73952" y="2752344"/>
            <a:ext cx="82296" cy="1005840"/>
          </a:xfrm>
          <a:prstGeom prst="rect">
            <a:avLst/>
          </a:prstGeom>
          <a:solidFill>
            <a:srgbClr val="2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8544" y="2825496"/>
            <a:ext cx="529437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280" b="1">
                <a:solidFill>
                  <a:srgbClr val="248F84"/>
                </a:solidFill>
                <a:latin typeface="Arial"/>
              </a:rPr>
              <a:t>4. 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3182111"/>
            <a:ext cx="5285232" cy="52120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40" b="0">
                <a:solidFill>
                  <a:srgbClr val="2B3744"/>
                </a:solidFill>
                <a:latin typeface="Arial"/>
              </a:rPr>
              <a:t>DomainFeatureExtractor + ColumnTransformer
Builds the configured features, encodes categories, and scales numeric inputs.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931920"/>
            <a:ext cx="5559552" cy="1005840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931920"/>
            <a:ext cx="82296" cy="1005840"/>
          </a:xfrm>
          <a:prstGeom prst="rect">
            <a:avLst/>
          </a:prstGeom>
          <a:solidFill>
            <a:srgbClr val="12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4005072"/>
            <a:ext cx="529437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280" b="1">
                <a:solidFill>
                  <a:srgbClr val="1282BE"/>
                </a:solidFill>
                <a:latin typeface="Arial"/>
              </a:rPr>
              <a:t>5. Multi-model trainer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361688"/>
            <a:ext cx="5285232" cy="52120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40" b="0">
                <a:solidFill>
                  <a:srgbClr val="2B3744"/>
                </a:solidFill>
                <a:latin typeface="Arial"/>
              </a:rPr>
              <a:t>modules/model_trainer.py + offline_trainer.py
Fits Logistic Regression, Random Forest, XGBoost, and Isolation Forest.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3931920"/>
            <a:ext cx="5559552" cy="1005840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73952" y="3931920"/>
            <a:ext cx="82296" cy="1005840"/>
          </a:xfrm>
          <a:prstGeom prst="rect">
            <a:avLst/>
          </a:prstGeom>
          <a:solidFill>
            <a:srgbClr val="2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8544" y="4005072"/>
            <a:ext cx="529437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280" b="1">
                <a:solidFill>
                  <a:srgbClr val="248F84"/>
                </a:solidFill>
                <a:latin typeface="Arial"/>
              </a:rPr>
              <a:t>6. Evaluation &amp; persistence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544" y="4361688"/>
            <a:ext cx="5285232" cy="52120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40" b="0">
                <a:solidFill>
                  <a:srgbClr val="2B3744"/>
                </a:solidFill>
                <a:latin typeface="Arial"/>
              </a:rPr>
              <a:t>Holdout metrics + joblib artifacts
Stores precision/recall/F1/AUC, thresholds, confusion counts, dataset statistics, and pipelines.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111496"/>
            <a:ext cx="555955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5111496"/>
            <a:ext cx="82296" cy="1005840"/>
          </a:xfrm>
          <a:prstGeom prst="rect">
            <a:avLst/>
          </a:prstGeom>
          <a:solidFill>
            <a:srgbClr val="12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184648"/>
            <a:ext cx="529437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280" b="1">
                <a:solidFill>
                  <a:srgbClr val="1282BE"/>
                </a:solidFill>
                <a:latin typeface="Arial"/>
              </a:rPr>
              <a:t>7. Risk explanation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5541264"/>
            <a:ext cx="5285232" cy="52120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40" b="0">
                <a:solidFill>
                  <a:srgbClr val="2B3744"/>
                </a:solidFill>
                <a:latin typeface="Arial"/>
              </a:rPr>
              <a:t>app.py + modules/fraud_explainer.py
Prediction shows simple risk-factor context; the optional SHAP/LIME utilities are not a full workflow.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73952" y="5111496"/>
            <a:ext cx="555955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73952" y="5111496"/>
            <a:ext cx="82296" cy="1005840"/>
          </a:xfrm>
          <a:prstGeom prst="rect">
            <a:avLst/>
          </a:prstGeom>
          <a:solidFill>
            <a:srgbClr val="2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8544" y="5184648"/>
            <a:ext cx="529437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280" b="1">
                <a:solidFill>
                  <a:srgbClr val="248F84"/>
                </a:solidFill>
                <a:latin typeface="Arial"/>
              </a:rPr>
              <a:t>8. Twin-style simulator &amp;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38544" y="5541264"/>
            <a:ext cx="5285232" cy="52120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40" b="0">
                <a:solidFill>
                  <a:srgbClr val="2B3744"/>
                </a:solidFill>
                <a:latin typeface="Arial"/>
              </a:rPr>
              <a:t>modules/digital_twin.py + app.py
Configured state transitions and heuristic intervention are presented alongside five dashboard pages.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419088"/>
            <a:ext cx="11612880" cy="25603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740" b="0">
                <a:solidFill>
                  <a:srgbClr val="63707E"/>
                </a:solidFill>
                <a:latin typeface="Arial"/>
              </a:rPr>
              <a:t>Offline training is separate from Streamlit inference: offline_trainer.py writes artifacts; app.py loads and uses them.</a:t>
            </a:r>
          </a:p>
        </p:txBody>
      </p:sp>
    </p:spTree>
    <p:extLst>
      <p:ext uri="{BB962C8B-B14F-4D97-AF65-F5344CB8AC3E}">
        <p14:creationId xmlns:p14="http://schemas.microsoft.com/office/powerpoint/2010/main" val="2855362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b="1">
                <a:latin typeface="Arial"/>
              </a:rPr>
              <a:t>7. SYSTEM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10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11480" y="1874519"/>
            <a:ext cx="2057400" cy="1261872"/>
          </a:xfrm>
          <a:prstGeom prst="roundRect">
            <a:avLst/>
          </a:prstGeom>
          <a:solidFill>
            <a:srgbClr val="E5F2FA"/>
          </a:solidFill>
          <a:ln w="15875">
            <a:solidFill>
              <a:srgbClr val="1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920239"/>
            <a:ext cx="1929384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250" b="1">
                <a:solidFill>
                  <a:srgbClr val="1282BE"/>
                </a:solidFill>
                <a:latin typeface="Arial"/>
              </a:rPr>
              <a:t>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2267712"/>
            <a:ext cx="1837943" cy="804671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1050" b="0">
                <a:solidFill>
                  <a:srgbClr val="2B3744"/>
                </a:solidFill>
                <a:latin typeface="Arial"/>
              </a:rPr>
              <a:t>PaySim / BankSim
IEEE-CIS / CICIDS2017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874519"/>
            <a:ext cx="2057400" cy="1261872"/>
          </a:xfrm>
          <a:prstGeom prst="roundRect">
            <a:avLst/>
          </a:prstGeom>
          <a:solidFill>
            <a:srgbClr val="E8F5EE"/>
          </a:solidFill>
          <a:ln w="15875">
            <a:solidFill>
              <a:srgbClr val="24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61488" y="1920239"/>
            <a:ext cx="1929384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250" b="1">
                <a:solidFill>
                  <a:srgbClr val="248F84"/>
                </a:solidFill>
                <a:latin typeface="Arial"/>
              </a:rPr>
              <a:t>LOAD &amp; 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2267712"/>
            <a:ext cx="1837943" cy="804671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1050" b="0">
                <a:solidFill>
                  <a:srgbClr val="2B3744"/>
                </a:solidFill>
                <a:latin typeface="Arial"/>
              </a:rPr>
              <a:t>Target checks / missing values
Domain-specific 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874519"/>
            <a:ext cx="2057400" cy="1261872"/>
          </a:xfrm>
          <a:prstGeom prst="roundRect">
            <a:avLst/>
          </a:prstGeom>
          <a:solidFill>
            <a:srgbClr val="FBF5E6"/>
          </a:solidFill>
          <a:ln w="15875">
            <a:solidFill>
              <a:srgbClr val="D69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1920239"/>
            <a:ext cx="1929384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250" b="1">
                <a:solidFill>
                  <a:srgbClr val="D69120"/>
                </a:solidFill>
                <a:latin typeface="Arial"/>
              </a:rPr>
              <a:t>FEATURES &amp; 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2267712"/>
            <a:ext cx="1837943" cy="804671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1050" b="0">
                <a:solidFill>
                  <a:srgbClr val="2B3744"/>
                </a:solidFill>
                <a:latin typeface="Arial"/>
              </a:rPr>
              <a:t>Transforms / encodings
SMOTE-Tomek: PaySim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874519"/>
            <a:ext cx="2057400" cy="1261872"/>
          </a:xfrm>
          <a:prstGeom prst="roundRect">
            <a:avLst/>
          </a:prstGeom>
          <a:solidFill>
            <a:srgbClr val="E5F2FA"/>
          </a:solidFill>
          <a:ln w="15875">
            <a:solidFill>
              <a:srgbClr val="1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920239"/>
            <a:ext cx="1929384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250" b="1">
                <a:solidFill>
                  <a:srgbClr val="1282BE"/>
                </a:solidFill>
                <a:latin typeface="Arial"/>
              </a:rPr>
              <a:t>TRAIN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9208" y="2267712"/>
            <a:ext cx="1837943" cy="804671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1050" b="0">
                <a:solidFill>
                  <a:srgbClr val="2B3744"/>
                </a:solidFill>
                <a:latin typeface="Arial"/>
              </a:rPr>
              <a:t>LR / Random Forest
XGBoost / Isolation Forest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874519"/>
            <a:ext cx="2057400" cy="1261872"/>
          </a:xfrm>
          <a:prstGeom prst="roundRect">
            <a:avLst/>
          </a:prstGeom>
          <a:solidFill>
            <a:srgbClr val="E8F5EE"/>
          </a:solidFill>
          <a:ln w="15875">
            <a:solidFill>
              <a:srgbClr val="24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9488" y="1920239"/>
            <a:ext cx="1929384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250" b="1">
                <a:solidFill>
                  <a:srgbClr val="248F84"/>
                </a:solidFill>
                <a:latin typeface="Arial"/>
              </a:rPr>
              <a:t>EVALUATE &amp; SAVE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5207" y="2267712"/>
            <a:ext cx="1837943" cy="804671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1050" b="0">
                <a:solidFill>
                  <a:srgbClr val="2B3744"/>
                </a:solidFill>
                <a:latin typeface="Arial"/>
              </a:rPr>
              <a:t>Holdout metrics + thresholds
Pipelines + dataset stats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487168" y="2350008"/>
            <a:ext cx="164592" cy="274320"/>
          </a:xfrm>
          <a:prstGeom prst="rightArrow">
            <a:avLst/>
          </a:prstGeom>
          <a:solidFill>
            <a:srgbClr val="22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4773168" y="2350008"/>
            <a:ext cx="164592" cy="274320"/>
          </a:xfrm>
          <a:prstGeom prst="rightArrow">
            <a:avLst/>
          </a:prstGeom>
          <a:solidFill>
            <a:srgbClr val="22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059168" y="2350008"/>
            <a:ext cx="164592" cy="274320"/>
          </a:xfrm>
          <a:prstGeom prst="rightArrow">
            <a:avLst/>
          </a:prstGeom>
          <a:solidFill>
            <a:srgbClr val="22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9345168" y="2350008"/>
            <a:ext cx="164592" cy="274320"/>
          </a:xfrm>
          <a:prstGeom prst="rightArrow">
            <a:avLst/>
          </a:prstGeom>
          <a:solidFill>
            <a:srgbClr val="22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3931920"/>
            <a:ext cx="2651760" cy="1353312"/>
          </a:xfrm>
          <a:prstGeom prst="roundRect">
            <a:avLst/>
          </a:prstGeom>
          <a:solidFill>
            <a:srgbClr val="EFF6FA"/>
          </a:solidFill>
          <a:ln w="15875">
            <a:solidFill>
              <a:srgbClr val="19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977639"/>
            <a:ext cx="2523744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300" b="1">
                <a:solidFill>
                  <a:srgbClr val="19324D"/>
                </a:solidFill>
                <a:latin typeface="Arial"/>
              </a:rPr>
              <a:t>SAVED ARTIFACTS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325112"/>
            <a:ext cx="2432304" cy="8961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1050" b="0">
                <a:solidFill>
                  <a:srgbClr val="2B3744"/>
                </a:solidFill>
                <a:latin typeface="Arial"/>
              </a:rPr>
              <a:t>models/*.pkl
evaluation_metrics.json
dataset_stats.json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3931920"/>
            <a:ext cx="2651760" cy="1353312"/>
          </a:xfrm>
          <a:prstGeom prst="roundRect">
            <a:avLst/>
          </a:prstGeom>
          <a:solidFill>
            <a:srgbClr val="E5F2FA"/>
          </a:solidFill>
          <a:ln w="15875">
            <a:solidFill>
              <a:srgbClr val="1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3008" y="3977639"/>
            <a:ext cx="2523744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300" b="1">
                <a:solidFill>
                  <a:srgbClr val="1282BE"/>
                </a:solidFill>
                <a:latin typeface="Arial"/>
              </a:rPr>
              <a:t>STREAMLIT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8728" y="4325112"/>
            <a:ext cx="2432304" cy="8961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1050" b="0">
                <a:solidFill>
                  <a:srgbClr val="2B3744"/>
                </a:solidFill>
                <a:latin typeface="Arial"/>
              </a:rPr>
              <a:t>Data / Evaluation / Simulator
Prediction / Executive Insights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931920"/>
            <a:ext cx="2651760" cy="1353312"/>
          </a:xfrm>
          <a:prstGeom prst="roundRect">
            <a:avLst/>
          </a:prstGeom>
          <a:solidFill>
            <a:srgbClr val="FBF5E6"/>
          </a:solidFill>
          <a:ln w="15875">
            <a:solidFill>
              <a:srgbClr val="D69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77639"/>
            <a:ext cx="2523744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300" b="1">
                <a:solidFill>
                  <a:srgbClr val="D69120"/>
                </a:solidFill>
                <a:latin typeface="Arial"/>
              </a:rPr>
              <a:t>TWIN-STYLE SANDBOX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4325112"/>
            <a:ext cx="2432304" cy="8961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1050" b="0">
                <a:solidFill>
                  <a:srgbClr val="2B3744"/>
                </a:solidFill>
                <a:latin typeface="Arial"/>
              </a:rPr>
              <a:t>Configured state transitions
Heuristic intervention
Separate from model training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3931920"/>
            <a:ext cx="2404872" cy="1353312"/>
          </a:xfrm>
          <a:prstGeom prst="roundRect">
            <a:avLst/>
          </a:prstGeom>
          <a:solidFill>
            <a:srgbClr val="E8F5EE"/>
          </a:solidFill>
          <a:ln w="15875">
            <a:solidFill>
              <a:srgbClr val="24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45168" y="3977639"/>
            <a:ext cx="2276856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300" b="1">
                <a:solidFill>
                  <a:srgbClr val="248F84"/>
                </a:solidFill>
                <a:latin typeface="Arial"/>
              </a:rPr>
              <a:t>ANALYST 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4325112"/>
            <a:ext cx="2185415" cy="8961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1050" b="0">
                <a:solidFill>
                  <a:srgbClr val="2B3744"/>
                </a:solidFill>
                <a:latin typeface="Arial"/>
              </a:rPr>
              <a:t>Metrics and plots
Manual example score
Scenario trajectory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3191256" y="4462272"/>
            <a:ext cx="182880" cy="256032"/>
          </a:xfrm>
          <a:prstGeom prst="rightArrow">
            <a:avLst/>
          </a:prstGeom>
          <a:solidFill>
            <a:srgbClr val="22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6117336" y="4462272"/>
            <a:ext cx="182880" cy="256032"/>
          </a:xfrm>
          <a:prstGeom prst="rightArrow">
            <a:avLst/>
          </a:prstGeom>
          <a:solidFill>
            <a:srgbClr val="22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9043416" y="4462272"/>
            <a:ext cx="182880" cy="256032"/>
          </a:xfrm>
          <a:prstGeom prst="rightArrow">
            <a:avLst/>
          </a:prstGeom>
          <a:solidFill>
            <a:srgbClr val="22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513832"/>
            <a:ext cx="10972800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1250" b="1">
                <a:solidFill>
                  <a:srgbClr val="19324D"/>
                </a:solidFill>
                <a:latin typeface="Arial"/>
              </a:rPr>
              <a:t>Technology: Python / pandas / NumPy / scikit-learn / imbalanced-learn / XGBoost / Streamlit / Plotly / joblib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19088"/>
            <a:ext cx="11612880" cy="25603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740" b="0">
                <a:solidFill>
                  <a:srgbClr val="63707E"/>
                </a:solidFill>
                <a:latin typeface="Arial"/>
              </a:rPr>
              <a:t>Prediction uses manual input; the simulator is not a live financial or network digital twin.</a:t>
            </a:r>
          </a:p>
        </p:txBody>
      </p:sp>
    </p:spTree>
    <p:extLst>
      <p:ext uri="{BB962C8B-B14F-4D97-AF65-F5344CB8AC3E}">
        <p14:creationId xmlns:p14="http://schemas.microsoft.com/office/powerpoint/2010/main" val="1380825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4F7B-448F-5933-E4F5-9F6656ACE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1540-D08A-936D-657B-2CA7AA0E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b="1">
                <a:latin typeface="Arial"/>
              </a:rPr>
              <a:t>8. DEVELOPMENT &amp; INTEGRATION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69C87-894B-EA46-CE5B-2DDA46DB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11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5532120" cy="1828800"/>
          </a:xfrm>
          <a:prstGeom prst="roundRect">
            <a:avLst/>
          </a:prstGeom>
          <a:solidFill>
            <a:srgbClr val="E5F2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82296" cy="1828800"/>
          </a:xfrm>
          <a:prstGeom prst="rect">
            <a:avLst/>
          </a:prstGeom>
          <a:solidFill>
            <a:srgbClr val="12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56231"/>
            <a:ext cx="5266944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600" b="1">
                <a:solidFill>
                  <a:srgbClr val="1282BE"/>
                </a:solidFill>
                <a:latin typeface="Arial"/>
              </a:rPr>
              <a:t>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212848"/>
            <a:ext cx="5257800" cy="13441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230" b="0">
                <a:solidFill>
                  <a:srgbClr val="2B3744"/>
                </a:solidFill>
                <a:latin typeface="Arial"/>
              </a:rPr>
              <a:t>• Download/prepare data outside dashboard startup.
• Split data before fitting model transforms.
• Keep feature extraction and preprocessing in serialized pipelines.
• Store metrics and dataset summaries as JSON for the 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5532120" cy="1828800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82296" cy="1828800"/>
          </a:xfrm>
          <a:prstGeom prst="rect">
            <a:avLst/>
          </a:prstGeom>
          <a:solidFill>
            <a:srgbClr val="2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856231"/>
            <a:ext cx="5266944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600" b="1">
                <a:solidFill>
                  <a:srgbClr val="248F84"/>
                </a:solidFill>
                <a:latin typeface="Arial"/>
              </a:rPr>
              <a:t>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212848"/>
            <a:ext cx="5257800" cy="13441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250" b="0">
                <a:solidFill>
                  <a:srgbClr val="2B3744"/>
                </a:solidFill>
                <a:latin typeface="Arial"/>
              </a:rPr>
              <a:t>offline_trainer.py → saved pipeline + JSON → app.py
Live Prediction reuses the saved model pipeline and dataset/model threshold.
Prediction forms align their fields to the model input schema.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77056"/>
            <a:ext cx="5532120" cy="1691640"/>
          </a:xfrm>
          <a:prstGeom prst="roundRect">
            <a:avLst/>
          </a:prstGeom>
          <a:solidFill>
            <a:srgbClr val="FBF5E6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877056"/>
            <a:ext cx="82296" cy="1691640"/>
          </a:xfrm>
          <a:prstGeom prst="rect">
            <a:avLst/>
          </a:prstGeom>
          <a:solidFill>
            <a:srgbClr val="D69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950208"/>
            <a:ext cx="5266944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500" b="1">
                <a:solidFill>
                  <a:srgbClr val="D69120"/>
                </a:solidFill>
                <a:latin typeface="Arial"/>
              </a:rPr>
              <a:t>CHALLENGES ADDRESSED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306824"/>
            <a:ext cx="5257800" cy="120700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220" b="0">
                <a:solidFill>
                  <a:srgbClr val="2B3744"/>
                </a:solidFill>
                <a:latin typeface="Arial"/>
              </a:rPr>
              <a:t>Target leakage checks • large-file bounded sampling • missing/infinite values • categorical encoding • class imbalance • time-aware splits for BankSim/IEEE when both classes permit.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877056"/>
            <a:ext cx="5532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877056"/>
            <a:ext cx="82296" cy="1691640"/>
          </a:xfrm>
          <a:prstGeom prst="rect">
            <a:avLst/>
          </a:prstGeom>
          <a:solidFill>
            <a:srgbClr val="BB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3950208"/>
            <a:ext cx="5266944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500" b="1">
                <a:solidFill>
                  <a:srgbClr val="BB4141"/>
                </a:solidFill>
                <a:latin typeface="Arial"/>
              </a:rPr>
              <a:t>LIMITS TO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306824"/>
            <a:ext cx="5257800" cy="120700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220" b="0">
                <a:solidFill>
                  <a:srgbClr val="2B3744"/>
                </a:solidFill>
                <a:latin typeface="Arial"/>
              </a:rPr>
              <a:t>Input forms may impute unasked model fields. Thresholds need operational cost setting. Results need independent time-based validation. Scenario rules are illustrative, not learned.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19088"/>
            <a:ext cx="11612880" cy="25603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740" b="0">
                <a:solidFill>
                  <a:srgbClr val="63707E"/>
                </a:solidFill>
                <a:latin typeface="Arial"/>
              </a:rPr>
              <a:t>Training/evaluation commands: `python offline_trainer.py`  |  Refresh saved-model metrics: `python offline_trainer.py --evaluate-existing`.</a:t>
            </a:r>
          </a:p>
        </p:txBody>
      </p:sp>
    </p:spTree>
    <p:extLst>
      <p:ext uri="{BB962C8B-B14F-4D97-AF65-F5344CB8AC3E}">
        <p14:creationId xmlns:p14="http://schemas.microsoft.com/office/powerpoint/2010/main" val="3369243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F5EA-D62B-1983-B948-F514CA25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38A4-31C7-3BA3-41EC-856FFC3F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b="1">
                <a:latin typeface="Arial"/>
              </a:rPr>
              <a:t>9. PROTOTYPE /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3B01-BF0B-D797-AC89-252288DA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1792" y="1700784"/>
            <a:ext cx="11430000" cy="411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1600" b="1">
                <a:solidFill>
                  <a:srgbClr val="19324D"/>
                </a:solidFill>
                <a:latin typeface="Arial"/>
              </a:rPr>
              <a:t>DASHBOARD WALKTHROUGH  |  streamlit run app.py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2084831" cy="822960"/>
          </a:xfrm>
          <a:prstGeom prst="roundRect">
            <a:avLst/>
          </a:prstGeom>
          <a:solidFill>
            <a:srgbClr val="12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993392" cy="71323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  Data
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4368" y="2331720"/>
            <a:ext cx="2084831" cy="822960"/>
          </a:xfrm>
          <a:prstGeom prst="roundRect">
            <a:avLst/>
          </a:prstGeom>
          <a:solidFill>
            <a:srgbClr val="2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0087" y="2377440"/>
            <a:ext cx="1993392" cy="71323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  Model
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94376" y="2331720"/>
            <a:ext cx="2084831" cy="822960"/>
          </a:xfrm>
          <a:prstGeom prst="roundRect">
            <a:avLst/>
          </a:prstGeom>
          <a:solidFill>
            <a:srgbClr val="D69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0096" y="2377440"/>
            <a:ext cx="1993392" cy="71323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  Twin
Simulator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3" y="2331720"/>
            <a:ext cx="2084831" cy="822960"/>
          </a:xfrm>
          <a:prstGeom prst="roundRect">
            <a:avLst/>
          </a:prstGeom>
          <a:solidFill>
            <a:srgbClr val="22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0104" y="2377440"/>
            <a:ext cx="1993392" cy="71323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  Example
Prediction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94392" y="2331720"/>
            <a:ext cx="2084831" cy="822960"/>
          </a:xfrm>
          <a:prstGeom prst="roundRect">
            <a:avLst/>
          </a:prstGeom>
          <a:solidFill>
            <a:srgbClr val="19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40112" y="2377440"/>
            <a:ext cx="1993392" cy="71323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  Executive
Insights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858768"/>
            <a:ext cx="1947672" cy="1133856"/>
          </a:xfrm>
          <a:prstGeom prst="roundRect">
            <a:avLst/>
          </a:prstGeom>
          <a:solidFill>
            <a:srgbClr val="EFF6FA"/>
          </a:solidFill>
          <a:ln w="15875">
            <a:solidFill>
              <a:srgbClr val="1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04487"/>
            <a:ext cx="1819655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300" b="1">
                <a:solidFill>
                  <a:srgbClr val="1282BE"/>
                </a:solidFill>
                <a:latin typeface="Arial"/>
              </a:rPr>
              <a:t>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51959"/>
            <a:ext cx="1728216" cy="6766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1100" b="0">
                <a:solidFill>
                  <a:srgbClr val="2B3744"/>
                </a:solidFill>
                <a:latin typeface="Arial"/>
              </a:rPr>
              <a:t>Dataset +
saved model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679192" y="4261104"/>
            <a:ext cx="228600" cy="256032"/>
          </a:xfrm>
          <a:prstGeom prst="rightArrow">
            <a:avLst/>
          </a:prstGeom>
          <a:solidFill>
            <a:srgbClr val="22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17520" y="3858768"/>
            <a:ext cx="1947672" cy="1133856"/>
          </a:xfrm>
          <a:prstGeom prst="roundRect">
            <a:avLst/>
          </a:prstGeom>
          <a:solidFill>
            <a:srgbClr val="E5F2FA"/>
          </a:solidFill>
          <a:ln w="15875">
            <a:solidFill>
              <a:srgbClr val="24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81527" y="3904487"/>
            <a:ext cx="1819655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300" b="1">
                <a:solidFill>
                  <a:srgbClr val="248F84"/>
                </a:solidFill>
                <a:latin typeface="Arial"/>
              </a:rPr>
              <a:t>ENTER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7248" y="4251959"/>
            <a:ext cx="1728216" cy="6766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1100" b="0">
                <a:solidFill>
                  <a:srgbClr val="2B3744"/>
                </a:solidFill>
                <a:latin typeface="Arial"/>
              </a:rPr>
              <a:t>Example fields
(manual input)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029200" y="4261104"/>
            <a:ext cx="228600" cy="256032"/>
          </a:xfrm>
          <a:prstGeom prst="rightArrow">
            <a:avLst/>
          </a:prstGeom>
          <a:solidFill>
            <a:srgbClr val="22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367527" y="3858768"/>
            <a:ext cx="1947672" cy="1133856"/>
          </a:xfrm>
          <a:prstGeom prst="roundRect">
            <a:avLst/>
          </a:prstGeom>
          <a:solidFill>
            <a:srgbClr val="EFF6FA"/>
          </a:solidFill>
          <a:ln w="15875">
            <a:solidFill>
              <a:srgbClr val="D69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31536" y="3904487"/>
            <a:ext cx="1819655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300" b="1">
                <a:solidFill>
                  <a:srgbClr val="D69120"/>
                </a:solidFill>
                <a:latin typeface="Arial"/>
              </a:rPr>
              <a:t>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7255" y="4251959"/>
            <a:ext cx="1728216" cy="6766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1100" b="0">
                <a:solidFill>
                  <a:srgbClr val="2B3744"/>
                </a:solidFill>
                <a:latin typeface="Arial"/>
              </a:rPr>
              <a:t>Saved pipeline
returns model score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379208" y="4261104"/>
            <a:ext cx="228600" cy="256032"/>
          </a:xfrm>
          <a:prstGeom prst="rightArrow">
            <a:avLst/>
          </a:prstGeom>
          <a:solidFill>
            <a:srgbClr val="22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17536" y="3858768"/>
            <a:ext cx="1947672" cy="1133856"/>
          </a:xfrm>
          <a:prstGeom prst="roundRect">
            <a:avLst/>
          </a:prstGeom>
          <a:solidFill>
            <a:srgbClr val="E5F2FA"/>
          </a:solidFill>
          <a:ln w="15875">
            <a:solidFill>
              <a:srgbClr val="2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81544" y="3904487"/>
            <a:ext cx="1819655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300" b="1">
                <a:solidFill>
                  <a:srgbClr val="22AAD2"/>
                </a:solidFill>
                <a:latin typeface="Arial"/>
              </a:rPr>
              <a:t>DECIDE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27263" y="4251959"/>
            <a:ext cx="1728216" cy="6766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1100" b="0">
                <a:solidFill>
                  <a:srgbClr val="2B3744"/>
                </a:solidFill>
                <a:latin typeface="Arial"/>
              </a:rPr>
              <a:t>Compare score
with threshold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729216" y="4261104"/>
            <a:ext cx="228600" cy="256032"/>
          </a:xfrm>
          <a:prstGeom prst="rightArrow">
            <a:avLst/>
          </a:prstGeom>
          <a:solidFill>
            <a:srgbClr val="22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67544" y="3858768"/>
            <a:ext cx="1947672" cy="1133856"/>
          </a:xfrm>
          <a:prstGeom prst="roundRect">
            <a:avLst/>
          </a:prstGeom>
          <a:solidFill>
            <a:srgbClr val="EFF6FA"/>
          </a:solidFill>
          <a:ln w="15875">
            <a:solidFill>
              <a:srgbClr val="19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31552" y="3904487"/>
            <a:ext cx="1819655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/>
            <a:r>
              <a:rPr sz="1300" b="1">
                <a:solidFill>
                  <a:srgbClr val="19324D"/>
                </a:solidFill>
                <a:latin typeface="Arial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77272" y="4251959"/>
            <a:ext cx="1728216" cy="6766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1100" b="0">
                <a:solidFill>
                  <a:srgbClr val="2B3744"/>
                </a:solidFill>
                <a:latin typeface="Arial"/>
              </a:rPr>
              <a:t>Display alert,
metrics and 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76672"/>
            <a:ext cx="10789920" cy="685800"/>
          </a:xfrm>
          <a:prstGeom prst="rect">
            <a:avLst/>
          </a:prstGeom>
          <a:solidFill>
            <a:srgbClr val="FBF5E6"/>
          </a:solidFill>
          <a:ln>
            <a:noFill/>
          </a:ln>
        </p:spPr>
        <p:txBody>
          <a:bodyPr wrap="square" anchor="ctr" lIns="109728" rIns="109728" tIns="109728" bIns="109728">
            <a:normAutofit/>
          </a:bodyPr>
          <a:lstStyle/>
          <a:p>
            <a:pPr algn="ctr"/>
            <a:r>
              <a:rPr sz="1450" b="0">
                <a:solidFill>
                  <a:srgbClr val="2B3744"/>
                </a:solidFill>
                <a:latin typeface="Arial"/>
              </a:rPr>
              <a:t>Prototype boundary: manual local scoring only. The scenario page uses configured transitions; neither feature is connected to a live payment or network feed.</a:t>
            </a:r>
          </a:p>
        </p:txBody>
      </p:sp>
    </p:spTree>
    <p:extLst>
      <p:ext uri="{BB962C8B-B14F-4D97-AF65-F5344CB8AC3E}">
        <p14:creationId xmlns:p14="http://schemas.microsoft.com/office/powerpoint/2010/main" val="1145004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6C8D-B43E-DA7C-E00A-0FC4EA18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C6AA-E1C2-EA6C-246E-CC1479CDE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b="1">
                <a:latin typeface="Arial"/>
              </a:rPr>
              <a:t>PROJECT 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BB0C0-AF3E-C46D-0A00-DD8E18E7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58368" y="1810512"/>
            <a:ext cx="2834640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500" b="1">
                <a:solidFill>
                  <a:srgbClr val="1282BE"/>
                </a:solidFill>
                <a:latin typeface="Arial"/>
              </a:rPr>
              <a:t>A complete prototype workflow is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810512"/>
            <a:ext cx="845820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530" b="0">
                <a:solidFill>
                  <a:srgbClr val="2B3744"/>
                </a:solidFill>
                <a:latin typeface="Arial"/>
              </a:rPr>
              <a:t>Four datasets, four model families, saved pipelines and metrics, and five dashboard sections are integrated.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2651760"/>
            <a:ext cx="11183112" cy="0"/>
          </a:xfrm>
          <a:prstGeom prst="line">
            <a:avLst/>
          </a:prstGeom>
          <a:ln w="10160">
            <a:solidFill>
              <a:srgbClr val="CF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2880360"/>
            <a:ext cx="2834640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500" b="1">
                <a:solidFill>
                  <a:srgbClr val="248F84"/>
                </a:solidFill>
                <a:latin typeface="Arial"/>
              </a:rPr>
              <a:t>Metrics reveal different operating trade-offs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880360"/>
            <a:ext cx="845820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530" b="0">
                <a:solidFill>
                  <a:srgbClr val="2B3744"/>
                </a:solidFill>
                <a:latin typeface="Arial"/>
              </a:rPr>
              <a:t>High recall can coexist with low precision; accuracy and AUC alone do not describe alert quality.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3721608"/>
            <a:ext cx="11183112" cy="0"/>
          </a:xfrm>
          <a:prstGeom prst="line">
            <a:avLst/>
          </a:prstGeom>
          <a:ln w="10160">
            <a:solidFill>
              <a:srgbClr val="CF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3950208"/>
            <a:ext cx="2834640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500" b="1">
                <a:solidFill>
                  <a:srgbClr val="1282BE"/>
                </a:solidFill>
                <a:latin typeface="Arial"/>
              </a:rPr>
              <a:t>Results must stay in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950208"/>
            <a:ext cx="845820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530" b="0">
                <a:solidFill>
                  <a:srgbClr val="2B3744"/>
                </a:solidFill>
                <a:latin typeface="Arial"/>
              </a:rPr>
              <a:t>BankSim and PaySim are simulated; CICIDS2017 is network intrusion; IEEE-CIS is an anonymized competition benchmark.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" y="4791456"/>
            <a:ext cx="11183112" cy="0"/>
          </a:xfrm>
          <a:prstGeom prst="line">
            <a:avLst/>
          </a:prstGeom>
          <a:ln w="10160">
            <a:solidFill>
              <a:srgbClr val="CF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5020056"/>
            <a:ext cx="2834640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500" b="1">
                <a:solidFill>
                  <a:srgbClr val="248F84"/>
                </a:solidFill>
                <a:latin typeface="Arial"/>
              </a:rPr>
              <a:t>Validation remains essential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5020056"/>
            <a:ext cx="845820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530" b="0">
                <a:solidFill>
                  <a:srgbClr val="2B3744"/>
                </a:solidFill>
                <a:latin typeface="Arial"/>
              </a:rPr>
              <a:t>Saved holdout values are not a production guarantee. The rule-based simulator is illustrative and separate from model training.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36208"/>
            <a:ext cx="10972800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1350" b="1">
                <a:solidFill>
                  <a:srgbClr val="19324D"/>
                </a:solidFill>
                <a:latin typeface="Arial"/>
              </a:rPr>
              <a:t>Takeaway: a transparent detection prototype is useful when its data provenance, threshold trade-offs, and limitations are reported together.</a:t>
            </a:r>
          </a:p>
        </p:txBody>
      </p:sp>
    </p:spTree>
    <p:extLst>
      <p:ext uri="{BB962C8B-B14F-4D97-AF65-F5344CB8AC3E}">
        <p14:creationId xmlns:p14="http://schemas.microsoft.com/office/powerpoint/2010/main" val="1375399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b="1">
                <a:latin typeface="Arial"/>
              </a:rPr>
              <a:t>10. BEST MODEL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09928"/>
          <a:ext cx="117957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011680"/>
                <a:gridCol w="1417320"/>
                <a:gridCol w="1417320"/>
                <a:gridCol w="1417320"/>
                <a:gridCol w="1097280"/>
                <a:gridCol w="1417320"/>
                <a:gridCol w="1417320"/>
              </a:tblGrid>
              <a:tr h="4480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anchor="ctr" marL="36576" marR="36576" marT="22860" marB="22860">
                    <a:solidFill>
                      <a:srgbClr val="19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Arial"/>
                        </a:rPr>
                        <a:t>Best model</a:t>
                      </a:r>
                    </a:p>
                  </a:txBody>
                  <a:tcPr anchor="ctr" marL="36576" marR="36576" marT="22860" marB="22860">
                    <a:solidFill>
                      <a:srgbClr val="19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anchor="ctr" marL="36576" marR="36576" marT="22860" marB="22860">
                    <a:solidFill>
                      <a:srgbClr val="19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 anchor="ctr" marL="36576" marR="36576" marT="22860" marB="22860">
                    <a:solidFill>
                      <a:srgbClr val="19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anchor="ctr" marL="36576" marR="36576" marT="22860" marB="22860">
                    <a:solidFill>
                      <a:srgbClr val="19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anchor="ctr" marL="36576" marR="36576" marT="22860" marB="22860">
                    <a:solidFill>
                      <a:srgbClr val="19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Arial"/>
                        </a:rPr>
                        <a:t>ROC-AUC</a:t>
                      </a:r>
                    </a:p>
                  </a:txBody>
                  <a:tcPr anchor="ctr" marL="36576" marR="36576" marT="22860" marB="22860">
                    <a:solidFill>
                      <a:srgbClr val="19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Arial"/>
                        </a:rPr>
                        <a:t>Threshold</a:t>
                      </a:r>
                    </a:p>
                  </a:txBody>
                  <a:tcPr anchor="ctr" marL="36576" marR="36576" marT="22860" marB="22860">
                    <a:solidFill>
                      <a:srgbClr val="19324D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3744"/>
                          </a:solidFill>
                          <a:latin typeface="Arial"/>
                        </a:rPr>
                        <a:t>PaySim</a:t>
                      </a:r>
                    </a:p>
                  </a:txBody>
                  <a:tcPr anchor="ctr" marL="36576" marR="36576" marT="22860" marB="22860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anchor="ctr" marL="36576" marR="36576" marT="22860" marB="22860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0.9995</a:t>
                      </a:r>
                    </a:p>
                  </a:txBody>
                  <a:tcPr anchor="ctr" marL="36576" marR="36576" marT="22860" marB="22860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0.7326</a:t>
                      </a:r>
                    </a:p>
                  </a:txBody>
                  <a:tcPr anchor="ctr" marL="36576" marR="36576" marT="22860" marB="22860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0.9844</a:t>
                      </a:r>
                    </a:p>
                  </a:txBody>
                  <a:tcPr anchor="ctr" marL="36576" marR="36576" marT="22860" marB="22860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0.8400</a:t>
                      </a:r>
                    </a:p>
                  </a:txBody>
                  <a:tcPr anchor="ctr" marL="36576" marR="36576" marT="22860" marB="22860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0.9935</a:t>
                      </a:r>
                    </a:p>
                  </a:txBody>
                  <a:tcPr anchor="ctr" marL="36576" marR="36576" marT="22860" marB="22860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0.005</a:t>
                      </a:r>
                    </a:p>
                  </a:txBody>
                  <a:tcPr anchor="ctr" marL="36576" marR="36576" marT="22860" marB="22860">
                    <a:solidFill>
                      <a:srgbClr val="EFF6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3744"/>
                          </a:solidFill>
                          <a:latin typeface="Arial"/>
                        </a:rPr>
                        <a:t>BankSim</a:t>
                      </a:r>
                    </a:p>
                  </a:txBody>
                  <a:tcPr anchor="ctr"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anchor="ctr"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0.9534</a:t>
                      </a:r>
                    </a:p>
                  </a:txBody>
                  <a:tcPr anchor="ctr"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0.1807</a:t>
                      </a:r>
                    </a:p>
                  </a:txBody>
                  <a:tcPr anchor="ctr"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0.9386</a:t>
                      </a:r>
                    </a:p>
                  </a:txBody>
                  <a:tcPr anchor="ctr"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0.3031</a:t>
                      </a:r>
                    </a:p>
                  </a:txBody>
                  <a:tcPr anchor="ctr"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0.9920</a:t>
                      </a:r>
                    </a:p>
                  </a:txBody>
                  <a:tcPr anchor="ctr"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0.500</a:t>
                      </a:r>
                    </a:p>
                  </a:txBody>
                  <a:tcPr anchor="ctr" marL="36576" marR="36576" marT="22860" marB="22860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3744"/>
                          </a:solidFill>
                          <a:latin typeface="Arial"/>
                        </a:rPr>
                        <a:t>CICIDS2017</a:t>
                      </a:r>
                    </a:p>
                  </a:txBody>
                  <a:tcPr anchor="ctr" marL="36576" marR="36576" marT="22860" marB="22860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anchor="ctr" marL="36576" marR="36576" marT="22860" marB="22860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0.8781</a:t>
                      </a:r>
                    </a:p>
                  </a:txBody>
                  <a:tcPr anchor="ctr" marL="36576" marR="36576" marT="22860" marB="22860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0.6179</a:t>
                      </a:r>
                    </a:p>
                  </a:txBody>
                  <a:tcPr anchor="ctr" marL="36576" marR="36576" marT="22860" marB="22860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0.9992</a:t>
                      </a:r>
                    </a:p>
                  </a:txBody>
                  <a:tcPr anchor="ctr" marL="36576" marR="36576" marT="22860" marB="22860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0.7636</a:t>
                      </a:r>
                    </a:p>
                  </a:txBody>
                  <a:tcPr anchor="ctr" marL="36576" marR="36576" marT="22860" marB="22860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0.9989</a:t>
                      </a:r>
                    </a:p>
                  </a:txBody>
                  <a:tcPr anchor="ctr" marL="36576" marR="36576" marT="22860" marB="22860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0.005</a:t>
                      </a:r>
                    </a:p>
                  </a:txBody>
                  <a:tcPr anchor="ctr" marL="36576" marR="36576" marT="22860" marB="22860">
                    <a:solidFill>
                      <a:srgbClr val="EFF6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3744"/>
                          </a:solidFill>
                          <a:latin typeface="Arial"/>
                        </a:rPr>
                        <a:t>IEEE-CIS</a:t>
                      </a:r>
                    </a:p>
                  </a:txBody>
                  <a:tcPr anchor="ctr"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anchor="ctr"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0.8771</a:t>
                      </a:r>
                    </a:p>
                  </a:txBody>
                  <a:tcPr anchor="ctr"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0.1734</a:t>
                      </a:r>
                    </a:p>
                  </a:txBody>
                  <a:tcPr anchor="ctr"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0.6828</a:t>
                      </a:r>
                    </a:p>
                  </a:txBody>
                  <a:tcPr anchor="ctr"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0.2766</a:t>
                      </a:r>
                    </a:p>
                  </a:txBody>
                  <a:tcPr anchor="ctr"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0.8684</a:t>
                      </a:r>
                    </a:p>
                  </a:txBody>
                  <a:tcPr anchor="ctr"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3744"/>
                          </a:solidFill>
                          <a:latin typeface="Arial"/>
                        </a:rPr>
                        <a:t>0.500</a:t>
                      </a:r>
                    </a:p>
                  </a:txBody>
                  <a:tcPr anchor="ctr" marL="36576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4088" y="4114800"/>
            <a:ext cx="2788920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400" b="1">
                <a:solidFill>
                  <a:srgbClr val="19324D"/>
                </a:solidFill>
                <a:latin typeface="Arial"/>
              </a:rPr>
              <a:t>BEST-MODEL F1 BY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53712"/>
            <a:ext cx="1325880" cy="2560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150" b="0">
                <a:solidFill>
                  <a:srgbClr val="2B3744"/>
                </a:solidFill>
                <a:latin typeface="Arial"/>
              </a:rPr>
              <a:t>PaySim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57984" y="4594860"/>
            <a:ext cx="3429000" cy="182880"/>
          </a:xfrm>
          <a:prstGeom prst="roundRect">
            <a:avLst/>
          </a:prstGeom>
          <a:solidFill>
            <a:srgbClr val="E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57984" y="4594860"/>
            <a:ext cx="2880360" cy="182880"/>
          </a:xfrm>
          <a:prstGeom prst="roundRect">
            <a:avLst/>
          </a:prstGeom>
          <a:solidFill>
            <a:srgbClr val="12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4553712"/>
            <a:ext cx="585216" cy="2560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150" b="1">
                <a:solidFill>
                  <a:srgbClr val="19324D"/>
                </a:solidFill>
                <a:latin typeface="Arial"/>
              </a:rPr>
              <a:t>0.840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19472"/>
            <a:ext cx="1325880" cy="2560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150" b="0">
                <a:solidFill>
                  <a:srgbClr val="2B3744"/>
                </a:solidFill>
                <a:latin typeface="Arial"/>
              </a:rPr>
              <a:t>BankSim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57984" y="4960620"/>
            <a:ext cx="3429000" cy="182880"/>
          </a:xfrm>
          <a:prstGeom prst="roundRect">
            <a:avLst/>
          </a:prstGeom>
          <a:solidFill>
            <a:srgbClr val="E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57984" y="4960620"/>
            <a:ext cx="1039329" cy="182880"/>
          </a:xfrm>
          <a:prstGeom prst="roundRect">
            <a:avLst/>
          </a:prstGeom>
          <a:solidFill>
            <a:srgbClr val="2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4919472"/>
            <a:ext cx="585216" cy="2560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150" b="1">
                <a:solidFill>
                  <a:srgbClr val="19324D"/>
                </a:solidFill>
                <a:latin typeface="Arial"/>
              </a:rPr>
              <a:t>0.303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85232"/>
            <a:ext cx="1325880" cy="2560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150" b="0">
                <a:solidFill>
                  <a:srgbClr val="2B3744"/>
                </a:solidFill>
                <a:latin typeface="Arial"/>
              </a:rPr>
              <a:t>CICIDS2017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57984" y="5326380"/>
            <a:ext cx="3429000" cy="182880"/>
          </a:xfrm>
          <a:prstGeom prst="roundRect">
            <a:avLst/>
          </a:prstGeom>
          <a:solidFill>
            <a:srgbClr val="E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57984" y="5326380"/>
            <a:ext cx="2618384" cy="182880"/>
          </a:xfrm>
          <a:prstGeom prst="roundRect">
            <a:avLst/>
          </a:prstGeom>
          <a:solidFill>
            <a:srgbClr val="22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5285232"/>
            <a:ext cx="585216" cy="2560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150" b="1">
                <a:solidFill>
                  <a:srgbClr val="19324D"/>
                </a:solidFill>
                <a:latin typeface="Arial"/>
              </a:rPr>
              <a:t>0.764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50992"/>
            <a:ext cx="1325880" cy="2560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150" b="0">
                <a:solidFill>
                  <a:srgbClr val="2B3744"/>
                </a:solidFill>
                <a:latin typeface="Arial"/>
              </a:rPr>
              <a:t>IEEE-CIS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57984" y="5692140"/>
            <a:ext cx="3429000" cy="182880"/>
          </a:xfrm>
          <a:prstGeom prst="roundRect">
            <a:avLst/>
          </a:prstGeom>
          <a:solidFill>
            <a:srgbClr val="E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57984" y="5692140"/>
            <a:ext cx="948461" cy="182880"/>
          </a:xfrm>
          <a:prstGeom prst="roundRect">
            <a:avLst/>
          </a:prstGeom>
          <a:solidFill>
            <a:srgbClr val="D69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5650992"/>
            <a:ext cx="585216" cy="2560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150" b="1">
                <a:solidFill>
                  <a:srgbClr val="19324D"/>
                </a:solidFill>
                <a:latin typeface="Arial"/>
              </a:rPr>
              <a:t>0.277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224528"/>
            <a:ext cx="5166360" cy="1645920"/>
          </a:xfrm>
          <a:prstGeom prst="rect">
            <a:avLst/>
          </a:prstGeom>
          <a:solidFill>
            <a:srgbClr val="FBF5E6"/>
          </a:solidFill>
          <a:ln>
            <a:noFill/>
          </a:ln>
        </p:spPr>
        <p:txBody>
          <a:bodyPr wrap="square" anchor="ctr" lIns="146304" rIns="146304" tIns="146304" bIns="146304">
            <a:normAutofit/>
          </a:bodyPr>
          <a:lstStyle/>
          <a:p>
            <a:pPr algn="l"/>
            <a:r>
              <a:rPr sz="1310" b="0">
                <a:solidFill>
                  <a:srgbClr val="2B3744"/>
                </a:solidFill>
                <a:latin typeface="Arial"/>
              </a:rPr>
              <a:t>INTERPRETATION
BankSim: recall 0.9386 but precision 0.1807 at threshold 0.50. Many alerts may be false alarms.
PaySim: F1 0.8400 at threshold 0.005 on a rare-event sample.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355080"/>
            <a:ext cx="11612880" cy="25603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800" b="0">
                <a:solidFill>
                  <a:srgbClr val="63707E"/>
                </a:solidFill>
                <a:latin typeface="Arial"/>
              </a:rPr>
              <a:t>Saved holdout results from models/evaluation_metrics.json. PaySim/CICIDS samples: 250,000 / 150,000; BankSim/IEEE-CIS: 594,643 / 590,540 rows.</a:t>
            </a:r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b="1">
                <a:latin typeface="Arial"/>
              </a:rPr>
              <a:t>12.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32115-B82D-8D1A-DF88-7F370475E570}"/>
              </a:ext>
            </a:extLst>
          </p:cNvPr>
          <p:cNvSpPr txBox="1"/>
          <p:nvPr/>
        </p:nvSpPr>
        <p:spPr>
          <a:xfrm>
            <a:off x="594360" y="1572768"/>
            <a:ext cx="11430000" cy="310896"/>
          </a:xfrm>
          <a:prstGeom prst="rect">
            <a:avLst/>
          </a:prstGeom>
          <a:noFill/>
        </p:spPr>
        <p:txBody>
          <a:bodyPr wrap="square" rtlCol="0" anchor="ctr" lIns="45720" rIns="45720" tIns="18288" bIns="18288">
            <a:normAutofit/>
          </a:bodyPr>
          <a:lstStyle/>
          <a:p>
            <a:pPr algn="ctr"/>
            <a:r>
              <a:rPr sz="1350" b="0">
                <a:solidFill>
                  <a:srgbClr val="63707E"/>
                </a:solidFill>
                <a:latin typeface="Arial"/>
              </a:rPr>
              <a:t>REVIEW-II PLAN (OCTOBER 2025?MARCH 2026)  |  Status updated from the current project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938528"/>
            <a:ext cx="1243584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1120" b="1">
                <a:solidFill>
                  <a:srgbClr val="19324D"/>
                </a:solidFill>
                <a:latin typeface="Arial"/>
              </a:rPr>
              <a:t>Oct '25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1728" y="1938528"/>
            <a:ext cx="1243584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1120" b="1">
                <a:solidFill>
                  <a:srgbClr val="19324D"/>
                </a:solidFill>
                <a:latin typeface="Arial"/>
              </a:rPr>
              <a:t>Nov '25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0176" y="1938528"/>
            <a:ext cx="1243584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1120" b="1">
                <a:solidFill>
                  <a:srgbClr val="19324D"/>
                </a:solidFill>
                <a:latin typeface="Arial"/>
              </a:rPr>
              <a:t>Dec '25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78624" y="1938528"/>
            <a:ext cx="1243584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1120" b="1">
                <a:solidFill>
                  <a:srgbClr val="19324D"/>
                </a:solidFill>
                <a:latin typeface="Arial"/>
              </a:rPr>
              <a:t>Jan '26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7072" y="1938528"/>
            <a:ext cx="1243584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1120" b="1">
                <a:solidFill>
                  <a:srgbClr val="19324D"/>
                </a:solidFill>
                <a:latin typeface="Arial"/>
              </a:rPr>
              <a:t>Feb '26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938528"/>
            <a:ext cx="1243584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1120" b="1">
                <a:solidFill>
                  <a:srgbClr val="19324D"/>
                </a:solidFill>
                <a:latin typeface="Arial"/>
              </a:rPr>
              <a:t>Mar '26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59736"/>
            <a:ext cx="2670048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120" b="0">
                <a:solidFill>
                  <a:srgbClr val="2B3744"/>
                </a:solidFill>
                <a:latin typeface="Arial"/>
              </a:rPr>
              <a:t>Problem identification + literature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532888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27448" y="2532888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25896" y="2532888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24344" y="2532888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22792" y="2532888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21240" y="2532888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29000" y="2532888"/>
            <a:ext cx="1152144" cy="24688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82528" y="2459736"/>
            <a:ext cx="1051560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980" b="1">
                <a:solidFill>
                  <a:srgbClr val="2E8B57"/>
                </a:solidFill>
                <a:latin typeface="Arial"/>
              </a:rPr>
              <a:t>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980944"/>
            <a:ext cx="2670048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120" b="0">
                <a:solidFill>
                  <a:srgbClr val="2B3744"/>
                </a:solidFill>
                <a:latin typeface="Arial"/>
              </a:rPr>
              <a:t>Dataset collection and source checks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054096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27448" y="3054096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25896" y="3054096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4344" y="3054096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22792" y="3054096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21240" y="3054096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27448" y="3054096"/>
            <a:ext cx="1152144" cy="24688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82528" y="2980944"/>
            <a:ext cx="1051560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980" b="1">
                <a:solidFill>
                  <a:srgbClr val="2E8B57"/>
                </a:solidFill>
                <a:latin typeface="Arial"/>
              </a:rPr>
              <a:t>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502152"/>
            <a:ext cx="2670048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120" b="0">
                <a:solidFill>
                  <a:srgbClr val="2B3744"/>
                </a:solidFill>
                <a:latin typeface="Arial"/>
              </a:rPr>
              <a:t>Preprocessing and exploratory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3575304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27448" y="3575304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25896" y="3575304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24344" y="3575304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22792" y="3575304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21240" y="3575304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25896" y="3575304"/>
            <a:ext cx="1152144" cy="24688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82528" y="3502152"/>
            <a:ext cx="1051560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980" b="1">
                <a:solidFill>
                  <a:srgbClr val="2E8B57"/>
                </a:solidFill>
                <a:latin typeface="Arial"/>
              </a:rPr>
              <a:t>DONE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023360"/>
            <a:ext cx="2670048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120" b="0">
                <a:solidFill>
                  <a:srgbClr val="2B3744"/>
                </a:solidFill>
                <a:latin typeface="Arial"/>
              </a:rPr>
              <a:t>Model development and evaluation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29000" y="4096512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27448" y="4096512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25896" y="4096512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24344" y="4096512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22792" y="4096512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21240" y="4096512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24344" y="4096512"/>
            <a:ext cx="1152144" cy="24688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82528" y="4023360"/>
            <a:ext cx="1051560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980" b="1">
                <a:solidFill>
                  <a:srgbClr val="2E8B57"/>
                </a:solidFill>
                <a:latin typeface="Arial"/>
              </a:rPr>
              <a:t>DONE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4544568"/>
            <a:ext cx="2670048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120" b="0">
                <a:solidFill>
                  <a:srgbClr val="2B3744"/>
                </a:solidFill>
                <a:latin typeface="Arial"/>
              </a:rPr>
              <a:t>Scenario simulator + XAI integration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29000" y="4617720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727448" y="4617720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25896" y="4617720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24344" y="4617720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622792" y="4617720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921240" y="4617720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622792" y="4617720"/>
            <a:ext cx="1152144" cy="246888"/>
          </a:xfrm>
          <a:prstGeom prst="roundRect">
            <a:avLst/>
          </a:prstGeom>
          <a:solidFill>
            <a:srgbClr val="D69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82528" y="4544568"/>
            <a:ext cx="1051560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980" b="1">
                <a:solidFill>
                  <a:srgbClr val="D69120"/>
                </a:solidFill>
                <a:latin typeface="Arial"/>
              </a:rPr>
              <a:t>PARTIAL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5065775"/>
            <a:ext cx="2670048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l"/>
            <a:r>
              <a:rPr sz="1120" b="0">
                <a:solidFill>
                  <a:srgbClr val="2B3744"/>
                </a:solidFill>
                <a:latin typeface="Arial"/>
              </a:rPr>
              <a:t>Dashboard + live transaction integration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29000" y="5138927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727448" y="5138927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25896" y="5138927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24344" y="5138927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622792" y="5138927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921240" y="5138927"/>
            <a:ext cx="1152144" cy="246888"/>
          </a:xfrm>
          <a:prstGeom prst="rect">
            <a:avLst/>
          </a:prstGeom>
          <a:solidFill>
            <a:srgbClr val="EFF6FA"/>
          </a:solidFill>
          <a:ln w="635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921240" y="5138927"/>
            <a:ext cx="1152144" cy="246888"/>
          </a:xfrm>
          <a:prstGeom prst="roundRect">
            <a:avLst/>
          </a:prstGeom>
          <a:solidFill>
            <a:srgbClr val="D69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82528" y="5065775"/>
            <a:ext cx="1051560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980" b="1">
                <a:solidFill>
                  <a:srgbClr val="D69120"/>
                </a:solidFill>
                <a:latin typeface="Arial"/>
              </a:rPr>
              <a:t>PARTIAL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" y="6062472"/>
            <a:ext cx="10972800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1240" b="1">
                <a:solidFill>
                  <a:srgbClr val="19324D"/>
                </a:solidFill>
                <a:latin typeface="Arial"/>
              </a:rPr>
              <a:t>Next milestones: external/time-based validation, integrated explanation checks, drift monitoring, and measured live-feed latency.</a:t>
            </a:r>
          </a:p>
        </p:txBody>
      </p:sp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819401"/>
            <a:ext cx="11521440" cy="1219200"/>
          </a:xfrm>
        </p:spPr>
        <p:txBody>
          <a:bodyPr wrap="square" anchor="ctr" tIns="91440" bIns="91440">
            <a:normAutofit/>
          </a:bodyPr>
          <a:lstStyle/>
          <a:p>
            <a:pPr algn="ctr"/>
            <a:r>
              <a:rPr sz="3800" b="1">
                <a:solidFill>
                  <a:srgbClr val="19324D"/>
                </a:solidFill>
                <a:latin typeface="Arial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463040" y="4160520"/>
            <a:ext cx="9875520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1800" b="0">
                <a:solidFill>
                  <a:srgbClr val="2B3744"/>
                </a:solidFill>
                <a:latin typeface="Arial"/>
              </a:rPr>
              <a:t>QUESTIONS &amp; DISCUSSION
Nexus Fraud Defense  |  Shambhu Pandey  |  25MCA1020</a:t>
            </a:r>
          </a:p>
        </p:txBody>
      </p:sp>
    </p:spTree>
    <p:extLst>
      <p:ext uri="{BB962C8B-B14F-4D97-AF65-F5344CB8AC3E}">
        <p14:creationId xmlns:p14="http://schemas.microsoft.com/office/powerpoint/2010/main" val="2750398038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2500" b="1">
                <a:solidFill>
                  <a:srgbClr val="2B3744"/>
                </a:solidFill>
                <a:latin typeface="Arial"/>
              </a:rPr>
              <a:t>3. LITERATURE SURVEY (CONTINUED)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53312"/>
            <a:ext cx="10927080" cy="1353312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82296" cy="1353312"/>
          </a:xfrm>
          <a:prstGeom prst="rect">
            <a:avLst/>
          </a:prstGeom>
          <a:solidFill>
            <a:srgbClr val="12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26464"/>
            <a:ext cx="10661904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500" b="1">
                <a:solidFill>
                  <a:srgbClr val="1282BE"/>
                </a:solidFill>
                <a:latin typeface="Arial"/>
              </a:rPr>
              <a:t>SMOTE [8]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783080"/>
            <a:ext cx="10652759" cy="8686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220" b="0">
                <a:solidFill>
                  <a:srgbClr val="2B3744"/>
                </a:solidFill>
                <a:latin typeface="Arial"/>
              </a:rPr>
              <a:t>Chawla et al. (2002)
Finding: Introduced synthetic minority oversampling to improve learning from imbalanced classes.
Limitation: Resampling must be applied only within training folds; synthetic examples do not replace real fraud observations.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9270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926080"/>
            <a:ext cx="82296" cy="1353312"/>
          </a:xfrm>
          <a:prstGeom prst="rect">
            <a:avLst/>
          </a:prstGeom>
          <a:solidFill>
            <a:srgbClr val="2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999232"/>
            <a:ext cx="10661904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500" b="1">
                <a:solidFill>
                  <a:srgbClr val="248F84"/>
                </a:solidFill>
                <a:latin typeface="Arial"/>
              </a:rPr>
              <a:t>LIME [6]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3355848"/>
            <a:ext cx="10652759" cy="8686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220" b="0">
                <a:solidFill>
                  <a:srgbClr val="2B3744"/>
                </a:solidFill>
                <a:latin typeface="Arial"/>
              </a:rPr>
              <a:t>Ribeiro, Singh &amp; Guestrin (2016)
Finding: Explains an individual model prediction by fitting an interpretable approximation around that case.
Limitation: Explanations are local approximations and can vary with perturbations and settings.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98848"/>
            <a:ext cx="10927080" cy="1353312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498848"/>
            <a:ext cx="82296" cy="1353312"/>
          </a:xfrm>
          <a:prstGeom prst="rect">
            <a:avLst/>
          </a:prstGeom>
          <a:solidFill>
            <a:srgbClr val="D69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4572000"/>
            <a:ext cx="10661904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500" b="1">
                <a:solidFill>
                  <a:srgbClr val="D69120"/>
                </a:solidFill>
                <a:latin typeface="Arial"/>
              </a:rPr>
              <a:t>SHAP [7]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928616"/>
            <a:ext cx="10652759" cy="8686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220" b="0">
                <a:solidFill>
                  <a:srgbClr val="2B3744"/>
                </a:solidFill>
                <a:latin typeface="Arial"/>
              </a:rPr>
              <a:t>Lundberg &amp; Lee (2017)
Finding: Unifies additive feature-attribution methods using Shapley-value properties.
Limitation: Attributions describe model behavior; they do not establish causality or guarantee fast inference.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11612880" cy="25603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740" b="0">
                <a:solidFill>
                  <a:srgbClr val="63707E"/>
                </a:solidFill>
                <a:latin typeface="Arial"/>
              </a:rPr>
              <a:t>Survey notes are concise summaries of the cited papers; study results are not project results.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419088"/>
            <a:ext cx="365760" cy="20116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r"/>
            <a:r>
              <a:rPr sz="900" b="0">
                <a:solidFill>
                  <a:srgbClr val="63707E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2500" b="1">
                <a:solidFill>
                  <a:srgbClr val="2B3744"/>
                </a:solidFill>
                <a:latin typeface="Arial"/>
              </a:rPr>
              <a:t>3. LITERATURE SURVEY (CONTINUED)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44752"/>
            <a:ext cx="5285232" cy="2029968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82296" cy="2029968"/>
          </a:xfrm>
          <a:prstGeom prst="rect">
            <a:avLst/>
          </a:prstGeom>
          <a:solidFill>
            <a:srgbClr val="12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17904"/>
            <a:ext cx="502005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420" b="1">
                <a:solidFill>
                  <a:srgbClr val="1282BE"/>
                </a:solidFill>
                <a:latin typeface="Arial"/>
              </a:rPr>
              <a:t>Realistic fraud modeling [9]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74519"/>
            <a:ext cx="5010912" cy="1545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200" b="0">
                <a:solidFill>
                  <a:srgbClr val="2B3744"/>
                </a:solidFill>
                <a:latin typeface="Arial"/>
              </a:rPr>
              <a:t>Dal Pozzolo et al. (2018)
Finding: Studies realistic modeling and learning strategies for credit-card fraud under class imbalance.
Limitation: Findings depend on the transaction stream and validation protocol; transfer to other domains must be tested.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444752"/>
            <a:ext cx="5285232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444752"/>
            <a:ext cx="82296" cy="2029968"/>
          </a:xfrm>
          <a:prstGeom prst="rect">
            <a:avLst/>
          </a:prstGeom>
          <a:solidFill>
            <a:srgbClr val="2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517904"/>
            <a:ext cx="502005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420" b="1">
                <a:solidFill>
                  <a:srgbClr val="248F84"/>
                </a:solidFill>
                <a:latin typeface="Arial"/>
              </a:rPr>
              <a:t>SCARFF [10]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874519"/>
            <a:ext cx="5010912" cy="1545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200" b="0">
                <a:solidFill>
                  <a:srgbClr val="2B3744"/>
                </a:solidFill>
                <a:latin typeface="Arial"/>
              </a:rPr>
              <a:t>Carcillo et al. (2018)
Finding: Combines streaming infrastructure and machine learning for scalable near-real-time card fraud detection.
Limitation: A production streaming architecture is beyond this local dashboard prototype.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76472"/>
            <a:ext cx="5285232" cy="2029968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776472"/>
            <a:ext cx="82296" cy="2029968"/>
          </a:xfrm>
          <a:prstGeom prst="rect">
            <a:avLst/>
          </a:prstGeom>
          <a:solidFill>
            <a:srgbClr val="D69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849624"/>
            <a:ext cx="502005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420" b="1">
                <a:solidFill>
                  <a:srgbClr val="D69120"/>
                </a:solidFill>
                <a:latin typeface="Arial"/>
              </a:rPr>
              <a:t>Sequence classification [11]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206240"/>
            <a:ext cx="5010912" cy="1545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200" b="0">
                <a:solidFill>
                  <a:srgbClr val="2B3744"/>
                </a:solidFill>
                <a:latin typeface="Arial"/>
              </a:rPr>
              <a:t>Jurgovsky et al. (2018)
Finding: Shows why transaction order and aggregated behavioral features can matter for card-fraud detection.
Limitation: Sequence methods require ordered customer histories; this project evaluates tabular benchmark pipelines.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76472"/>
            <a:ext cx="5285232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776472"/>
            <a:ext cx="82296" cy="2029968"/>
          </a:xfrm>
          <a:prstGeom prst="rect">
            <a:avLst/>
          </a:prstGeom>
          <a:solidFill>
            <a:srgbClr val="22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849624"/>
            <a:ext cx="502005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420" b="1">
                <a:solidFill>
                  <a:srgbClr val="22AAD2"/>
                </a:solidFill>
                <a:latin typeface="Arial"/>
              </a:rPr>
              <a:t>Digital twin security survey [12]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4206240"/>
            <a:ext cx="5010912" cy="1545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200" b="0">
                <a:solidFill>
                  <a:srgbClr val="2B3744"/>
                </a:solidFill>
                <a:latin typeface="Arial"/>
              </a:rPr>
              <a:t>Jeremiah et al. (2024)
Finding: Reviews digital-twin architectures, applications, security challenges, and open research directions.
Limitation: A cross-domain survey; it does not validate a digital twin for financial fraud.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46520"/>
            <a:ext cx="11612880" cy="256032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740" b="0">
                <a:solidFill>
                  <a:srgbClr val="63707E"/>
                </a:solidFill>
                <a:latin typeface="Arial"/>
              </a:rPr>
              <a:t>Survey notes are concise summaries of the cited papers; study results are not project results.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19088"/>
            <a:ext cx="365760" cy="20116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r"/>
            <a:r>
              <a:rPr sz="900" b="0">
                <a:solidFill>
                  <a:srgbClr val="63707E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2500" b="1">
                <a:solidFill>
                  <a:srgbClr val="2B3744"/>
                </a:solidFill>
                <a:latin typeface="Arial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353312"/>
            <a:ext cx="10789920" cy="4983480"/>
          </a:xfrm>
          <a:prstGeom prst="rect">
            <a:avLst/>
          </a:prstGeom>
          <a:noFill/>
        </p:spPr>
        <p:txBody>
          <a:bodyPr wrap="square" lIns="73152" rIns="73152" tIns="54864" bIns="54864">
            <a:normAutofit/>
          </a:bodyPr>
          <a:lstStyle/>
          <a:p>
            <a:pPr>
              <a:spcAft>
                <a:spcPts val="1000"/>
              </a:spcAft>
            </a:pPr>
            <a:r>
              <a:rPr sz="1230">
                <a:solidFill>
                  <a:srgbClr val="2B3744"/>
                </a:solidFill>
                <a:latin typeface="Arial"/>
              </a:rPr>
              <a:t>[1] R. J. Bolton and D. J. Hand, ‘Statistical Fraud Detection: A Review,’ Statistical Science, vol. 17, no. 3, pp. 235–249, 2002. doi:10.1214/ss/1042727940.</a:t>
            </a:r>
          </a:p>
          <a:p>
            <a:pPr>
              <a:spcAft>
                <a:spcPts val="1000"/>
              </a:spcAft>
            </a:pPr>
            <a:r>
              <a:rPr sz="1230">
                <a:solidFill>
                  <a:srgbClr val="2B3744"/>
                </a:solidFill>
                <a:latin typeface="Arial"/>
              </a:rPr>
              <a:t>[2] E. A. Lopez-Rojas, A. Elmir, and S. Axelsson, ‘PaySim: A Financial Mobile Money Simulator for Fraud Detection,’ Proc. 28th European Modeling and Simulation Symposium, 2016.</a:t>
            </a:r>
          </a:p>
          <a:p>
            <a:pPr>
              <a:spcAft>
                <a:spcPts val="1000"/>
              </a:spcAft>
            </a:pPr>
            <a:r>
              <a:rPr sz="1230">
                <a:solidFill>
                  <a:srgbClr val="2B3744"/>
                </a:solidFill>
                <a:latin typeface="Arial"/>
              </a:rPr>
              <a:t>[3] E. A. Lopez-Rojas and S. Axelsson, ‘BankSim: A Bank Payments Simulator for Fraud Detection Research,’ Proc. 26th European Modeling and Simulation Symposium, pp. 144–152, 2014.</a:t>
            </a:r>
          </a:p>
          <a:p>
            <a:pPr>
              <a:spcAft>
                <a:spcPts val="1000"/>
              </a:spcAft>
            </a:pPr>
            <a:r>
              <a:rPr sz="1230">
                <a:solidFill>
                  <a:srgbClr val="2B3744"/>
                </a:solidFill>
                <a:latin typeface="Arial"/>
              </a:rPr>
              <a:t>[4] T. Chen and C. Guestrin, ‘XGBoost: A Scalable Tree Boosting System,’ Proc. ACM SIGKDD, pp. 785–794, 2016. doi:10.1145/2939672.2939785.</a:t>
            </a:r>
          </a:p>
          <a:p>
            <a:pPr>
              <a:spcAft>
                <a:spcPts val="1000"/>
              </a:spcAft>
            </a:pPr>
            <a:r>
              <a:rPr sz="1230">
                <a:solidFill>
                  <a:srgbClr val="2B3744"/>
                </a:solidFill>
                <a:latin typeface="Arial"/>
              </a:rPr>
              <a:t>[5] F. T. Liu, K. M. Ting, and Z.-H. Zhou, ‘Isolation Forest,’ Proc. IEEE ICDM, pp. 413–422, 2008. doi:10.1109/ICDM.2008.17.</a:t>
            </a:r>
          </a:p>
          <a:p>
            <a:pPr>
              <a:spcAft>
                <a:spcPts val="1000"/>
              </a:spcAft>
            </a:pPr>
            <a:r>
              <a:rPr sz="1230">
                <a:solidFill>
                  <a:srgbClr val="2B3744"/>
                </a:solidFill>
                <a:latin typeface="Arial"/>
              </a:rPr>
              <a:t>[6] M. T. Ribeiro, S. Singh, and C. Guestrin, ‘“Why Should I Trust You?” Explaining the Predictions of Any Classifier,’ Proc. ACM SIGKDD, pp. 1135–1144, 2016. doi:10.1145/2939672.2939778.</a:t>
            </a:r>
          </a:p>
          <a:p>
            <a:pPr>
              <a:spcAft>
                <a:spcPts val="1000"/>
              </a:spcAft>
            </a:pPr>
            <a:r>
              <a:rPr sz="1230">
                <a:solidFill>
                  <a:srgbClr val="2B3744"/>
                </a:solidFill>
                <a:latin typeface="Arial"/>
              </a:rPr>
              <a:t>[7] S. M. Lundberg and S.-I. Lee, ‘A Unified Approach to Interpreting Model Predictions,’ Advances in Neural Information Processing Systems 30, 2017.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65760" cy="20116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r"/>
            <a:r>
              <a:rPr sz="900" b="0">
                <a:solidFill>
                  <a:srgbClr val="63707E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2500" b="1">
                <a:solidFill>
                  <a:srgbClr val="2B3744"/>
                </a:solidFill>
                <a:latin typeface="Arial"/>
              </a:rPr>
              <a:t>REFERENCES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353312"/>
            <a:ext cx="10789920" cy="4983480"/>
          </a:xfrm>
          <a:prstGeom prst="rect">
            <a:avLst/>
          </a:prstGeom>
          <a:noFill/>
        </p:spPr>
        <p:txBody>
          <a:bodyPr wrap="square" lIns="73152" rIns="73152" tIns="54864" bIns="54864">
            <a:normAutofit/>
          </a:bodyPr>
          <a:lstStyle/>
          <a:p>
            <a:pPr>
              <a:spcAft>
                <a:spcPts val="1000"/>
              </a:spcAft>
            </a:pPr>
            <a:r>
              <a:rPr sz="1230">
                <a:solidFill>
                  <a:srgbClr val="2B3744"/>
                </a:solidFill>
                <a:latin typeface="Arial"/>
              </a:rPr>
              <a:t>[8] N. V. Chawla, K. W. Bowyer, L. O. Hall, and W. P. Kegelmeyer, ‘SMOTE: Synthetic Minority Over-sampling Technique,’ Journal of Artificial Intelligence Research, vol. 16, pp. 321–357, 2002. doi:10.1613/jair.953.</a:t>
            </a:r>
          </a:p>
          <a:p>
            <a:pPr>
              <a:spcAft>
                <a:spcPts val="1000"/>
              </a:spcAft>
            </a:pPr>
            <a:r>
              <a:rPr sz="1230">
                <a:solidFill>
                  <a:srgbClr val="2B3744"/>
                </a:solidFill>
                <a:latin typeface="Arial"/>
              </a:rPr>
              <a:t>[9] A. Dal Pozzolo, G. Boracchi, O. Caelen, C. Alippi, and G. Bontempi, ‘Credit Card Fraud Detection: A Realistic Modeling and a Novel Learning Strategy,’ IEEE Transactions on Neural Networks and Learning Systems, 2018. doi:10.1109/TNNLS.2017.2736643.</a:t>
            </a:r>
          </a:p>
          <a:p>
            <a:pPr>
              <a:spcAft>
                <a:spcPts val="1000"/>
              </a:spcAft>
            </a:pPr>
            <a:r>
              <a:rPr sz="1230">
                <a:solidFill>
                  <a:srgbClr val="2B3744"/>
                </a:solidFill>
                <a:latin typeface="Arial"/>
              </a:rPr>
              <a:t>[10] F. Carcillo, A. Dal Pozzolo, Y.-A. Le Borgne, O. Caelen, Y. Mazzer, and G. Bontempi, ‘SCARFF: A Scalable Framework for Streaming Credit Card Fraud Detection with Spark,’ Information Fusion, vol. 41, pp. 182–194, 2018. doi:10.1016/j.inffus.2017.09.005.</a:t>
            </a:r>
          </a:p>
          <a:p>
            <a:pPr>
              <a:spcAft>
                <a:spcPts val="1000"/>
              </a:spcAft>
            </a:pPr>
            <a:r>
              <a:rPr sz="1230">
                <a:solidFill>
                  <a:srgbClr val="2B3744"/>
                </a:solidFill>
                <a:latin typeface="Arial"/>
              </a:rPr>
              <a:t>[11] J. Jurgovsky et al., ‘Sequence Classification for Credit-card Fraud Detection,’ Expert Systems with Applications, vol. 100, pp. 234–245, 2018. doi:10.1016/j.eswa.2018.01.037.</a:t>
            </a:r>
          </a:p>
          <a:p>
            <a:pPr>
              <a:spcAft>
                <a:spcPts val="1000"/>
              </a:spcAft>
            </a:pPr>
            <a:r>
              <a:rPr sz="1230">
                <a:solidFill>
                  <a:srgbClr val="2B3744"/>
                </a:solidFill>
                <a:latin typeface="Arial"/>
              </a:rPr>
              <a:t>[12] S. R. Jeremiah, A. El Azzaoui, N. N. Xiong, and J. H. Park, ‘A Comprehensive Survey of Digital Twins: Applications, Technologies and Security Challenges,’ Journal of Systems Architecture, vol. 151, article 103120, 2024. doi:10.1016/j.sysarc.2024.103120.</a:t>
            </a:r>
          </a:p>
          <a:p>
            <a:pPr>
              <a:spcAft>
                <a:spcPts val="1000"/>
              </a:spcAft>
            </a:pPr>
            <a:r>
              <a:rPr sz="1230">
                <a:solidFill>
                  <a:srgbClr val="2B3744"/>
                </a:solidFill>
                <a:latin typeface="Arial"/>
              </a:rPr>
              <a:t>[13] I. Sharafaldin, A. H. Lashkari, and A. A. Ghorbani, ‘Toward Generating a New Intrusion Detection Dataset and Intrusion Traffic Characterization,’ Proc. ICISSP, pp. 108–116, 2018.</a:t>
            </a:r>
          </a:p>
          <a:p>
            <a:pPr>
              <a:spcAft>
                <a:spcPts val="1000"/>
              </a:spcAft>
            </a:pPr>
            <a:r>
              <a:rPr sz="1230">
                <a:solidFill>
                  <a:srgbClr val="2B3744"/>
                </a:solidFill>
                <a:latin typeface="Arial"/>
              </a:rPr>
              <a:t>[14] IEEE Computational Intelligence Society, ‘IEEE-CIS Fraud Detection,’ Kaggle competition dataset, 2019.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65760" cy="20116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r"/>
            <a:r>
              <a:rPr sz="900" b="0">
                <a:solidFill>
                  <a:srgbClr val="63707E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2500" b="1">
                <a:solidFill>
                  <a:srgbClr val="2B3744"/>
                </a:solidFill>
                <a:latin typeface="Arial"/>
              </a:rPr>
              <a:t>10. DATASET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44752"/>
            <a:ext cx="5413248" cy="1719072"/>
          </a:xfrm>
          <a:prstGeom prst="roundRect">
            <a:avLst/>
          </a:prstGeom>
          <a:solidFill>
            <a:srgbClr val="E5F2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444752"/>
            <a:ext cx="82296" cy="1719072"/>
          </a:xfrm>
          <a:prstGeom prst="rect">
            <a:avLst/>
          </a:prstGeom>
          <a:solidFill>
            <a:srgbClr val="12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517904"/>
            <a:ext cx="5148072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500" b="1">
                <a:solidFill>
                  <a:srgbClr val="1282BE"/>
                </a:solidFill>
                <a:latin typeface="Arial"/>
              </a:rPr>
              <a:t>PaySim — Mobile 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874519"/>
            <a:ext cx="5138928" cy="1234439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220" b="0">
                <a:solidFill>
                  <a:srgbClr val="2B3744"/>
                </a:solidFill>
                <a:latin typeface="Arial"/>
              </a:rPr>
              <a:t>Rows used: 250,000 / 6,362,620 available
Fraud cases: 322 (0.13%)  |  Source columns: 11
Simulated mobile-money transactions; stratified sample used for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444752"/>
            <a:ext cx="5413248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6792" y="1444752"/>
            <a:ext cx="82296" cy="1719072"/>
          </a:xfrm>
          <a:prstGeom prst="rect">
            <a:avLst/>
          </a:prstGeom>
          <a:solidFill>
            <a:srgbClr val="2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3" y="1517904"/>
            <a:ext cx="5148072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500" b="1">
                <a:solidFill>
                  <a:srgbClr val="248F84"/>
                </a:solidFill>
                <a:latin typeface="Arial"/>
              </a:rPr>
              <a:t>BankSim — Retail Banking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3" y="1874519"/>
            <a:ext cx="5138928" cy="1234439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220" b="0">
                <a:solidFill>
                  <a:srgbClr val="2B3744"/>
                </a:solidFill>
                <a:latin typeface="Arial"/>
              </a:rPr>
              <a:t>Rows used: 594,643 / 594,643 available
Fraud cases: 7,200 (1.21%)  |  Source columns: 9
Simulated retail-bank transactions; entire available local file used.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3456432"/>
            <a:ext cx="5413248" cy="1719072"/>
          </a:xfrm>
          <a:prstGeom prst="roundRect">
            <a:avLst/>
          </a:prstGeom>
          <a:solidFill>
            <a:srgbClr val="E5F2FA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3456432"/>
            <a:ext cx="82296" cy="1719072"/>
          </a:xfrm>
          <a:prstGeom prst="rect">
            <a:avLst/>
          </a:prstGeom>
          <a:solidFill>
            <a:srgbClr val="D69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529584"/>
            <a:ext cx="5148072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500" b="1">
                <a:solidFill>
                  <a:srgbClr val="D69120"/>
                </a:solidFill>
                <a:latin typeface="Arial"/>
              </a:rPr>
              <a:t>CICIDS2017 — Network Traffic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886200"/>
            <a:ext cx="5138928" cy="1234439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220" b="0">
                <a:solidFill>
                  <a:srgbClr val="2B3744"/>
                </a:solidFill>
                <a:latin typeface="Arial"/>
              </a:rPr>
              <a:t>Rows used: 150,000 / 2,830,743 available
Attack records: 29,549 (19.70%)  |  Source columns: 79
Intrusion-detection task; this is not a financial-fraud dataset.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2" y="3456432"/>
            <a:ext cx="5413248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6792" y="3456432"/>
            <a:ext cx="82296" cy="1719072"/>
          </a:xfrm>
          <a:prstGeom prst="rect">
            <a:avLst/>
          </a:prstGeom>
          <a:solidFill>
            <a:srgbClr val="22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3" y="3529584"/>
            <a:ext cx="5148072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l"/>
            <a:r>
              <a:rPr sz="1500" b="1">
                <a:solidFill>
                  <a:srgbClr val="22AAD2"/>
                </a:solidFill>
                <a:latin typeface="Arial"/>
              </a:rPr>
              <a:t>IEEE-CIS — E-commerce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3" y="3886200"/>
            <a:ext cx="5138928" cy="1234439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220" b="0">
                <a:solidFill>
                  <a:srgbClr val="2B3744"/>
                </a:solidFill>
                <a:latin typeface="Arial"/>
              </a:rPr>
              <a:t>Rows used: 590,540 / 590,540 available
Fraud cases: 20,663 (3.50%)  |  Source columns: 98
Anonymized e-commerce competition data; entire available local file used.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5715000"/>
            <a:ext cx="10789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normAutofit/>
          </a:bodyPr>
          <a:lstStyle/>
          <a:p>
            <a:pPr algn="ctr"/>
            <a:r>
              <a:rPr sz="1170" b="0">
                <a:solidFill>
                  <a:srgbClr val="63707E"/>
                </a:solidFill>
                <a:latin typeface="Arial"/>
              </a:rPr>
              <a:t>PaySim and CICIDS2017 are stratified samples; their card counts refer to the selected sample. Counts are from the saved dataset_stats.json.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19088"/>
            <a:ext cx="365760" cy="20116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r"/>
            <a:r>
              <a:rPr sz="900" b="0">
                <a:solidFill>
                  <a:srgbClr val="63707E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2500" b="1">
                <a:solidFill>
                  <a:srgbClr val="2B3744"/>
                </a:solidFill>
                <a:latin typeface="Arial"/>
              </a:rPr>
              <a:t>11. RESULTS: PaySim + BankSim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1353312"/>
          <a:ext cx="11429999" cy="4151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874519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937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anchor="ctr" marL="32004" marR="32004" marT="22860" marB="22860">
                    <a:solidFill>
                      <a:srgbClr val="508F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anchor="ctr" marL="32004" marR="32004" marT="22860" marB="22860">
                    <a:solidFill>
                      <a:srgbClr val="508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anchor="ctr" marL="32004" marR="32004" marT="22860" marB="22860">
                    <a:solidFill>
                      <a:srgbClr val="508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 anchor="ctr" marL="32004" marR="32004" marT="22860" marB="22860">
                    <a:solidFill>
                      <a:srgbClr val="508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anchor="ctr" marL="32004" marR="32004" marT="22860" marB="22860">
                    <a:solidFill>
                      <a:srgbClr val="508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F1-Score</a:t>
                      </a:r>
                    </a:p>
                  </a:txBody>
                  <a:tcPr anchor="ctr" marL="32004" marR="32004" marT="22860" marB="22860">
                    <a:solidFill>
                      <a:srgbClr val="508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ROC-AUC</a:t>
                      </a:r>
                    </a:p>
                  </a:txBody>
                  <a:tcPr anchor="ctr" marL="32004" marR="32004" marT="22860" marB="22860">
                    <a:solidFill>
                      <a:srgbClr val="508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Threshold</a:t>
                      </a:r>
                    </a:p>
                  </a:txBody>
                  <a:tcPr anchor="ctr" marL="32004" marR="32004" marT="22860" marB="22860">
                    <a:solidFill>
                      <a:srgbClr val="508F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B3744"/>
                          </a:solidFill>
                          <a:latin typeface="Arial"/>
                        </a:rPr>
                        <a:t>PaySim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0.9194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0.0149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0.9531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0.0294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0.9562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0.225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B3744"/>
                          </a:solidFill>
                          <a:latin typeface="Arial"/>
                        </a:rPr>
                        <a:t>PaySim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0.9717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0.0426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0.9844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0.0817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0.9915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0.005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B3744"/>
                          </a:solidFill>
                          <a:latin typeface="Arial"/>
                        </a:rPr>
                        <a:t>PaySim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0.9995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0.7326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0.9844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0.8400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0.9935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0.005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B3744"/>
                          </a:solidFill>
                          <a:latin typeface="Arial"/>
                        </a:rPr>
                        <a:t>PaySim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Isolation Forest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0.9976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0.0758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0.0781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0.0769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0.8551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0.540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B3744"/>
                          </a:solidFill>
                          <a:latin typeface="Arial"/>
                        </a:rPr>
                        <a:t>BankSim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0.9359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0.1415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0.9742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0.2470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0.9908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0.500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B3744"/>
                          </a:solidFill>
                          <a:latin typeface="Arial"/>
                        </a:rPr>
                        <a:t>BankSim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0.9534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0.1807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0.9386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0.3031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0.9920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0.500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B3744"/>
                          </a:solidFill>
                          <a:latin typeface="Arial"/>
                        </a:rPr>
                        <a:t>BankSim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0.9481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0.1673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0.9568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0.2848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0.9927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0.500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B3744"/>
                          </a:solidFill>
                          <a:latin typeface="Arial"/>
                        </a:rPr>
                        <a:t>BankSim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Isolation Forest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0.9787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0.2278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0.4068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0.2921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0.9631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0.525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815584"/>
            <a:ext cx="10881360" cy="393192"/>
          </a:xfrm>
          <a:prstGeom prst="rect">
            <a:avLst/>
          </a:prstGeom>
          <a:solidFill>
            <a:srgbClr val="FBF5E6"/>
          </a:solidFill>
          <a:ln>
            <a:noFill/>
          </a:ln>
        </p:spPr>
        <p:txBody>
          <a:bodyPr wrap="square" anchor="ctr" lIns="73152" rIns="73152" tIns="73152" bIns="73152">
            <a:normAutofit/>
          </a:bodyPr>
          <a:lstStyle/>
          <a:p>
            <a:pPr algn="ctr"/>
            <a:r>
              <a:rPr sz="1150" b="0">
                <a:solidFill>
                  <a:srgbClr val="2B3744"/>
                </a:solidFill>
                <a:latin typeface="Arial"/>
              </a:rPr>
              <a:t>BankSim recall is high, but its 0.1807 precision means many flagged cases are false alarms. PaySim uses a 0.005 threshold on the selected rare-event sample.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0116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r"/>
            <a:r>
              <a:rPr sz="900" b="0">
                <a:solidFill>
                  <a:srgbClr val="63707E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0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rmAutofit/>
          </a:bodyPr>
          <a:lstStyle/>
          <a:p>
            <a:pPr algn="ctr"/>
            <a:r>
              <a:rPr sz="2500" b="1">
                <a:solidFill>
                  <a:srgbClr val="2B3744"/>
                </a:solidFill>
                <a:latin typeface="Arial"/>
              </a:rPr>
              <a:t>11. RESULTS: CICIDS2017 + IEEE-CIS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1353312"/>
          <a:ext cx="11429999" cy="4151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874519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937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anchor="ctr" marL="32004" marR="32004" marT="22860" marB="22860">
                    <a:solidFill>
                      <a:srgbClr val="508F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anchor="ctr" marL="32004" marR="32004" marT="22860" marB="22860">
                    <a:solidFill>
                      <a:srgbClr val="508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anchor="ctr" marL="32004" marR="32004" marT="22860" marB="22860">
                    <a:solidFill>
                      <a:srgbClr val="508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 anchor="ctr" marL="32004" marR="32004" marT="22860" marB="22860">
                    <a:solidFill>
                      <a:srgbClr val="508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anchor="ctr" marL="32004" marR="32004" marT="22860" marB="22860">
                    <a:solidFill>
                      <a:srgbClr val="508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F1-Score</a:t>
                      </a:r>
                    </a:p>
                  </a:txBody>
                  <a:tcPr anchor="ctr" marL="32004" marR="32004" marT="22860" marB="22860">
                    <a:solidFill>
                      <a:srgbClr val="508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ROC-AUC</a:t>
                      </a:r>
                    </a:p>
                  </a:txBody>
                  <a:tcPr anchor="ctr" marL="32004" marR="32004" marT="22860" marB="22860">
                    <a:solidFill>
                      <a:srgbClr val="508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Threshold</a:t>
                      </a:r>
                    </a:p>
                  </a:txBody>
                  <a:tcPr anchor="ctr" marL="32004" marR="32004" marT="22860" marB="22860">
                    <a:solidFill>
                      <a:srgbClr val="508F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B3744"/>
                          </a:solidFill>
                          <a:latin typeface="Arial"/>
                        </a:rPr>
                        <a:t>CICIDS2017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0.8835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0.9562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0.4281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0.5914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0.7604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0.550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B3744"/>
                          </a:solidFill>
                          <a:latin typeface="Arial"/>
                        </a:rPr>
                        <a:t>CICIDS2017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0.8070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0.5051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0.9998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0.6712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0.9995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0.005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B3744"/>
                          </a:solidFill>
                          <a:latin typeface="Arial"/>
                        </a:rPr>
                        <a:t>CICIDS2017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0.8781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0.6179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0.9992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0.7636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0.9989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0.005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B3744"/>
                          </a:solidFill>
                          <a:latin typeface="Arial"/>
                        </a:rPr>
                        <a:t>CICIDS2017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Isolation Forest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0.6755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0.1727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0.1707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0.1717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0.6380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0.490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B3744"/>
                          </a:solidFill>
                          <a:latin typeface="Arial"/>
                        </a:rPr>
                        <a:t>IEEE-CIS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0.6602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0.0791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0.8337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0.1444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0.8302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0.500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B3744"/>
                          </a:solidFill>
                          <a:latin typeface="Arial"/>
                        </a:rPr>
                        <a:t>IEEE-CIS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0.8771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0.1734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0.6828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0.2766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0.8684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0.500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B3744"/>
                          </a:solidFill>
                          <a:latin typeface="Arial"/>
                        </a:rPr>
                        <a:t>IEEE-CIS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0.8379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0.1432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0.7448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0.2403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0.8796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0.500</a:t>
                      </a:r>
                    </a:p>
                  </a:txBody>
                  <a:tcPr anchor="ctr" marL="32004" marR="32004" marT="22860" marB="22860">
                    <a:solidFill>
                      <a:srgbClr val="E5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B3744"/>
                          </a:solidFill>
                          <a:latin typeface="Arial"/>
                        </a:rPr>
                        <a:t>IEEE-CIS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Isolation Forest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0.9102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0.0445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0.0785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0.0568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0.5383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B3744"/>
                          </a:solidFill>
                          <a:latin typeface="Arial"/>
                        </a:rPr>
                        <a:t>0.520</a:t>
                      </a:r>
                    </a:p>
                  </a:txBody>
                  <a:tcPr anchor="ctr" marL="32004" marR="32004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815584"/>
            <a:ext cx="10881360" cy="393192"/>
          </a:xfrm>
          <a:prstGeom prst="rect">
            <a:avLst/>
          </a:prstGeom>
          <a:solidFill>
            <a:srgbClr val="FBF5E6"/>
          </a:solidFill>
          <a:ln>
            <a:noFill/>
          </a:ln>
        </p:spPr>
        <p:txBody>
          <a:bodyPr wrap="square" anchor="ctr" lIns="73152" rIns="73152" tIns="73152" bIns="73152">
            <a:normAutofit/>
          </a:bodyPr>
          <a:lstStyle/>
          <a:p>
            <a:pPr algn="ctr"/>
            <a:r>
              <a:rPr sz="1150" b="0">
                <a:solidFill>
                  <a:srgbClr val="2B3744"/>
                </a:solidFill>
                <a:latin typeface="Arial"/>
              </a:rPr>
              <a:t>CICIDS2017 measures network attack detection, not payment fraud. IEEE-CIS Random Forest reaches 0.6828 recall at 0.1734 precision on its holdout split.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0116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r"/>
            <a:r>
              <a:rPr sz="900" b="0">
                <a:solidFill>
                  <a:srgbClr val="63707E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15877</TotalTime>
  <Words>376</Words>
  <Application>Microsoft Office PowerPoint</Application>
  <PresentationFormat>Custom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&lt;&lt;PROJECT TITLE **ARIAL FONT SIZE 40**&gt;&gt;</vt:lpstr>
      <vt:lpstr>CONTENTS</vt:lpstr>
      <vt:lpstr>1.ABSTRACT</vt:lpstr>
      <vt:lpstr>2. INTRODUCTION</vt:lpstr>
      <vt:lpstr>3.LITERATURE SURVEY</vt:lpstr>
      <vt:lpstr>4. RESEARCH GAPS</vt:lpstr>
      <vt:lpstr>5. OBJECTIVES</vt:lpstr>
      <vt:lpstr>6. RESEARCH WORK DONE</vt:lpstr>
      <vt:lpstr>MODULE IDENTIFICATION</vt:lpstr>
      <vt:lpstr>SYSTEM ARCHITECTURE</vt:lpstr>
      <vt:lpstr>DEVELOPMENT &amp; INTEGRATION</vt:lpstr>
      <vt:lpstr>PROTOTYPE / RESEARCH FRAMEWORK</vt:lpstr>
      <vt:lpstr>7. CONCLUSIONS</vt:lpstr>
      <vt:lpstr>8. OUTCOME</vt:lpstr>
      <vt:lpstr>9. TIMELINE / GANTT CHART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APPROACH TO REDUCE LOAD ON CHANGE IMPACT ANALYSIS OVER SOFTWARE DEVELOPMENT</dc:title>
  <dc:creator>admin</dc:creator>
  <cp:lastModifiedBy>Saravana Rajendran</cp:lastModifiedBy>
  <cp:revision>136</cp:revision>
  <dcterms:created xsi:type="dcterms:W3CDTF">2020-07-13T09:49:45Z</dcterms:created>
  <dcterms:modified xsi:type="dcterms:W3CDTF">2026-09-26T07:05:43Z</dcterms:modified>
</cp:coreProperties>
</file>