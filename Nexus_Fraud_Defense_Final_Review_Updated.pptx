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8"/>
  </p:notesMasterIdLst>
  <p:sldIdLst>
    <p:sldId id="256" r:id="rId2"/>
    <p:sldId id="324" r:id="rId3"/>
    <p:sldId id="259" r:id="rId4"/>
    <p:sldId id="260" r:id="rId5"/>
    <p:sldId id="325" r:id="rId6"/>
    <p:sldId id="336" r:id="rId23"/>
    <p:sldId id="337" r:id="rId24"/>
    <p:sldId id="333" r:id="rId7"/>
    <p:sldId id="334" r:id="rId8"/>
    <p:sldId id="265" r:id="rId9"/>
    <p:sldId id="335" r:id="rId10"/>
    <p:sldId id="312" r:id="rId11"/>
    <p:sldId id="328" r:id="rId12"/>
    <p:sldId id="330" r:id="rId13"/>
    <p:sldId id="332" r:id="rId14"/>
    <p:sldId id="331" r:id="rId15"/>
    <p:sldId id="327" r:id="rId16"/>
    <p:sldId id="338" r:id="rId25"/>
    <p:sldId id="339" r:id="rId26"/>
    <p:sldId id="321" r:id="rId17"/>
  </p:sldIdLst>
  <p:sldSz cx="12801600" cy="7315200"/>
  <p:notesSz cx="6858000" cy="9144000"/>
  <p:defaultTextStyle>
    <a:defPPr>
      <a:defRPr lang="en-US"/>
    </a:defPPr>
    <a:lvl1pPr marL="0" algn="l" defTabSz="1149448" rtl="0" eaLnBrk="1" latinLnBrk="0" hangingPunct="1">
      <a:defRPr sz="2300" kern="1200">
        <a:solidFill>
          <a:schemeClr val="tx1"/>
        </a:solidFill>
        <a:latin typeface="+mn-lt"/>
        <a:ea typeface="+mn-ea"/>
        <a:cs typeface="+mn-cs"/>
      </a:defRPr>
    </a:lvl1pPr>
    <a:lvl2pPr marL="574724" algn="l" defTabSz="1149448" rtl="0" eaLnBrk="1" latinLnBrk="0" hangingPunct="1">
      <a:defRPr sz="2300" kern="1200">
        <a:solidFill>
          <a:schemeClr val="tx1"/>
        </a:solidFill>
        <a:latin typeface="+mn-lt"/>
        <a:ea typeface="+mn-ea"/>
        <a:cs typeface="+mn-cs"/>
      </a:defRPr>
    </a:lvl2pPr>
    <a:lvl3pPr marL="1149448" algn="l" defTabSz="1149448" rtl="0" eaLnBrk="1" latinLnBrk="0" hangingPunct="1">
      <a:defRPr sz="2300" kern="1200">
        <a:solidFill>
          <a:schemeClr val="tx1"/>
        </a:solidFill>
        <a:latin typeface="+mn-lt"/>
        <a:ea typeface="+mn-ea"/>
        <a:cs typeface="+mn-cs"/>
      </a:defRPr>
    </a:lvl3pPr>
    <a:lvl4pPr marL="1724172" algn="l" defTabSz="1149448" rtl="0" eaLnBrk="1" latinLnBrk="0" hangingPunct="1">
      <a:defRPr sz="2300" kern="1200">
        <a:solidFill>
          <a:schemeClr val="tx1"/>
        </a:solidFill>
        <a:latin typeface="+mn-lt"/>
        <a:ea typeface="+mn-ea"/>
        <a:cs typeface="+mn-cs"/>
      </a:defRPr>
    </a:lvl4pPr>
    <a:lvl5pPr marL="2298895" algn="l" defTabSz="1149448" rtl="0" eaLnBrk="1" latinLnBrk="0" hangingPunct="1">
      <a:defRPr sz="2300" kern="1200">
        <a:solidFill>
          <a:schemeClr val="tx1"/>
        </a:solidFill>
        <a:latin typeface="+mn-lt"/>
        <a:ea typeface="+mn-ea"/>
        <a:cs typeface="+mn-cs"/>
      </a:defRPr>
    </a:lvl5pPr>
    <a:lvl6pPr marL="2873621" algn="l" defTabSz="1149448" rtl="0" eaLnBrk="1" latinLnBrk="0" hangingPunct="1">
      <a:defRPr sz="2300" kern="1200">
        <a:solidFill>
          <a:schemeClr val="tx1"/>
        </a:solidFill>
        <a:latin typeface="+mn-lt"/>
        <a:ea typeface="+mn-ea"/>
        <a:cs typeface="+mn-cs"/>
      </a:defRPr>
    </a:lvl6pPr>
    <a:lvl7pPr marL="3448344" algn="l" defTabSz="1149448" rtl="0" eaLnBrk="1" latinLnBrk="0" hangingPunct="1">
      <a:defRPr sz="2300" kern="1200">
        <a:solidFill>
          <a:schemeClr val="tx1"/>
        </a:solidFill>
        <a:latin typeface="+mn-lt"/>
        <a:ea typeface="+mn-ea"/>
        <a:cs typeface="+mn-cs"/>
      </a:defRPr>
    </a:lvl7pPr>
    <a:lvl8pPr marL="4023069" algn="l" defTabSz="1149448" rtl="0" eaLnBrk="1" latinLnBrk="0" hangingPunct="1">
      <a:defRPr sz="2300" kern="1200">
        <a:solidFill>
          <a:schemeClr val="tx1"/>
        </a:solidFill>
        <a:latin typeface="+mn-lt"/>
        <a:ea typeface="+mn-ea"/>
        <a:cs typeface="+mn-cs"/>
      </a:defRPr>
    </a:lvl8pPr>
    <a:lvl9pPr marL="4597793" algn="l" defTabSz="1149448" rtl="0" eaLnBrk="1" latinLnBrk="0" hangingPunct="1">
      <a:defRPr sz="23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04">
          <p15:clr>
            <a:srgbClr val="A4A3A4"/>
          </p15:clr>
        </p15:guide>
        <p15:guide id="2" pos="403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4E1F2"/>
    <a:srgbClr val="558ED5"/>
    <a:srgbClr val="C6D9F1"/>
    <a:srgbClr val="558E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3" d="100"/>
          <a:sy n="73" d="100"/>
        </p:scale>
        <p:origin x="902" y="67"/>
      </p:cViewPr>
      <p:guideLst>
        <p:guide orient="horz" pos="2304"/>
        <p:guide pos="403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4CD7A36-15CF-4B40-B7C9-B299C824610E}" type="datetimeFigureOut">
              <a:rPr lang="en-US" smtClean="0"/>
              <a:t>9/26/2026</a:t>
            </a:fld>
            <a:endParaRPr lang="en-US"/>
          </a:p>
        </p:txBody>
      </p:sp>
      <p:sp>
        <p:nvSpPr>
          <p:cNvPr id="4" name="Slide Image Placeholder 3"/>
          <p:cNvSpPr>
            <a:spLocks noGrp="1" noRot="1" noChangeAspect="1"/>
          </p:cNvSpPr>
          <p:nvPr>
            <p:ph type="sldImg" idx="2"/>
          </p:nvPr>
        </p:nvSpPr>
        <p:spPr>
          <a:xfrm>
            <a:off x="428625" y="685800"/>
            <a:ext cx="600075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3DE4103-D868-498D-BB7B-ABDA25F9744E}" type="slidenum">
              <a:rPr lang="en-US" smtClean="0"/>
              <a:t>‹#›</a:t>
            </a:fld>
            <a:endParaRPr lang="en-US"/>
          </a:p>
        </p:txBody>
      </p:sp>
    </p:spTree>
    <p:extLst>
      <p:ext uri="{BB962C8B-B14F-4D97-AF65-F5344CB8AC3E}">
        <p14:creationId xmlns:p14="http://schemas.microsoft.com/office/powerpoint/2010/main" val="4146365420"/>
      </p:ext>
    </p:extLst>
  </p:cSld>
  <p:clrMap bg1="lt1" tx1="dk1" bg2="lt2" tx2="dk2" accent1="accent1" accent2="accent2" accent3="accent3" accent4="accent4" accent5="accent5" accent6="accent6" hlink="hlink" folHlink="folHlink"/>
  <p:notesStyle>
    <a:lvl1pPr marL="0" algn="l" defTabSz="1149448" rtl="0" eaLnBrk="1" latinLnBrk="0" hangingPunct="1">
      <a:defRPr sz="1500" kern="1200">
        <a:solidFill>
          <a:schemeClr val="tx1"/>
        </a:solidFill>
        <a:latin typeface="+mn-lt"/>
        <a:ea typeface="+mn-ea"/>
        <a:cs typeface="+mn-cs"/>
      </a:defRPr>
    </a:lvl1pPr>
    <a:lvl2pPr marL="574724" algn="l" defTabSz="1149448" rtl="0" eaLnBrk="1" latinLnBrk="0" hangingPunct="1">
      <a:defRPr sz="1500" kern="1200">
        <a:solidFill>
          <a:schemeClr val="tx1"/>
        </a:solidFill>
        <a:latin typeface="+mn-lt"/>
        <a:ea typeface="+mn-ea"/>
        <a:cs typeface="+mn-cs"/>
      </a:defRPr>
    </a:lvl2pPr>
    <a:lvl3pPr marL="1149448" algn="l" defTabSz="1149448" rtl="0" eaLnBrk="1" latinLnBrk="0" hangingPunct="1">
      <a:defRPr sz="1500" kern="1200">
        <a:solidFill>
          <a:schemeClr val="tx1"/>
        </a:solidFill>
        <a:latin typeface="+mn-lt"/>
        <a:ea typeface="+mn-ea"/>
        <a:cs typeface="+mn-cs"/>
      </a:defRPr>
    </a:lvl3pPr>
    <a:lvl4pPr marL="1724172" algn="l" defTabSz="1149448" rtl="0" eaLnBrk="1" latinLnBrk="0" hangingPunct="1">
      <a:defRPr sz="1500" kern="1200">
        <a:solidFill>
          <a:schemeClr val="tx1"/>
        </a:solidFill>
        <a:latin typeface="+mn-lt"/>
        <a:ea typeface="+mn-ea"/>
        <a:cs typeface="+mn-cs"/>
      </a:defRPr>
    </a:lvl4pPr>
    <a:lvl5pPr marL="2298895" algn="l" defTabSz="1149448" rtl="0" eaLnBrk="1" latinLnBrk="0" hangingPunct="1">
      <a:defRPr sz="1500" kern="1200">
        <a:solidFill>
          <a:schemeClr val="tx1"/>
        </a:solidFill>
        <a:latin typeface="+mn-lt"/>
        <a:ea typeface="+mn-ea"/>
        <a:cs typeface="+mn-cs"/>
      </a:defRPr>
    </a:lvl5pPr>
    <a:lvl6pPr marL="2873621" algn="l" defTabSz="1149448" rtl="0" eaLnBrk="1" latinLnBrk="0" hangingPunct="1">
      <a:defRPr sz="1500" kern="1200">
        <a:solidFill>
          <a:schemeClr val="tx1"/>
        </a:solidFill>
        <a:latin typeface="+mn-lt"/>
        <a:ea typeface="+mn-ea"/>
        <a:cs typeface="+mn-cs"/>
      </a:defRPr>
    </a:lvl6pPr>
    <a:lvl7pPr marL="3448344" algn="l" defTabSz="1149448" rtl="0" eaLnBrk="1" latinLnBrk="0" hangingPunct="1">
      <a:defRPr sz="1500" kern="1200">
        <a:solidFill>
          <a:schemeClr val="tx1"/>
        </a:solidFill>
        <a:latin typeface="+mn-lt"/>
        <a:ea typeface="+mn-ea"/>
        <a:cs typeface="+mn-cs"/>
      </a:defRPr>
    </a:lvl7pPr>
    <a:lvl8pPr marL="4023069" algn="l" defTabSz="1149448" rtl="0" eaLnBrk="1" latinLnBrk="0" hangingPunct="1">
      <a:defRPr sz="1500" kern="1200">
        <a:solidFill>
          <a:schemeClr val="tx1"/>
        </a:solidFill>
        <a:latin typeface="+mn-lt"/>
        <a:ea typeface="+mn-ea"/>
        <a:cs typeface="+mn-cs"/>
      </a:defRPr>
    </a:lvl8pPr>
    <a:lvl9pPr marL="4597793" algn="l" defTabSz="1149448" rtl="0" eaLnBrk="1" latinLnBrk="0" hangingPunct="1">
      <a:defRPr sz="15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60120" y="2272456"/>
            <a:ext cx="10881360" cy="1568027"/>
          </a:xfrm>
        </p:spPr>
        <p:txBody>
          <a:bodyPr/>
          <a:lstStyle/>
          <a:p>
            <a:r>
              <a:rPr lang="en-US"/>
              <a:t>Click to edit Master title style</a:t>
            </a:r>
          </a:p>
        </p:txBody>
      </p:sp>
      <p:sp>
        <p:nvSpPr>
          <p:cNvPr id="3" name="Subtitle 2"/>
          <p:cNvSpPr>
            <a:spLocks noGrp="1"/>
          </p:cNvSpPr>
          <p:nvPr>
            <p:ph type="subTitle" idx="1"/>
          </p:nvPr>
        </p:nvSpPr>
        <p:spPr>
          <a:xfrm>
            <a:off x="1920240" y="4145280"/>
            <a:ext cx="8961120" cy="1869440"/>
          </a:xfrm>
        </p:spPr>
        <p:txBody>
          <a:bodyPr/>
          <a:lstStyle>
            <a:lvl1pPr marL="0" indent="0" algn="ctr">
              <a:buNone/>
              <a:defRPr>
                <a:solidFill>
                  <a:schemeClr val="tx1">
                    <a:tint val="75000"/>
                  </a:schemeClr>
                </a:solidFill>
              </a:defRPr>
            </a:lvl1pPr>
            <a:lvl2pPr marL="574724" indent="0" algn="ctr">
              <a:buNone/>
              <a:defRPr>
                <a:solidFill>
                  <a:schemeClr val="tx1">
                    <a:tint val="75000"/>
                  </a:schemeClr>
                </a:solidFill>
              </a:defRPr>
            </a:lvl2pPr>
            <a:lvl3pPr marL="1149448" indent="0" algn="ctr">
              <a:buNone/>
              <a:defRPr>
                <a:solidFill>
                  <a:schemeClr val="tx1">
                    <a:tint val="75000"/>
                  </a:schemeClr>
                </a:solidFill>
              </a:defRPr>
            </a:lvl3pPr>
            <a:lvl4pPr marL="1724172" indent="0" algn="ctr">
              <a:buNone/>
              <a:defRPr>
                <a:solidFill>
                  <a:schemeClr val="tx1">
                    <a:tint val="75000"/>
                  </a:schemeClr>
                </a:solidFill>
              </a:defRPr>
            </a:lvl4pPr>
            <a:lvl5pPr marL="2298895" indent="0" algn="ctr">
              <a:buNone/>
              <a:defRPr>
                <a:solidFill>
                  <a:schemeClr val="tx1">
                    <a:tint val="75000"/>
                  </a:schemeClr>
                </a:solidFill>
              </a:defRPr>
            </a:lvl5pPr>
            <a:lvl6pPr marL="2873621" indent="0" algn="ctr">
              <a:buNone/>
              <a:defRPr>
                <a:solidFill>
                  <a:schemeClr val="tx1">
                    <a:tint val="75000"/>
                  </a:schemeClr>
                </a:solidFill>
              </a:defRPr>
            </a:lvl6pPr>
            <a:lvl7pPr marL="3448344" indent="0" algn="ctr">
              <a:buNone/>
              <a:defRPr>
                <a:solidFill>
                  <a:schemeClr val="tx1">
                    <a:tint val="75000"/>
                  </a:schemeClr>
                </a:solidFill>
              </a:defRPr>
            </a:lvl7pPr>
            <a:lvl8pPr marL="4023069" indent="0" algn="ctr">
              <a:buNone/>
              <a:defRPr>
                <a:solidFill>
                  <a:schemeClr val="tx1">
                    <a:tint val="75000"/>
                  </a:schemeClr>
                </a:solidFill>
              </a:defRPr>
            </a:lvl8pPr>
            <a:lvl9pPr marL="4597793"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C2E1E87-9C15-4984-91E0-215221CAF7F6}" type="datetime1">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25058825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1116BE9-D6CB-4D14-A12D-7F5512E1435B}" type="datetime1">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11410616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11238" y="4700695"/>
            <a:ext cx="10881360" cy="1452880"/>
          </a:xfrm>
        </p:spPr>
        <p:txBody>
          <a:bodyPr anchor="t"/>
          <a:lstStyle>
            <a:lvl1pPr algn="l">
              <a:defRPr sz="5100" b="1" cap="all"/>
            </a:lvl1pPr>
          </a:lstStyle>
          <a:p>
            <a:r>
              <a:rPr lang="en-US"/>
              <a:t>Click to edit Master title style</a:t>
            </a:r>
          </a:p>
        </p:txBody>
      </p:sp>
      <p:sp>
        <p:nvSpPr>
          <p:cNvPr id="3" name="Text Placeholder 2"/>
          <p:cNvSpPr>
            <a:spLocks noGrp="1"/>
          </p:cNvSpPr>
          <p:nvPr>
            <p:ph type="body" idx="1"/>
          </p:nvPr>
        </p:nvSpPr>
        <p:spPr>
          <a:xfrm>
            <a:off x="1011238" y="3100496"/>
            <a:ext cx="10881360" cy="1600199"/>
          </a:xfrm>
        </p:spPr>
        <p:txBody>
          <a:bodyPr anchor="b"/>
          <a:lstStyle>
            <a:lvl1pPr marL="0" indent="0">
              <a:buNone/>
              <a:defRPr sz="2500">
                <a:solidFill>
                  <a:schemeClr val="tx1">
                    <a:tint val="75000"/>
                  </a:schemeClr>
                </a:solidFill>
              </a:defRPr>
            </a:lvl1pPr>
            <a:lvl2pPr marL="574724" indent="0">
              <a:buNone/>
              <a:defRPr sz="2300">
                <a:solidFill>
                  <a:schemeClr val="tx1">
                    <a:tint val="75000"/>
                  </a:schemeClr>
                </a:solidFill>
              </a:defRPr>
            </a:lvl2pPr>
            <a:lvl3pPr marL="1149448" indent="0">
              <a:buNone/>
              <a:defRPr sz="2000">
                <a:solidFill>
                  <a:schemeClr val="tx1">
                    <a:tint val="75000"/>
                  </a:schemeClr>
                </a:solidFill>
              </a:defRPr>
            </a:lvl3pPr>
            <a:lvl4pPr marL="1724172" indent="0">
              <a:buNone/>
              <a:defRPr sz="1800">
                <a:solidFill>
                  <a:schemeClr val="tx1">
                    <a:tint val="75000"/>
                  </a:schemeClr>
                </a:solidFill>
              </a:defRPr>
            </a:lvl4pPr>
            <a:lvl5pPr marL="2298895" indent="0">
              <a:buNone/>
              <a:defRPr sz="1800">
                <a:solidFill>
                  <a:schemeClr val="tx1">
                    <a:tint val="75000"/>
                  </a:schemeClr>
                </a:solidFill>
              </a:defRPr>
            </a:lvl5pPr>
            <a:lvl6pPr marL="2873621" indent="0">
              <a:buNone/>
              <a:defRPr sz="1800">
                <a:solidFill>
                  <a:schemeClr val="tx1">
                    <a:tint val="75000"/>
                  </a:schemeClr>
                </a:solidFill>
              </a:defRPr>
            </a:lvl6pPr>
            <a:lvl7pPr marL="3448344" indent="0">
              <a:buNone/>
              <a:defRPr sz="1800">
                <a:solidFill>
                  <a:schemeClr val="tx1">
                    <a:tint val="75000"/>
                  </a:schemeClr>
                </a:solidFill>
              </a:defRPr>
            </a:lvl7pPr>
            <a:lvl8pPr marL="4023069" indent="0">
              <a:buNone/>
              <a:defRPr sz="1800">
                <a:solidFill>
                  <a:schemeClr val="tx1">
                    <a:tint val="75000"/>
                  </a:schemeClr>
                </a:solidFill>
              </a:defRPr>
            </a:lvl8pPr>
            <a:lvl9pPr marL="4597793" indent="0">
              <a:buNone/>
              <a:defRPr sz="18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12A9D04-24B9-408C-A000-3B78FDBD0AEB}" type="datetime1">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4860235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40080" y="1706880"/>
            <a:ext cx="5654040" cy="4827694"/>
          </a:xfrm>
        </p:spPr>
        <p:txBody>
          <a:bodyPr/>
          <a:lstStyle>
            <a:lvl1pPr>
              <a:defRPr sz="3500"/>
            </a:lvl1pPr>
            <a:lvl2pPr>
              <a:defRPr sz="3000"/>
            </a:lvl2pPr>
            <a:lvl3pPr>
              <a:defRPr sz="2500"/>
            </a:lvl3pPr>
            <a:lvl4pPr>
              <a:defRPr sz="2300"/>
            </a:lvl4pPr>
            <a:lvl5pPr>
              <a:defRPr sz="2300"/>
            </a:lvl5pPr>
            <a:lvl6pPr>
              <a:defRPr sz="2300"/>
            </a:lvl6pPr>
            <a:lvl7pPr>
              <a:defRPr sz="2300"/>
            </a:lvl7pPr>
            <a:lvl8pPr>
              <a:defRPr sz="2300"/>
            </a:lvl8pPr>
            <a:lvl9pPr>
              <a:defRPr sz="2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507480" y="1706880"/>
            <a:ext cx="5654040" cy="4827694"/>
          </a:xfrm>
        </p:spPr>
        <p:txBody>
          <a:bodyPr/>
          <a:lstStyle>
            <a:lvl1pPr>
              <a:defRPr sz="3500"/>
            </a:lvl1pPr>
            <a:lvl2pPr>
              <a:defRPr sz="3000"/>
            </a:lvl2pPr>
            <a:lvl3pPr>
              <a:defRPr sz="2500"/>
            </a:lvl3pPr>
            <a:lvl4pPr>
              <a:defRPr sz="2300"/>
            </a:lvl4pPr>
            <a:lvl5pPr>
              <a:defRPr sz="2300"/>
            </a:lvl5pPr>
            <a:lvl6pPr>
              <a:defRPr sz="2300"/>
            </a:lvl6pPr>
            <a:lvl7pPr>
              <a:defRPr sz="2300"/>
            </a:lvl7pPr>
            <a:lvl8pPr>
              <a:defRPr sz="2300"/>
            </a:lvl8pPr>
            <a:lvl9pPr>
              <a:defRPr sz="2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2B91B48-F2B5-44C0-A324-732125246729}" type="datetime1">
              <a:rPr lang="en-US" smtClean="0"/>
              <a:t>9/26/2026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4189833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40080" y="1637454"/>
            <a:ext cx="5656263" cy="682414"/>
          </a:xfrm>
        </p:spPr>
        <p:txBody>
          <a:bodyPr anchor="b"/>
          <a:lstStyle>
            <a:lvl1pPr marL="0" indent="0">
              <a:buNone/>
              <a:defRPr sz="3000" b="1"/>
            </a:lvl1pPr>
            <a:lvl2pPr marL="574724" indent="0">
              <a:buNone/>
              <a:defRPr sz="2500" b="1"/>
            </a:lvl2pPr>
            <a:lvl3pPr marL="1149448" indent="0">
              <a:buNone/>
              <a:defRPr sz="2300" b="1"/>
            </a:lvl3pPr>
            <a:lvl4pPr marL="1724172" indent="0">
              <a:buNone/>
              <a:defRPr sz="2000" b="1"/>
            </a:lvl4pPr>
            <a:lvl5pPr marL="2298895" indent="0">
              <a:buNone/>
              <a:defRPr sz="2000" b="1"/>
            </a:lvl5pPr>
            <a:lvl6pPr marL="2873621" indent="0">
              <a:buNone/>
              <a:defRPr sz="2000" b="1"/>
            </a:lvl6pPr>
            <a:lvl7pPr marL="3448344" indent="0">
              <a:buNone/>
              <a:defRPr sz="2000" b="1"/>
            </a:lvl7pPr>
            <a:lvl8pPr marL="4023069" indent="0">
              <a:buNone/>
              <a:defRPr sz="2000" b="1"/>
            </a:lvl8pPr>
            <a:lvl9pPr marL="4597793" indent="0">
              <a:buNone/>
              <a:defRPr sz="2000" b="1"/>
            </a:lvl9pPr>
          </a:lstStyle>
          <a:p>
            <a:pPr lvl="0"/>
            <a:r>
              <a:rPr lang="en-US"/>
              <a:t>Click to edit Master text styles</a:t>
            </a:r>
          </a:p>
        </p:txBody>
      </p:sp>
      <p:sp>
        <p:nvSpPr>
          <p:cNvPr id="4" name="Content Placeholder 3"/>
          <p:cNvSpPr>
            <a:spLocks noGrp="1"/>
          </p:cNvSpPr>
          <p:nvPr>
            <p:ph sz="half" idx="2"/>
          </p:nvPr>
        </p:nvSpPr>
        <p:spPr>
          <a:xfrm>
            <a:off x="640080" y="2319868"/>
            <a:ext cx="5656263" cy="4214707"/>
          </a:xfrm>
        </p:spPr>
        <p:txBody>
          <a:bodyPr/>
          <a:lstStyle>
            <a:lvl1pPr>
              <a:defRPr sz="3000"/>
            </a:lvl1pPr>
            <a:lvl2pPr>
              <a:defRPr sz="2500"/>
            </a:lvl2pPr>
            <a:lvl3pPr>
              <a:defRPr sz="23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503037" y="1637454"/>
            <a:ext cx="5658485" cy="682414"/>
          </a:xfrm>
        </p:spPr>
        <p:txBody>
          <a:bodyPr anchor="b"/>
          <a:lstStyle>
            <a:lvl1pPr marL="0" indent="0">
              <a:buNone/>
              <a:defRPr sz="3000" b="1"/>
            </a:lvl1pPr>
            <a:lvl2pPr marL="574724" indent="0">
              <a:buNone/>
              <a:defRPr sz="2500" b="1"/>
            </a:lvl2pPr>
            <a:lvl3pPr marL="1149448" indent="0">
              <a:buNone/>
              <a:defRPr sz="2300" b="1"/>
            </a:lvl3pPr>
            <a:lvl4pPr marL="1724172" indent="0">
              <a:buNone/>
              <a:defRPr sz="2000" b="1"/>
            </a:lvl4pPr>
            <a:lvl5pPr marL="2298895" indent="0">
              <a:buNone/>
              <a:defRPr sz="2000" b="1"/>
            </a:lvl5pPr>
            <a:lvl6pPr marL="2873621" indent="0">
              <a:buNone/>
              <a:defRPr sz="2000" b="1"/>
            </a:lvl6pPr>
            <a:lvl7pPr marL="3448344" indent="0">
              <a:buNone/>
              <a:defRPr sz="2000" b="1"/>
            </a:lvl7pPr>
            <a:lvl8pPr marL="4023069" indent="0">
              <a:buNone/>
              <a:defRPr sz="2000" b="1"/>
            </a:lvl8pPr>
            <a:lvl9pPr marL="4597793" indent="0">
              <a:buNone/>
              <a:defRPr sz="2000" b="1"/>
            </a:lvl9pPr>
          </a:lstStyle>
          <a:p>
            <a:pPr lvl="0"/>
            <a:r>
              <a:rPr lang="en-US"/>
              <a:t>Click to edit Master text styles</a:t>
            </a:r>
          </a:p>
        </p:txBody>
      </p:sp>
      <p:sp>
        <p:nvSpPr>
          <p:cNvPr id="6" name="Content Placeholder 5"/>
          <p:cNvSpPr>
            <a:spLocks noGrp="1"/>
          </p:cNvSpPr>
          <p:nvPr>
            <p:ph sz="quarter" idx="4"/>
          </p:nvPr>
        </p:nvSpPr>
        <p:spPr>
          <a:xfrm>
            <a:off x="6503037" y="2319868"/>
            <a:ext cx="5658485" cy="4214707"/>
          </a:xfrm>
        </p:spPr>
        <p:txBody>
          <a:bodyPr/>
          <a:lstStyle>
            <a:lvl1pPr>
              <a:defRPr sz="3000"/>
            </a:lvl1pPr>
            <a:lvl2pPr>
              <a:defRPr sz="2500"/>
            </a:lvl2pPr>
            <a:lvl3pPr>
              <a:defRPr sz="23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8337E91-F602-4F18-92CA-FB1A231376B0}" type="datetime1">
              <a:rPr lang="en-US" smtClean="0"/>
              <a:t>9/26/2026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1793677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0818EFE-411D-495F-AE32-482368671348}" type="datetime1">
              <a:rPr lang="en-US" smtClean="0"/>
              <a:t>9/26/2026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20362177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6129DD-E279-4A67-BA32-75987FE76FB7}" type="datetime1">
              <a:rPr lang="en-US" smtClean="0"/>
              <a:t>9/26/2026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18440107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0082" y="291252"/>
            <a:ext cx="4211638" cy="1239521"/>
          </a:xfrm>
        </p:spPr>
        <p:txBody>
          <a:bodyPr anchor="b"/>
          <a:lstStyle>
            <a:lvl1pPr algn="l">
              <a:defRPr sz="2500" b="1"/>
            </a:lvl1pPr>
          </a:lstStyle>
          <a:p>
            <a:r>
              <a:rPr lang="en-US"/>
              <a:t>Click to edit Master title style</a:t>
            </a:r>
          </a:p>
        </p:txBody>
      </p:sp>
      <p:sp>
        <p:nvSpPr>
          <p:cNvPr id="3" name="Content Placeholder 2"/>
          <p:cNvSpPr>
            <a:spLocks noGrp="1"/>
          </p:cNvSpPr>
          <p:nvPr>
            <p:ph idx="1"/>
          </p:nvPr>
        </p:nvSpPr>
        <p:spPr>
          <a:xfrm>
            <a:off x="5005070" y="291255"/>
            <a:ext cx="7156450" cy="6243321"/>
          </a:xfrm>
        </p:spPr>
        <p:txBody>
          <a:bodyPr/>
          <a:lstStyle>
            <a:lvl1pPr>
              <a:defRPr sz="3900"/>
            </a:lvl1pPr>
            <a:lvl2pPr>
              <a:defRPr sz="3500"/>
            </a:lvl2pPr>
            <a:lvl3pPr>
              <a:defRPr sz="3000"/>
            </a:lvl3pPr>
            <a:lvl4pPr>
              <a:defRPr sz="2500"/>
            </a:lvl4pPr>
            <a:lvl5pPr>
              <a:defRPr sz="2500"/>
            </a:lvl5pPr>
            <a:lvl6pPr>
              <a:defRPr sz="2500"/>
            </a:lvl6pPr>
            <a:lvl7pPr>
              <a:defRPr sz="2500"/>
            </a:lvl7pPr>
            <a:lvl8pPr>
              <a:defRPr sz="2500"/>
            </a:lvl8pPr>
            <a:lvl9pPr>
              <a:defRPr sz="2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40082" y="1530775"/>
            <a:ext cx="4211638" cy="5003802"/>
          </a:xfrm>
        </p:spPr>
        <p:txBody>
          <a:bodyPr/>
          <a:lstStyle>
            <a:lvl1pPr marL="0" indent="0">
              <a:buNone/>
              <a:defRPr sz="1800"/>
            </a:lvl1pPr>
            <a:lvl2pPr marL="574724" indent="0">
              <a:buNone/>
              <a:defRPr sz="1500"/>
            </a:lvl2pPr>
            <a:lvl3pPr marL="1149448" indent="0">
              <a:buNone/>
              <a:defRPr sz="1300"/>
            </a:lvl3pPr>
            <a:lvl4pPr marL="1724172" indent="0">
              <a:buNone/>
              <a:defRPr sz="1100"/>
            </a:lvl4pPr>
            <a:lvl5pPr marL="2298895" indent="0">
              <a:buNone/>
              <a:defRPr sz="1100"/>
            </a:lvl5pPr>
            <a:lvl6pPr marL="2873621" indent="0">
              <a:buNone/>
              <a:defRPr sz="1100"/>
            </a:lvl6pPr>
            <a:lvl7pPr marL="3448344" indent="0">
              <a:buNone/>
              <a:defRPr sz="1100"/>
            </a:lvl7pPr>
            <a:lvl8pPr marL="4023069" indent="0">
              <a:buNone/>
              <a:defRPr sz="1100"/>
            </a:lvl8pPr>
            <a:lvl9pPr marL="459779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E97BA02B-9B73-458F-B848-E99C8FA83242}" type="datetime1">
              <a:rPr lang="en-US" smtClean="0"/>
              <a:t>9/26/2026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16849433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09203" y="5120640"/>
            <a:ext cx="7680960" cy="604521"/>
          </a:xfrm>
        </p:spPr>
        <p:txBody>
          <a:bodyPr anchor="b"/>
          <a:lstStyle>
            <a:lvl1pPr algn="l">
              <a:defRPr sz="2500" b="1"/>
            </a:lvl1pPr>
          </a:lstStyle>
          <a:p>
            <a:r>
              <a:rPr lang="en-US"/>
              <a:t>Click to edit Master title style</a:t>
            </a:r>
          </a:p>
        </p:txBody>
      </p:sp>
      <p:sp>
        <p:nvSpPr>
          <p:cNvPr id="3" name="Picture Placeholder 2"/>
          <p:cNvSpPr>
            <a:spLocks noGrp="1"/>
          </p:cNvSpPr>
          <p:nvPr>
            <p:ph type="pic" idx="1"/>
          </p:nvPr>
        </p:nvSpPr>
        <p:spPr>
          <a:xfrm>
            <a:off x="2509203" y="653626"/>
            <a:ext cx="7680960" cy="4389120"/>
          </a:xfrm>
        </p:spPr>
        <p:txBody>
          <a:bodyPr/>
          <a:lstStyle>
            <a:lvl1pPr marL="0" indent="0">
              <a:buNone/>
              <a:defRPr sz="3900"/>
            </a:lvl1pPr>
            <a:lvl2pPr marL="574724" indent="0">
              <a:buNone/>
              <a:defRPr sz="3500"/>
            </a:lvl2pPr>
            <a:lvl3pPr marL="1149448" indent="0">
              <a:buNone/>
              <a:defRPr sz="3000"/>
            </a:lvl3pPr>
            <a:lvl4pPr marL="1724172" indent="0">
              <a:buNone/>
              <a:defRPr sz="2500"/>
            </a:lvl4pPr>
            <a:lvl5pPr marL="2298895" indent="0">
              <a:buNone/>
              <a:defRPr sz="2500"/>
            </a:lvl5pPr>
            <a:lvl6pPr marL="2873621" indent="0">
              <a:buNone/>
              <a:defRPr sz="2500"/>
            </a:lvl6pPr>
            <a:lvl7pPr marL="3448344" indent="0">
              <a:buNone/>
              <a:defRPr sz="2500"/>
            </a:lvl7pPr>
            <a:lvl8pPr marL="4023069" indent="0">
              <a:buNone/>
              <a:defRPr sz="2500"/>
            </a:lvl8pPr>
            <a:lvl9pPr marL="4597793" indent="0">
              <a:buNone/>
              <a:defRPr sz="2500"/>
            </a:lvl9pPr>
          </a:lstStyle>
          <a:p>
            <a:endParaRPr lang="en-US"/>
          </a:p>
        </p:txBody>
      </p:sp>
      <p:sp>
        <p:nvSpPr>
          <p:cNvPr id="4" name="Text Placeholder 3"/>
          <p:cNvSpPr>
            <a:spLocks noGrp="1"/>
          </p:cNvSpPr>
          <p:nvPr>
            <p:ph type="body" sz="half" idx="2"/>
          </p:nvPr>
        </p:nvSpPr>
        <p:spPr>
          <a:xfrm>
            <a:off x="2509203" y="5725161"/>
            <a:ext cx="7680960" cy="858519"/>
          </a:xfrm>
        </p:spPr>
        <p:txBody>
          <a:bodyPr/>
          <a:lstStyle>
            <a:lvl1pPr marL="0" indent="0">
              <a:buNone/>
              <a:defRPr sz="1800"/>
            </a:lvl1pPr>
            <a:lvl2pPr marL="574724" indent="0">
              <a:buNone/>
              <a:defRPr sz="1500"/>
            </a:lvl2pPr>
            <a:lvl3pPr marL="1149448" indent="0">
              <a:buNone/>
              <a:defRPr sz="1300"/>
            </a:lvl3pPr>
            <a:lvl4pPr marL="1724172" indent="0">
              <a:buNone/>
              <a:defRPr sz="1100"/>
            </a:lvl4pPr>
            <a:lvl5pPr marL="2298895" indent="0">
              <a:buNone/>
              <a:defRPr sz="1100"/>
            </a:lvl5pPr>
            <a:lvl6pPr marL="2873621" indent="0">
              <a:buNone/>
              <a:defRPr sz="1100"/>
            </a:lvl6pPr>
            <a:lvl7pPr marL="3448344" indent="0">
              <a:buNone/>
              <a:defRPr sz="1100"/>
            </a:lvl7pPr>
            <a:lvl8pPr marL="4023069" indent="0">
              <a:buNone/>
              <a:defRPr sz="1100"/>
            </a:lvl8pPr>
            <a:lvl9pPr marL="459779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33752997-1B9E-4EF2-B260-9EB38D81F553}" type="datetime1">
              <a:rPr lang="en-US" smtClean="0"/>
              <a:t>9/26/2026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41316001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41370E5-7D69-44CE-AE73-71BFC3B68EE4}" type="datetime1">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16832098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81160" y="292948"/>
            <a:ext cx="2880360" cy="624162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40080" y="292948"/>
            <a:ext cx="8427720" cy="624162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CFF8B80-F83C-48AA-AA3F-63D37C1606D6}" type="datetime1">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101113546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40080" y="292946"/>
            <a:ext cx="11521440" cy="1219200"/>
          </a:xfrm>
          <a:prstGeom prst="rect">
            <a:avLst/>
          </a:prstGeom>
        </p:spPr>
        <p:txBody>
          <a:bodyPr vert="horz" lIns="114945" tIns="57473" rIns="114945" bIns="57473" rtlCol="0" anchor="ctr">
            <a:normAutofit/>
          </a:bodyPr>
          <a:lstStyle/>
          <a:p>
            <a:r>
              <a:rPr lang="en-US"/>
              <a:t>Click to edit Master title style</a:t>
            </a:r>
          </a:p>
        </p:txBody>
      </p:sp>
      <p:sp>
        <p:nvSpPr>
          <p:cNvPr id="3" name="Text Placeholder 2"/>
          <p:cNvSpPr>
            <a:spLocks noGrp="1"/>
          </p:cNvSpPr>
          <p:nvPr>
            <p:ph type="body" idx="1"/>
          </p:nvPr>
        </p:nvSpPr>
        <p:spPr>
          <a:xfrm>
            <a:off x="640080" y="1706880"/>
            <a:ext cx="11521440" cy="4827694"/>
          </a:xfrm>
          <a:prstGeom prst="rect">
            <a:avLst/>
          </a:prstGeom>
        </p:spPr>
        <p:txBody>
          <a:bodyPr vert="horz" lIns="114945" tIns="57473" rIns="114945" bIns="57473"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40080" y="6780107"/>
            <a:ext cx="2987040" cy="389467"/>
          </a:xfrm>
          <a:prstGeom prst="rect">
            <a:avLst/>
          </a:prstGeom>
        </p:spPr>
        <p:txBody>
          <a:bodyPr vert="horz" lIns="114945" tIns="57473" rIns="114945" bIns="57473" rtlCol="0" anchor="ctr"/>
          <a:lstStyle>
            <a:lvl1pPr algn="l">
              <a:defRPr sz="1500">
                <a:solidFill>
                  <a:schemeClr val="tx1">
                    <a:tint val="75000"/>
                  </a:schemeClr>
                </a:solidFill>
              </a:defRPr>
            </a:lvl1pPr>
          </a:lstStyle>
          <a:p>
            <a:fld id="{0E5C8E2D-1657-4F9E-9BA7-8881C66FCBC2}" type="datetime1">
              <a:rPr lang="en-US" smtClean="0"/>
              <a:t>9/26/2026</a:t>
            </a:fld>
            <a:endParaRPr lang="en-US"/>
          </a:p>
        </p:txBody>
      </p:sp>
      <p:sp>
        <p:nvSpPr>
          <p:cNvPr id="5" name="Footer Placeholder 4"/>
          <p:cNvSpPr>
            <a:spLocks noGrp="1"/>
          </p:cNvSpPr>
          <p:nvPr>
            <p:ph type="ftr" sz="quarter" idx="3"/>
          </p:nvPr>
        </p:nvSpPr>
        <p:spPr>
          <a:xfrm>
            <a:off x="4373880" y="6780107"/>
            <a:ext cx="4053840" cy="389467"/>
          </a:xfrm>
          <a:prstGeom prst="rect">
            <a:avLst/>
          </a:prstGeom>
        </p:spPr>
        <p:txBody>
          <a:bodyPr vert="horz" lIns="114945" tIns="57473" rIns="114945" bIns="57473" rtlCol="0" anchor="ctr"/>
          <a:lstStyle>
            <a:lvl1pPr algn="ctr">
              <a:defRPr sz="15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9174480" y="6780107"/>
            <a:ext cx="2987040" cy="389467"/>
          </a:xfrm>
          <a:prstGeom prst="rect">
            <a:avLst/>
          </a:prstGeom>
        </p:spPr>
        <p:txBody>
          <a:bodyPr vert="horz" lIns="114945" tIns="57473" rIns="114945" bIns="57473" rtlCol="0" anchor="ctr"/>
          <a:lstStyle>
            <a:lvl1pPr algn="r">
              <a:defRPr sz="1500">
                <a:solidFill>
                  <a:schemeClr val="tx1">
                    <a:tint val="75000"/>
                  </a:schemeClr>
                </a:solidFill>
              </a:defRPr>
            </a:lvl1pPr>
          </a:lstStyle>
          <a:p>
            <a:fld id="{C02A2637-A5A3-49FA-B214-6E67543099EF}" type="slidenum">
              <a:rPr lang="en-US" smtClean="0"/>
              <a:t>‹#›</a:t>
            </a:fld>
            <a:endParaRPr lang="en-US"/>
          </a:p>
        </p:txBody>
      </p:sp>
    </p:spTree>
    <p:extLst>
      <p:ext uri="{BB962C8B-B14F-4D97-AF65-F5344CB8AC3E}">
        <p14:creationId xmlns:p14="http://schemas.microsoft.com/office/powerpoint/2010/main" val="6410387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1149448" rtl="0" eaLnBrk="1" latinLnBrk="0" hangingPunct="1">
        <a:spcBef>
          <a:spcPct val="0"/>
        </a:spcBef>
        <a:buNone/>
        <a:defRPr sz="5500" kern="1200">
          <a:solidFill>
            <a:schemeClr val="tx1"/>
          </a:solidFill>
          <a:latin typeface="+mj-lt"/>
          <a:ea typeface="+mj-ea"/>
          <a:cs typeface="+mj-cs"/>
        </a:defRPr>
      </a:lvl1pPr>
    </p:titleStyle>
    <p:bodyStyle>
      <a:lvl1pPr marL="431044" indent="-431044" algn="l" defTabSz="1149448" rtl="0" eaLnBrk="1" latinLnBrk="0" hangingPunct="1">
        <a:spcBef>
          <a:spcPct val="20000"/>
        </a:spcBef>
        <a:buFont typeface="Arial" pitchFamily="34" charset="0"/>
        <a:buChar char="•"/>
        <a:defRPr sz="3900" kern="1200">
          <a:solidFill>
            <a:schemeClr val="tx1"/>
          </a:solidFill>
          <a:latin typeface="+mn-lt"/>
          <a:ea typeface="+mn-ea"/>
          <a:cs typeface="+mn-cs"/>
        </a:defRPr>
      </a:lvl1pPr>
      <a:lvl2pPr marL="933926" indent="-359202" algn="l" defTabSz="1149448" rtl="0" eaLnBrk="1" latinLnBrk="0" hangingPunct="1">
        <a:spcBef>
          <a:spcPct val="20000"/>
        </a:spcBef>
        <a:buFont typeface="Arial" pitchFamily="34" charset="0"/>
        <a:buChar char="–"/>
        <a:defRPr sz="3500" kern="1200">
          <a:solidFill>
            <a:schemeClr val="tx1"/>
          </a:solidFill>
          <a:latin typeface="+mn-lt"/>
          <a:ea typeface="+mn-ea"/>
          <a:cs typeface="+mn-cs"/>
        </a:defRPr>
      </a:lvl2pPr>
      <a:lvl3pPr marL="1436810" indent="-287362" algn="l" defTabSz="1149448" rtl="0" eaLnBrk="1" latinLnBrk="0" hangingPunct="1">
        <a:spcBef>
          <a:spcPct val="20000"/>
        </a:spcBef>
        <a:buFont typeface="Arial" pitchFamily="34" charset="0"/>
        <a:buChar char="•"/>
        <a:defRPr sz="3000" kern="1200">
          <a:solidFill>
            <a:schemeClr val="tx1"/>
          </a:solidFill>
          <a:latin typeface="+mn-lt"/>
          <a:ea typeface="+mn-ea"/>
          <a:cs typeface="+mn-cs"/>
        </a:defRPr>
      </a:lvl3pPr>
      <a:lvl4pPr marL="2011534"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4pPr>
      <a:lvl5pPr marL="2586258"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5pPr>
      <a:lvl6pPr marL="3160983"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6pPr>
      <a:lvl7pPr marL="3735707"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7pPr>
      <a:lvl8pPr marL="4310430"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8pPr>
      <a:lvl9pPr marL="4885155"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9pPr>
    </p:bodyStyle>
    <p:otherStyle>
      <a:defPPr>
        <a:defRPr lang="en-US"/>
      </a:defPPr>
      <a:lvl1pPr marL="0" algn="l" defTabSz="1149448" rtl="0" eaLnBrk="1" latinLnBrk="0" hangingPunct="1">
        <a:defRPr sz="2300" kern="1200">
          <a:solidFill>
            <a:schemeClr val="tx1"/>
          </a:solidFill>
          <a:latin typeface="+mn-lt"/>
          <a:ea typeface="+mn-ea"/>
          <a:cs typeface="+mn-cs"/>
        </a:defRPr>
      </a:lvl1pPr>
      <a:lvl2pPr marL="574724" algn="l" defTabSz="1149448" rtl="0" eaLnBrk="1" latinLnBrk="0" hangingPunct="1">
        <a:defRPr sz="2300" kern="1200">
          <a:solidFill>
            <a:schemeClr val="tx1"/>
          </a:solidFill>
          <a:latin typeface="+mn-lt"/>
          <a:ea typeface="+mn-ea"/>
          <a:cs typeface="+mn-cs"/>
        </a:defRPr>
      </a:lvl2pPr>
      <a:lvl3pPr marL="1149448" algn="l" defTabSz="1149448" rtl="0" eaLnBrk="1" latinLnBrk="0" hangingPunct="1">
        <a:defRPr sz="2300" kern="1200">
          <a:solidFill>
            <a:schemeClr val="tx1"/>
          </a:solidFill>
          <a:latin typeface="+mn-lt"/>
          <a:ea typeface="+mn-ea"/>
          <a:cs typeface="+mn-cs"/>
        </a:defRPr>
      </a:lvl3pPr>
      <a:lvl4pPr marL="1724172" algn="l" defTabSz="1149448" rtl="0" eaLnBrk="1" latinLnBrk="0" hangingPunct="1">
        <a:defRPr sz="2300" kern="1200">
          <a:solidFill>
            <a:schemeClr val="tx1"/>
          </a:solidFill>
          <a:latin typeface="+mn-lt"/>
          <a:ea typeface="+mn-ea"/>
          <a:cs typeface="+mn-cs"/>
        </a:defRPr>
      </a:lvl4pPr>
      <a:lvl5pPr marL="2298895" algn="l" defTabSz="1149448" rtl="0" eaLnBrk="1" latinLnBrk="0" hangingPunct="1">
        <a:defRPr sz="2300" kern="1200">
          <a:solidFill>
            <a:schemeClr val="tx1"/>
          </a:solidFill>
          <a:latin typeface="+mn-lt"/>
          <a:ea typeface="+mn-ea"/>
          <a:cs typeface="+mn-cs"/>
        </a:defRPr>
      </a:lvl5pPr>
      <a:lvl6pPr marL="2873621" algn="l" defTabSz="1149448" rtl="0" eaLnBrk="1" latinLnBrk="0" hangingPunct="1">
        <a:defRPr sz="2300" kern="1200">
          <a:solidFill>
            <a:schemeClr val="tx1"/>
          </a:solidFill>
          <a:latin typeface="+mn-lt"/>
          <a:ea typeface="+mn-ea"/>
          <a:cs typeface="+mn-cs"/>
        </a:defRPr>
      </a:lvl6pPr>
      <a:lvl7pPr marL="3448344" algn="l" defTabSz="1149448" rtl="0" eaLnBrk="1" latinLnBrk="0" hangingPunct="1">
        <a:defRPr sz="2300" kern="1200">
          <a:solidFill>
            <a:schemeClr val="tx1"/>
          </a:solidFill>
          <a:latin typeface="+mn-lt"/>
          <a:ea typeface="+mn-ea"/>
          <a:cs typeface="+mn-cs"/>
        </a:defRPr>
      </a:lvl7pPr>
      <a:lvl8pPr marL="4023069" algn="l" defTabSz="1149448" rtl="0" eaLnBrk="1" latinLnBrk="0" hangingPunct="1">
        <a:defRPr sz="2300" kern="1200">
          <a:solidFill>
            <a:schemeClr val="tx1"/>
          </a:solidFill>
          <a:latin typeface="+mn-lt"/>
          <a:ea typeface="+mn-ea"/>
          <a:cs typeface="+mn-cs"/>
        </a:defRPr>
      </a:lvl8pPr>
      <a:lvl9pPr marL="4597793" algn="l" defTabSz="1149448" rtl="0" eaLnBrk="1" latinLnBrk="0" hangingPunct="1">
        <a:defRPr sz="23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12801600" cy="1600199"/>
          </a:xfrm>
          <a:solidFill>
            <a:schemeClr val="tx2">
              <a:lumMod val="60000"/>
              <a:lumOff val="40000"/>
            </a:schemeClr>
          </a:solidFill>
        </p:spPr>
        <p:txBody>
          <a:bodyPr wrap="square" anchor="ctr" lIns="201168" rIns="201168" tIns="36576" bIns="36576">
            <a:normAutofit/>
          </a:bodyPr>
          <a:lstStyle/>
          <a:p>
            <a:pPr algn="ctr"/>
            <a:r>
              <a:rPr sz="3100" b="1">
                <a:solidFill>
                  <a:srgbClr val="19324D"/>
                </a:solidFill>
                <a:latin typeface="Arial"/>
              </a:rPr>
              <a:t>DIGITAL TWIN-ENABLED FRAMEWORK
FOR FORECASTING AND MITIGATING FRAUD</a:t>
            </a:r>
          </a:p>
        </p:txBody>
      </p:sp>
      <p:sp>
        <p:nvSpPr>
          <p:cNvPr id="3" name="Subtitle 2"/>
          <p:cNvSpPr>
            <a:spLocks noGrp="1"/>
          </p:cNvSpPr>
          <p:nvPr>
            <p:ph type="subTitle" idx="1"/>
          </p:nvPr>
        </p:nvSpPr>
        <p:spPr>
          <a:xfrm>
            <a:off x="2026920" y="3088640"/>
            <a:ext cx="8961120" cy="3982720"/>
          </a:xfrm>
        </p:spPr>
        <p:txBody>
          <a:bodyPr wrap="square" anchor="ctr" lIns="164592" rIns="164592">
            <a:normAutofit/>
          </a:bodyPr>
          <a:lstStyle/>
          <a:p>
            <a:pPr algn="ctr">
              <a:spcAft>
                <a:spcPts val="500"/>
              </a:spcAft>
            </a:pPr>
            <a:r>
              <a:rPr sz="1800" b="1">
                <a:solidFill>
                  <a:srgbClr val="19324D"/>
                </a:solidFill>
                <a:latin typeface="Arial"/>
              </a:rPr>
              <a:t>MCA PROJECT WORK FINAL REVIEW</a:t>
            </a:r>
          </a:p>
          <a:p>
            <a:pPr algn="ctr">
              <a:spcAft>
                <a:spcPts val="200"/>
              </a:spcAft>
            </a:pPr>
            <a:r>
              <a:rPr sz="1500" b="0">
                <a:solidFill>
                  <a:srgbClr val="2B3744"/>
                </a:solidFill>
                <a:latin typeface="Arial"/>
              </a:rPr>
              <a:t>Presented by</a:t>
            </a:r>
          </a:p>
          <a:p>
            <a:pPr algn="ctr">
              <a:spcAft>
                <a:spcPts val="500"/>
              </a:spcAft>
            </a:pPr>
            <a:r>
              <a:rPr sz="1900" b="1">
                <a:solidFill>
                  <a:srgbClr val="19324D"/>
                </a:solidFill>
                <a:latin typeface="Arial"/>
              </a:rPr>
              <a:t>SHAMBHU PANDEY  |  25MCA1020</a:t>
            </a:r>
          </a:p>
          <a:p>
            <a:pPr algn="ctr">
              <a:spcAft>
                <a:spcPts val="200"/>
              </a:spcAft>
            </a:pPr>
            <a:r>
              <a:rPr sz="1500" b="0">
                <a:solidFill>
                  <a:srgbClr val="2B3744"/>
                </a:solidFill>
                <a:latin typeface="Arial"/>
              </a:rPr>
              <a:t>Master of Computer Applications (MCA)</a:t>
            </a:r>
          </a:p>
          <a:p>
            <a:pPr algn="ctr">
              <a:spcAft>
                <a:spcPts val="200"/>
              </a:spcAft>
            </a:pPr>
            <a:r>
              <a:rPr sz="1500" b="0">
                <a:solidFill>
                  <a:srgbClr val="2B3744"/>
                </a:solidFill>
                <a:latin typeface="Arial"/>
              </a:rPr>
              <a:t>Under the Guidance of</a:t>
            </a:r>
          </a:p>
          <a:p>
            <a:pPr algn="ctr">
              <a:spcAft>
                <a:spcPts val="500"/>
              </a:spcAft>
            </a:pPr>
            <a:r>
              <a:rPr sz="1600" b="1">
                <a:solidFill>
                  <a:srgbClr val="19324D"/>
                </a:solidFill>
                <a:latin typeface="Arial"/>
              </a:rPr>
              <a:t>Dr. Tamilarasi K  |  Assistant Professor Sr. Grade 1</a:t>
            </a:r>
          </a:p>
          <a:p>
            <a:pPr algn="ctr">
              <a:spcAft>
                <a:spcPts val="200"/>
              </a:spcAft>
            </a:pPr>
            <a:r>
              <a:rPr sz="1400" b="0">
                <a:solidFill>
                  <a:srgbClr val="2B3744"/>
                </a:solidFill>
                <a:latin typeface="Arial"/>
              </a:rPr>
              <a:t>School of Computer Science and Engineering</a:t>
            </a:r>
          </a:p>
          <a:p>
            <a:pPr algn="ctr">
              <a:spcAft>
                <a:spcPts val="200"/>
              </a:spcAft>
            </a:pPr>
            <a:r>
              <a:rPr sz="1400" b="0">
                <a:solidFill>
                  <a:srgbClr val="2B3744"/>
                </a:solidFill>
                <a:latin typeface="Arial"/>
              </a:rPr>
              <a:t>Vellore Institute of Technology, Chennai</a:t>
            </a:r>
          </a:p>
        </p:txBody>
      </p:sp>
      <p:pic>
        <p:nvPicPr>
          <p:cNvPr id="5" name="Picture 4">
            <a:extLst>
              <a:ext uri="{FF2B5EF4-FFF2-40B4-BE49-F238E27FC236}">
                <a16:creationId xmlns:a16="http://schemas.microsoft.com/office/drawing/2014/main" id="{D3C77652-7BC5-33CD-3492-BA774BD65F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0" y="1719522"/>
            <a:ext cx="3620039" cy="1369117"/>
          </a:xfrm>
          <a:prstGeom prst="rect">
            <a:avLst/>
          </a:prstGeom>
        </p:spPr>
      </p:pic>
    </p:spTree>
    <p:extLst>
      <p:ext uri="{BB962C8B-B14F-4D97-AF65-F5344CB8AC3E}">
        <p14:creationId xmlns:p14="http://schemas.microsoft.com/office/powerpoint/2010/main" val="4998431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02A2637-A5A3-49FA-B214-6E67543099EF}" type="slidenum">
              <a:rPr lang="en-US" smtClean="0"/>
              <a:t>2</a:t>
            </a:fld>
            <a:endParaRPr lang="en-US" dirty="0"/>
          </a:p>
        </p:txBody>
      </p:sp>
      <p:sp>
        <p:nvSpPr>
          <p:cNvPr id="14" name="Title 1"/>
          <p:cNvSpPr>
            <a:spLocks noGrp="1"/>
          </p:cNvSpPr>
          <p:nvPr>
            <p:ph type="title"/>
          </p:nvPr>
        </p:nvSpPr>
        <p:spPr>
          <a:xfrm>
            <a:off x="0" y="0"/>
            <a:ext cx="12801600" cy="1512146"/>
          </a:xfrm>
          <a:solidFill>
            <a:schemeClr val="tx2">
              <a:lumMod val="60000"/>
              <a:lumOff val="40000"/>
            </a:schemeClr>
          </a:solidFill>
        </p:spPr>
        <p:txBody>
          <a:bodyPr>
            <a:normAutofit/>
          </a:bodyPr>
          <a:lstStyle/>
          <a:p>
            <a:r>
              <a:rPr b="1">
                <a:latin typeface="Arial"/>
              </a:rPr>
              <a:t>CONTENTS</a:t>
            </a:r>
          </a:p>
        </p:txBody>
      </p:sp>
      <p:sp>
        <p:nvSpPr>
          <p:cNvPr id="5" name="Content Placeholder 2"/>
          <p:cNvSpPr txBox="1">
            <a:spLocks/>
          </p:cNvSpPr>
          <p:nvPr/>
        </p:nvSpPr>
        <p:spPr>
          <a:xfrm>
            <a:off x="76200" y="1600200"/>
            <a:ext cx="12649200" cy="5638800"/>
          </a:xfrm>
          <a:prstGeom prst="rect">
            <a:avLst/>
          </a:prstGeom>
        </p:spPr>
        <p:txBody>
          <a:bodyPr vert="horz" lIns="1188720" tIns="182880" rIns="365760" bIns="91440" rtlCol="0" wrap="square" anchor="t">
            <a:normAutofit/>
          </a:bodyPr>
          <a:lstStyle>
            <a:lvl1pPr marL="431044" indent="-431044" algn="l" defTabSz="1149448" rtl="0" eaLnBrk="1" latinLnBrk="0" hangingPunct="1">
              <a:spcBef>
                <a:spcPct val="20000"/>
              </a:spcBef>
              <a:buFont typeface="Arial" pitchFamily="34" charset="0"/>
              <a:buChar char="•"/>
              <a:defRPr sz="3900" kern="1200">
                <a:solidFill>
                  <a:schemeClr val="tx1"/>
                </a:solidFill>
                <a:latin typeface="+mn-lt"/>
                <a:ea typeface="+mn-ea"/>
                <a:cs typeface="+mn-cs"/>
              </a:defRPr>
            </a:lvl1pPr>
            <a:lvl2pPr marL="933926" indent="-359202" algn="l" defTabSz="1149448" rtl="0" eaLnBrk="1" latinLnBrk="0" hangingPunct="1">
              <a:spcBef>
                <a:spcPct val="20000"/>
              </a:spcBef>
              <a:buFont typeface="Arial" pitchFamily="34" charset="0"/>
              <a:buChar char="–"/>
              <a:defRPr sz="3500" kern="1200">
                <a:solidFill>
                  <a:schemeClr val="tx1"/>
                </a:solidFill>
                <a:latin typeface="+mn-lt"/>
                <a:ea typeface="+mn-ea"/>
                <a:cs typeface="+mn-cs"/>
              </a:defRPr>
            </a:lvl2pPr>
            <a:lvl3pPr marL="1436810" indent="-287362" algn="l" defTabSz="1149448" rtl="0" eaLnBrk="1" latinLnBrk="0" hangingPunct="1">
              <a:spcBef>
                <a:spcPct val="20000"/>
              </a:spcBef>
              <a:buFont typeface="Arial" pitchFamily="34" charset="0"/>
              <a:buChar char="•"/>
              <a:defRPr sz="3000" kern="1200">
                <a:solidFill>
                  <a:schemeClr val="tx1"/>
                </a:solidFill>
                <a:latin typeface="+mn-lt"/>
                <a:ea typeface="+mn-ea"/>
                <a:cs typeface="+mn-cs"/>
              </a:defRPr>
            </a:lvl3pPr>
            <a:lvl4pPr marL="2011534"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4pPr>
            <a:lvl5pPr marL="2586258"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5pPr>
            <a:lvl6pPr marL="3160983"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6pPr>
            <a:lvl7pPr marL="3735707"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7pPr>
            <a:lvl8pPr marL="4310430"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8pPr>
            <a:lvl9pPr marL="4885155"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9pPr>
          </a:lstStyle>
          <a:p>
            <a:pPr fontAlgn="ctr">
              <a:buFont typeface="Wingdings" panose="05000000000000000000" pitchFamily="2" charset="2"/>
              <a:buChar char="v"/>
            </a:pPr>
            <a:r>
              <a:rPr sz="2000" b="0">
                <a:solidFill>
                  <a:srgbClr val="2B3744"/>
                </a:solidFill>
                <a:latin typeface="Arial"/>
              </a:rPr>
              <a:t>1. Abstract
2. Introduction
3. Literature Survey
3. Literature Survey (continued)
4. Research Gaps
5. Objectives
6. Research Work Done
7. Module Identification
8. System Architecture
9. Development &amp; Integration
10. Prototype / Research Framework
11. Conclusions
12. Outcome and Results
13. Timeline / Gantt Chart
14. References</a:t>
            </a:r>
          </a:p>
        </p:txBody>
      </p:sp>
    </p:spTree>
    <p:extLst>
      <p:ext uri="{BB962C8B-B14F-4D97-AF65-F5344CB8AC3E}">
        <p14:creationId xmlns:p14="http://schemas.microsoft.com/office/powerpoint/2010/main" val="24901540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801600" cy="1512146"/>
          </a:xfrm>
          <a:solidFill>
            <a:schemeClr val="tx2">
              <a:lumMod val="60000"/>
              <a:lumOff val="40000"/>
            </a:schemeClr>
          </a:solidFill>
        </p:spPr>
        <p:txBody>
          <a:bodyPr>
            <a:normAutofit/>
          </a:bodyPr>
          <a:lstStyle/>
          <a:p>
            <a:r>
              <a:rPr b="1">
                <a:latin typeface="Arial"/>
              </a:rPr>
              <a:t>1. ABSTRACT</a:t>
            </a:r>
          </a:p>
        </p:txBody>
      </p:sp>
      <p:sp>
        <p:nvSpPr>
          <p:cNvPr id="3" name="Content Placeholder 2"/>
          <p:cNvSpPr>
            <a:spLocks noGrp="1"/>
          </p:cNvSpPr>
          <p:nvPr>
            <p:ph idx="1"/>
          </p:nvPr>
        </p:nvSpPr>
        <p:spPr>
          <a:xfrm>
            <a:off x="152400" y="1706880"/>
            <a:ext cx="12344400" cy="4827694"/>
          </a:xfrm>
        </p:spPr>
        <p:txBody>
          <a:bodyPr wrap="square" anchor="ctr" lIns="365760" rIns="365760" tIns="146304" bIns="146304">
            <a:normAutofit/>
          </a:bodyPr>
          <a:lstStyle/>
          <a:p>
            <a:pPr marL="0" indent="0">
              <a:buNone/>
            </a:pPr>
            <a:r>
              <a:rPr sz="2100" b="0">
                <a:solidFill>
                  <a:srgbClr val="2B3744"/>
                </a:solidFill>
                <a:latin typeface="Times New Roman"/>
              </a:rPr>
              <a:t>Fraud detection is challenging because fraudulent activity is rare, patterns vary by domain, and false alarms can be costly. This project presents Nexus Fraud Defense, a Streamlit prototype for preparing and evaluating labeled PaySim, BankSim, IEEE-CIS, and CICIDS2017 datasets. A configured feature pipeline removes target leakage, prepares categorical and numeric inputs, and creates training and holdout partitions. Logistic Regression, Random Forest, XGBoost, and Isolation Forest are compared using accuracy, precision, recall, F1, AUC, confusion counts, and decision thresholds. Saved pipelines support interactive example scoring in the dashboard. A separate scenario simulator illustrates configurable risk-state transitions and a rule-based intervention. Current saved holdout results show different precision-recall trade-offs across datasets. The system is an educational benchmark prototype: it is not connected to live payment or network systems, and its simulator is not learned from the benchmark data.</a:t>
            </a:r>
          </a:p>
        </p:txBody>
      </p:sp>
      <p:sp>
        <p:nvSpPr>
          <p:cNvPr id="4" name="Slide Number Placeholder 3"/>
          <p:cNvSpPr>
            <a:spLocks noGrp="1"/>
          </p:cNvSpPr>
          <p:nvPr>
            <p:ph type="sldNum" sz="quarter" idx="12"/>
          </p:nvPr>
        </p:nvSpPr>
        <p:spPr/>
        <p:txBody>
          <a:bodyPr/>
          <a:lstStyle/>
          <a:p>
            <a:fld id="{C02A2637-A5A3-49FA-B214-6E67543099EF}" type="slidenum">
              <a:rPr lang="en-US" smtClean="0"/>
              <a:t>3</a:t>
            </a:fld>
            <a:endParaRPr lang="en-US"/>
          </a:p>
        </p:txBody>
      </p:sp>
    </p:spTree>
    <p:extLst>
      <p:ext uri="{BB962C8B-B14F-4D97-AF65-F5344CB8AC3E}">
        <p14:creationId xmlns:p14="http://schemas.microsoft.com/office/powerpoint/2010/main" val="735943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801600" cy="1512146"/>
          </a:xfrm>
          <a:solidFill>
            <a:schemeClr val="tx2">
              <a:lumMod val="60000"/>
              <a:lumOff val="40000"/>
            </a:schemeClr>
          </a:solidFill>
        </p:spPr>
        <p:txBody>
          <a:bodyPr>
            <a:normAutofit/>
          </a:bodyPr>
          <a:lstStyle/>
          <a:p>
            <a:r>
              <a:rPr b="1">
                <a:latin typeface="Arial"/>
              </a:rPr>
              <a:t>2. INTRODUCTION</a:t>
            </a:r>
          </a:p>
        </p:txBody>
      </p:sp>
      <p:sp>
        <p:nvSpPr>
          <p:cNvPr id="4" name="Slide Number Placeholder 3"/>
          <p:cNvSpPr>
            <a:spLocks noGrp="1"/>
          </p:cNvSpPr>
          <p:nvPr>
            <p:ph type="sldNum" sz="quarter" idx="12"/>
          </p:nvPr>
        </p:nvSpPr>
        <p:spPr/>
        <p:txBody>
          <a:bodyPr/>
          <a:lstStyle/>
          <a:p>
            <a:fld id="{C02A2637-A5A3-49FA-B214-6E67543099EF}" type="slidenum">
              <a:rPr lang="en-US" smtClean="0"/>
              <a:t>4</a:t>
            </a:fld>
            <a:endParaRPr lang="en-US"/>
          </a:p>
        </p:txBody>
      </p:sp>
      <p:sp>
        <p:nvSpPr>
          <p:cNvPr id="5" name="TextBox 4"/>
          <p:cNvSpPr txBox="1"/>
          <p:nvPr/>
        </p:nvSpPr>
        <p:spPr>
          <a:xfrm>
            <a:off x="850392" y="1810512"/>
            <a:ext cx="11064240" cy="3886200"/>
          </a:xfrm>
          <a:prstGeom prst="rect">
            <a:avLst/>
          </a:prstGeom>
          <a:noFill/>
        </p:spPr>
        <p:txBody>
          <a:bodyPr wrap="square" anchor="ctr" lIns="73152" rIns="73152" tIns="73152" bIns="73152">
            <a:normAutofit/>
          </a:bodyPr>
          <a:lstStyle/>
          <a:p>
            <a:pPr algn="l"/>
            <a:r>
              <a:rPr sz="2200" b="0">
                <a:solidFill>
                  <a:srgbClr val="2B3744"/>
                </a:solidFill>
                <a:latin typeface="Arial"/>
              </a:rPr>
              <a:t>Digital payment and online-commerce systems face attempts to misuse accounts and payment instruments. Network intrusion is a related but distinct detection problem. Research is complicated by privacy limits on financial data, highly imbalanced labels, and changing behavior. PaySim and BankSim provide simulated payment data [2], [3]; IEEE-CIS provides an anonymized e-commerce competition benchmark [14]; CICIDS2017 provides labeled network flows [13]. This project combines these sources in a single demonstration dashboard to compare model behavior, make threshold trade-offs visible, and explore risk scenarios. Its goal is an understandable research prototype, not a production fraud-blocking service. The results should be interpreted within each dataset and validated independently before any operational use.</a:t>
            </a:r>
          </a:p>
        </p:txBody>
      </p:sp>
      <p:sp>
        <p:nvSpPr>
          <p:cNvPr id="6" name="TextBox 5"/>
          <p:cNvSpPr txBox="1"/>
          <p:nvPr/>
        </p:nvSpPr>
        <p:spPr>
          <a:xfrm>
            <a:off x="566928" y="5797296"/>
            <a:ext cx="11612880" cy="731520"/>
          </a:xfrm>
          <a:prstGeom prst="rect">
            <a:avLst/>
          </a:prstGeom>
          <a:noFill/>
        </p:spPr>
        <p:txBody>
          <a:bodyPr wrap="square" anchor="ctr" lIns="10972" rIns="10972" tIns="10972" bIns="10972">
            <a:normAutofit/>
          </a:bodyPr>
          <a:lstStyle/>
          <a:p>
            <a:pPr algn="l"/>
            <a:r>
              <a:rPr sz="770" b="0">
                <a:solidFill>
                  <a:srgbClr val="63707E"/>
                </a:solidFill>
                <a:latin typeface="Arial"/>
              </a:rPr>
              <a:t>[1] R. J. Bolton and D. J. Hand, “Statistical Fraud Detection: A Review,” Statistical Science, vol. 17, no. 3, pp. 235–249, 2002.
[2] E. A. Lopez-Rojas, A. Elmir, and S. Axelsson, “PaySim: A Financial Mobile Money Simulator for Fraud Detection,” EMSS, 2016.
[3] E. A. Lopez-Rojas and S. Axelsson, “BankSim: A Bank Payments Simulator for Fraud Detection Research,” EMSS, 2014.
[13] I. Sharafaldin, A. H. Lashkari, and A. A. Ghorbani, “Toward Generating a New Intrusion Detection Dataset and Intrusion Traffic Characterization,” ICISSP, 2018. [14] IEEE-CIS Fraud Detection, Kaggle, 2019.</a:t>
            </a:r>
          </a:p>
        </p:txBody>
      </p:sp>
    </p:spTree>
    <p:extLst>
      <p:ext uri="{BB962C8B-B14F-4D97-AF65-F5344CB8AC3E}">
        <p14:creationId xmlns:p14="http://schemas.microsoft.com/office/powerpoint/2010/main" val="29739748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801600" cy="1512146"/>
          </a:xfrm>
          <a:solidFill>
            <a:schemeClr val="tx2">
              <a:lumMod val="60000"/>
              <a:lumOff val="40000"/>
            </a:schemeClr>
          </a:solidFill>
        </p:spPr>
        <p:txBody>
          <a:bodyPr>
            <a:normAutofit/>
          </a:bodyPr>
          <a:lstStyle/>
          <a:p>
            <a:r>
              <a:rPr b="1">
                <a:latin typeface="Arial"/>
              </a:rPr>
              <a:t>3. LITERATURE SURVEY</a:t>
            </a:r>
          </a:p>
        </p:txBody>
      </p:sp>
      <p:graphicFrame>
        <p:nvGraphicFramePr>
          <p:cNvPr id="5" name="Content Placeholder 5"/>
          <p:cNvGraphicFramePr>
            <a:graphicFrameLocks/>
          </p:cNvGraphicFramePr>
          <p:nvPr>
            <p:extLst>
              <p:ext uri="{D42A27DB-BD31-4B8C-83A1-F6EECF244321}">
                <p14:modId xmlns:p14="http://schemas.microsoft.com/office/powerpoint/2010/main" val="3818914007"/>
              </p:ext>
            </p:extLst>
          </p:nvPr>
        </p:nvGraphicFramePr>
        <p:xfrm>
          <a:off x="685799" y="1669892"/>
          <a:ext cx="11475720" cy="4096512"/>
        </p:xfrm>
        <a:graphic>
          <a:graphicData uri="http://schemas.openxmlformats.org/drawingml/2006/table">
            <a:tbl>
              <a:tblPr firstRow="1" firstCol="1" bandRow="1">
                <a:tableStyleId>{BC89EF96-8CEA-46FF-86C4-4CE0E7609802}</a:tableStyleId>
              </a:tblPr>
              <a:tblGrid>
                <a:gridCol w="50292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gridCol w="2240280">
                  <a:extLst>
                    <a:ext uri="{9D8B030D-6E8A-4147-A177-3AD203B41FA5}">
                      <a16:colId xmlns:a16="http://schemas.microsoft.com/office/drawing/2014/main" val="20002"/>
                    </a:ext>
                  </a:extLst>
                </a:gridCol>
                <a:gridCol w="3063240">
                  <a:extLst>
                    <a:ext uri="{9D8B030D-6E8A-4147-A177-3AD203B41FA5}">
                      <a16:colId xmlns:a16="http://schemas.microsoft.com/office/drawing/2014/main" val="1023101934"/>
                    </a:ext>
                  </a:extLst>
                </a:gridCol>
                <a:gridCol w="3429000">
                  <a:extLst>
                    <a:ext uri="{9D8B030D-6E8A-4147-A177-3AD203B41FA5}">
                      <a16:colId xmlns:a16="http://schemas.microsoft.com/office/drawing/2014/main" val="548304626"/>
                    </a:ext>
                  </a:extLst>
                </a:gridCol>
              </a:tblGrid>
              <a:tr h="438912">
                <a:tc>
                  <a:txBody>
                    <a:bodyPr/>
                    <a:lstStyle/>
                    <a:p>
                      <a:pPr algn="ctr">
                        <a:spcAft>
                          <a:spcPts val="0"/>
                        </a:spcAft>
                      </a:pPr>
                      <a:r>
                        <a:rPr sz="1150" b="1">
                          <a:solidFill>
                            <a:srgbClr val="FFFFFF"/>
                          </a:solidFill>
                          <a:latin typeface="Arial"/>
                        </a:rPr>
                        <a:t>S.No</a:t>
                      </a:r>
                    </a:p>
                  </a:txBody>
                  <a:tcPr marL="64008" marR="54864" marT="32004" marB="32004" anchor="ctr">
                    <a:solidFill>
                      <a:srgbClr val="19324D"/>
                    </a:solidFill>
                  </a:tcPr>
                </a:tc>
                <a:tc>
                  <a:txBody>
                    <a:bodyPr/>
                    <a:lstStyle/>
                    <a:p>
                      <a:pPr algn="l">
                        <a:spcAft>
                          <a:spcPts val="0"/>
                        </a:spcAft>
                      </a:pPr>
                      <a:r>
                        <a:rPr sz="1150" b="1">
                          <a:solidFill>
                            <a:srgbClr val="FFFFFF"/>
                          </a:solidFill>
                          <a:latin typeface="Arial"/>
                        </a:rPr>
                        <a:t>Article Title</a:t>
                      </a:r>
                    </a:p>
                  </a:txBody>
                  <a:tcPr marL="64008" marR="54864" marT="32004" marB="32004" anchor="ctr">
                    <a:solidFill>
                      <a:srgbClr val="19324D"/>
                    </a:solidFill>
                  </a:tcPr>
                </a:tc>
                <a:tc>
                  <a:txBody>
                    <a:bodyPr/>
                    <a:lstStyle/>
                    <a:p>
                      <a:pPr algn="l">
                        <a:spcAft>
                          <a:spcPts val="0"/>
                        </a:spcAft>
                      </a:pPr>
                      <a:r>
                        <a:rPr sz="1150" b="1">
                          <a:solidFill>
                            <a:srgbClr val="FFFFFF"/>
                          </a:solidFill>
                          <a:latin typeface="Arial"/>
                        </a:rPr>
                        <a:t>Techniques Used</a:t>
                      </a:r>
                    </a:p>
                  </a:txBody>
                  <a:tcPr marL="64008" marR="54864" marT="32004" marB="32004" anchor="ctr">
                    <a:solidFill>
                      <a:srgbClr val="19324D"/>
                    </a:solidFill>
                  </a:tcPr>
                </a:tc>
                <a:tc>
                  <a:txBody>
                    <a:bodyPr/>
                    <a:lstStyle/>
                    <a:p>
                      <a:pPr algn="l">
                        <a:spcAft>
                          <a:spcPts val="0"/>
                        </a:spcAft>
                      </a:pPr>
                      <a:r>
                        <a:rPr sz="1150" b="1">
                          <a:solidFill>
                            <a:srgbClr val="FFFFFF"/>
                          </a:solidFill>
                          <a:latin typeface="Arial"/>
                        </a:rPr>
                        <a:t>Key Findings</a:t>
                      </a:r>
                    </a:p>
                  </a:txBody>
                  <a:tcPr marL="64008" marR="54864" marT="32004" marB="32004" anchor="ctr">
                    <a:solidFill>
                      <a:srgbClr val="19324D"/>
                    </a:solidFill>
                  </a:tcPr>
                </a:tc>
                <a:tc>
                  <a:txBody>
                    <a:bodyPr/>
                    <a:lstStyle/>
                    <a:p>
                      <a:pPr algn="l">
                        <a:spcAft>
                          <a:spcPts val="0"/>
                        </a:spcAft>
                      </a:pPr>
                      <a:r>
                        <a:rPr sz="1150" b="1">
                          <a:solidFill>
                            <a:srgbClr val="FFFFFF"/>
                          </a:solidFill>
                          <a:latin typeface="Arial"/>
                        </a:rPr>
                        <a:t>Limitations</a:t>
                      </a:r>
                    </a:p>
                  </a:txBody>
                  <a:tcPr marL="64008" marR="54864" marT="32004" marB="32004" anchor="ctr">
                    <a:solidFill>
                      <a:srgbClr val="19324D"/>
                    </a:solidFill>
                  </a:tcPr>
                </a:tc>
                <a:extLst>
                  <a:ext uri="{0D108BD9-81ED-4DB2-BD59-A6C34878D82A}">
                    <a16:rowId xmlns:a16="http://schemas.microsoft.com/office/drawing/2014/main" val="10000"/>
                  </a:ext>
                </a:extLst>
              </a:tr>
              <a:tr h="914400">
                <a:tc>
                  <a:txBody>
                    <a:bodyPr/>
                    <a:lstStyle/>
                    <a:p>
                      <a:pPr algn="ctr">
                        <a:spcAft>
                          <a:spcPts val="0"/>
                        </a:spcAft>
                      </a:pPr>
                      <a:r>
                        <a:rPr sz="1050" b="0">
                          <a:solidFill>
                            <a:srgbClr val="2B3744"/>
                          </a:solidFill>
                          <a:latin typeface="Arial"/>
                        </a:rPr>
                        <a:t>1</a:t>
                      </a:r>
                    </a:p>
                  </a:txBody>
                  <a:tcPr marL="64008" marR="54864" marT="32004" marB="32004" anchor="ctr">
                    <a:solidFill>
                      <a:srgbClr val="C4E1F2"/>
                    </a:solidFill>
                  </a:tcPr>
                </a:tc>
                <a:tc>
                  <a:txBody>
                    <a:bodyPr/>
                    <a:lstStyle/>
                    <a:p>
                      <a:pPr algn="l">
                        <a:spcAft>
                          <a:spcPts val="0"/>
                        </a:spcAft>
                      </a:pPr>
                      <a:r>
                        <a:rPr sz="1050" b="0">
                          <a:solidFill>
                            <a:srgbClr val="2B3744"/>
                          </a:solidFill>
                          <a:latin typeface="Arial"/>
                        </a:rPr>
                        <a:t>Bolton &amp; Hand (2002) [1]</a:t>
                      </a:r>
                    </a:p>
                  </a:txBody>
                  <a:tcPr marL="64008" marR="54864" marT="32004" marB="32004" anchor="ctr">
                    <a:solidFill>
                      <a:srgbClr val="C4E1F2"/>
                    </a:solidFill>
                  </a:tcPr>
                </a:tc>
                <a:tc>
                  <a:txBody>
                    <a:bodyPr/>
                    <a:lstStyle/>
                    <a:p>
                      <a:pPr algn="l">
                        <a:spcAft>
                          <a:spcPts val="0"/>
                        </a:spcAft>
                      </a:pPr>
                      <a:r>
                        <a:rPr sz="1050" b="0">
                          <a:solidFill>
                            <a:srgbClr val="2B3744"/>
                          </a:solidFill>
                          <a:latin typeface="Arial"/>
                        </a:rPr>
                        <a:t>Statistical fraud detection review</a:t>
                      </a:r>
                    </a:p>
                  </a:txBody>
                  <a:tcPr marL="64008" marR="54864" marT="32004" marB="32004" anchor="ctr">
                    <a:solidFill>
                      <a:srgbClr val="C4E1F2"/>
                    </a:solidFill>
                  </a:tcPr>
                </a:tc>
                <a:tc>
                  <a:txBody>
                    <a:bodyPr/>
                    <a:lstStyle/>
                    <a:p>
                      <a:pPr algn="l">
                        <a:spcAft>
                          <a:spcPts val="0"/>
                        </a:spcAft>
                      </a:pPr>
                      <a:r>
                        <a:rPr sz="1050" b="0">
                          <a:solidFill>
                            <a:srgbClr val="2B3744"/>
                          </a:solidFill>
                          <a:latin typeface="Arial"/>
                        </a:rPr>
                        <a:t>Frames fraud as a rare, adaptive detection problem.</a:t>
                      </a:r>
                    </a:p>
                  </a:txBody>
                  <a:tcPr marL="64008" marR="54864" marT="32004" marB="32004" anchor="ctr">
                    <a:solidFill>
                      <a:srgbClr val="C4E1F2"/>
                    </a:solidFill>
                  </a:tcPr>
                </a:tc>
                <a:tc>
                  <a:txBody>
                    <a:bodyPr/>
                    <a:lstStyle/>
                    <a:p>
                      <a:pPr algn="l">
                        <a:spcAft>
                          <a:spcPts val="0"/>
                        </a:spcAft>
                      </a:pPr>
                      <a:r>
                        <a:rPr sz="1050" b="0">
                          <a:solidFill>
                            <a:srgbClr val="2B3744"/>
                          </a:solidFill>
                          <a:latin typeface="Arial"/>
                        </a:rPr>
                        <a:t>Review paper; results depend on domain data and evaluation.</a:t>
                      </a:r>
                    </a:p>
                  </a:txBody>
                  <a:tcPr marL="64008" marR="54864" marT="32004" marB="32004" anchor="ctr">
                    <a:solidFill>
                      <a:srgbClr val="C4E1F2"/>
                    </a:solidFill>
                  </a:tcPr>
                </a:tc>
                <a:extLst>
                  <a:ext uri="{0D108BD9-81ED-4DB2-BD59-A6C34878D82A}">
                    <a16:rowId xmlns:a16="http://schemas.microsoft.com/office/drawing/2014/main" val="10001"/>
                  </a:ext>
                </a:extLst>
              </a:tr>
              <a:tr h="914400">
                <a:tc>
                  <a:txBody>
                    <a:bodyPr/>
                    <a:lstStyle/>
                    <a:p>
                      <a:pPr algn="ctr">
                        <a:spcAft>
                          <a:spcPts val="0"/>
                        </a:spcAft>
                      </a:pPr>
                      <a:r>
                        <a:rPr sz="1050" b="0">
                          <a:solidFill>
                            <a:srgbClr val="2B3744"/>
                          </a:solidFill>
                          <a:latin typeface="Arial"/>
                        </a:rPr>
                        <a:t>2</a:t>
                      </a:r>
                    </a:p>
                  </a:txBody>
                  <a:tcPr marL="64008" marR="54864" marT="32004" marB="32004" anchor="ctr"/>
                </a:tc>
                <a:tc>
                  <a:txBody>
                    <a:bodyPr/>
                    <a:lstStyle/>
                    <a:p>
                      <a:pPr algn="l">
                        <a:spcAft>
                          <a:spcPts val="0"/>
                        </a:spcAft>
                      </a:pPr>
                      <a:r>
                        <a:rPr sz="1050" b="0">
                          <a:solidFill>
                            <a:srgbClr val="2B3744"/>
                          </a:solidFill>
                          <a:latin typeface="Arial"/>
                        </a:rPr>
                        <a:t>PaySim (2016) + BankSim (2014) [2], [3]</a:t>
                      </a:r>
                    </a:p>
                  </a:txBody>
                  <a:tcPr marL="64008" marR="54864" marT="32004" marB="32004" anchor="ctr"/>
                </a:tc>
                <a:tc>
                  <a:txBody>
                    <a:bodyPr/>
                    <a:lstStyle/>
                    <a:p>
                      <a:pPr algn="l">
                        <a:spcAft>
                          <a:spcPts val="0"/>
                        </a:spcAft>
                      </a:pPr>
                      <a:r>
                        <a:rPr sz="1050" b="0">
                          <a:solidFill>
                            <a:srgbClr val="2B3744"/>
                          </a:solidFill>
                          <a:latin typeface="Arial"/>
                        </a:rPr>
                        <a:t>Agent-based transaction simulators</a:t>
                      </a:r>
                    </a:p>
                  </a:txBody>
                  <a:tcPr marL="64008" marR="54864" marT="32004" marB="32004" anchor="ctr"/>
                </a:tc>
                <a:tc>
                  <a:txBody>
                    <a:bodyPr/>
                    <a:lstStyle/>
                    <a:p>
                      <a:pPr algn="l">
                        <a:spcAft>
                          <a:spcPts val="0"/>
                        </a:spcAft>
                      </a:pPr>
                      <a:r>
                        <a:rPr sz="1050" b="0">
                          <a:solidFill>
                            <a:srgbClr val="2B3744"/>
                          </a:solidFill>
                          <a:latin typeface="Arial"/>
                        </a:rPr>
                        <a:t>Provide shareable labeled data for studying payment fraud.</a:t>
                      </a:r>
                    </a:p>
                  </a:txBody>
                  <a:tcPr marL="64008" marR="54864" marT="32004" marB="32004" anchor="ctr"/>
                </a:tc>
                <a:tc>
                  <a:txBody>
                    <a:bodyPr/>
                    <a:lstStyle/>
                    <a:p>
                      <a:pPr algn="l">
                        <a:spcAft>
                          <a:spcPts val="0"/>
                        </a:spcAft>
                      </a:pPr>
                      <a:r>
                        <a:rPr sz="1050" b="0">
                          <a:solidFill>
                            <a:srgbClr val="2B3744"/>
                          </a:solidFill>
                          <a:latin typeface="Arial"/>
                        </a:rPr>
                        <a:t>Synthetic transactions do not guarantee transfer to observed or future data.</a:t>
                      </a:r>
                    </a:p>
                  </a:txBody>
                  <a:tcPr marL="64008" marR="54864" marT="32004" marB="32004" anchor="ctr"/>
                </a:tc>
                <a:extLst>
                  <a:ext uri="{0D108BD9-81ED-4DB2-BD59-A6C34878D82A}">
                    <a16:rowId xmlns:a16="http://schemas.microsoft.com/office/drawing/2014/main" val="10002"/>
                  </a:ext>
                </a:extLst>
              </a:tr>
              <a:tr h="914400">
                <a:tc>
                  <a:txBody>
                    <a:bodyPr/>
                    <a:lstStyle/>
                    <a:p>
                      <a:pPr algn="ctr">
                        <a:spcAft>
                          <a:spcPts val="0"/>
                        </a:spcAft>
                      </a:pPr>
                      <a:r>
                        <a:rPr sz="1050" b="0">
                          <a:solidFill>
                            <a:srgbClr val="2B3744"/>
                          </a:solidFill>
                          <a:latin typeface="Arial"/>
                        </a:rPr>
                        <a:t>3</a:t>
                      </a:r>
                    </a:p>
                  </a:txBody>
                  <a:tcPr marL="64008" marR="54864" marT="32004" marB="32004" anchor="ctr">
                    <a:solidFill>
                      <a:srgbClr val="C4E1F2"/>
                    </a:solidFill>
                  </a:tcPr>
                </a:tc>
                <a:tc>
                  <a:txBody>
                    <a:bodyPr/>
                    <a:lstStyle/>
                    <a:p>
                      <a:pPr algn="l">
                        <a:spcAft>
                          <a:spcPts val="0"/>
                        </a:spcAft>
                      </a:pPr>
                      <a:r>
                        <a:rPr sz="1050" b="0">
                          <a:solidFill>
                            <a:srgbClr val="2B3744"/>
                          </a:solidFill>
                          <a:latin typeface="Arial"/>
                        </a:rPr>
                        <a:t>Chen &amp; Guestrin (2016), XGBoost [4]</a:t>
                      </a:r>
                    </a:p>
                  </a:txBody>
                  <a:tcPr marL="64008" marR="54864" marT="32004" marB="32004" anchor="ctr">
                    <a:solidFill>
                      <a:srgbClr val="C4E1F2"/>
                    </a:solidFill>
                  </a:tcPr>
                </a:tc>
                <a:tc>
                  <a:txBody>
                    <a:bodyPr/>
                    <a:lstStyle/>
                    <a:p>
                      <a:pPr algn="l">
                        <a:spcAft>
                          <a:spcPts val="0"/>
                        </a:spcAft>
                      </a:pPr>
                      <a:r>
                        <a:rPr sz="1050" b="0">
                          <a:solidFill>
                            <a:srgbClr val="2B3744"/>
                          </a:solidFill>
                          <a:latin typeface="Arial"/>
                        </a:rPr>
                        <a:t>Regularized gradient-boosted trees</a:t>
                      </a:r>
                    </a:p>
                  </a:txBody>
                  <a:tcPr marL="64008" marR="54864" marT="32004" marB="32004" anchor="ctr">
                    <a:solidFill>
                      <a:srgbClr val="C4E1F2"/>
                    </a:solidFill>
                  </a:tcPr>
                </a:tc>
                <a:tc>
                  <a:txBody>
                    <a:bodyPr/>
                    <a:lstStyle/>
                    <a:p>
                      <a:pPr algn="l">
                        <a:spcAft>
                          <a:spcPts val="0"/>
                        </a:spcAft>
                      </a:pPr>
                      <a:r>
                        <a:rPr sz="1050" b="0">
                          <a:solidFill>
                            <a:srgbClr val="2B3744"/>
                          </a:solidFill>
                          <a:latin typeface="Arial"/>
                        </a:rPr>
                        <a:t>Scalable tree boosting for structured prediction tasks.</a:t>
                      </a:r>
                    </a:p>
                  </a:txBody>
                  <a:tcPr marL="64008" marR="54864" marT="32004" marB="32004" anchor="ctr">
                    <a:solidFill>
                      <a:srgbClr val="C4E1F2"/>
                    </a:solidFill>
                  </a:tcPr>
                </a:tc>
                <a:tc>
                  <a:txBody>
                    <a:bodyPr/>
                    <a:lstStyle/>
                    <a:p>
                      <a:pPr algn="l">
                        <a:spcAft>
                          <a:spcPts val="0"/>
                        </a:spcAft>
                      </a:pPr>
                      <a:r>
                        <a:rPr sz="1050" b="0">
                          <a:solidFill>
                            <a:srgbClr val="2B3744"/>
                          </a:solidFill>
                          <a:latin typeface="Arial"/>
                        </a:rPr>
                        <a:t>Requires tuning; ranking performance does not set an operating threshold.</a:t>
                      </a:r>
                    </a:p>
                  </a:txBody>
                  <a:tcPr marL="64008" marR="54864" marT="32004" marB="32004" anchor="ctr">
                    <a:solidFill>
                      <a:srgbClr val="C4E1F2"/>
                    </a:solidFill>
                  </a:tcPr>
                </a:tc>
                <a:extLst>
                  <a:ext uri="{0D108BD9-81ED-4DB2-BD59-A6C34878D82A}">
                    <a16:rowId xmlns:a16="http://schemas.microsoft.com/office/drawing/2014/main" val="10003"/>
                  </a:ext>
                </a:extLst>
              </a:tr>
              <a:tr h="914400">
                <a:tc>
                  <a:txBody>
                    <a:bodyPr/>
                    <a:lstStyle/>
                    <a:p>
                      <a:pPr algn="ctr">
                        <a:spcAft>
                          <a:spcPts val="0"/>
                        </a:spcAft>
                      </a:pPr>
                      <a:r>
                        <a:rPr sz="1050" b="0">
                          <a:solidFill>
                            <a:srgbClr val="2B3744"/>
                          </a:solidFill>
                          <a:latin typeface="Arial"/>
                        </a:rPr>
                        <a:t>4</a:t>
                      </a:r>
                    </a:p>
                  </a:txBody>
                  <a:tcPr marL="64008" marR="54864" marT="32004" marB="32004" anchor="ctr"/>
                </a:tc>
                <a:tc>
                  <a:txBody>
                    <a:bodyPr/>
                    <a:lstStyle/>
                    <a:p>
                      <a:pPr algn="l">
                        <a:spcAft>
                          <a:spcPts val="0"/>
                        </a:spcAft>
                      </a:pPr>
                      <a:r>
                        <a:rPr sz="1050" b="0">
                          <a:solidFill>
                            <a:srgbClr val="2B3744"/>
                          </a:solidFill>
                          <a:latin typeface="Arial"/>
                        </a:rPr>
                        <a:t>Liu, Ting &amp; Zhou (2008), Isolation Forest [5]</a:t>
                      </a:r>
                    </a:p>
                  </a:txBody>
                  <a:tcPr marL="64008" marR="54864" marT="32004" marB="32004" anchor="ctr"/>
                </a:tc>
                <a:tc>
                  <a:txBody>
                    <a:bodyPr/>
                    <a:lstStyle/>
                    <a:p>
                      <a:pPr algn="l">
                        <a:spcAft>
                          <a:spcPts val="0"/>
                        </a:spcAft>
                      </a:pPr>
                      <a:r>
                        <a:rPr sz="1050" b="0">
                          <a:solidFill>
                            <a:srgbClr val="2B3744"/>
                          </a:solidFill>
                          <a:latin typeface="Arial"/>
                        </a:rPr>
                        <a:t>Unsupervised isolation-based anomaly detection</a:t>
                      </a:r>
                    </a:p>
                  </a:txBody>
                  <a:tcPr marL="64008" marR="54864" marT="32004" marB="32004" anchor="ctr"/>
                </a:tc>
                <a:tc>
                  <a:txBody>
                    <a:bodyPr/>
                    <a:lstStyle/>
                    <a:p>
                      <a:pPr algn="l">
                        <a:spcAft>
                          <a:spcPts val="0"/>
                        </a:spcAft>
                      </a:pPr>
                      <a:r>
                        <a:rPr sz="1050" b="0">
                          <a:solidFill>
                            <a:srgbClr val="2B3744"/>
                          </a:solidFill>
                          <a:latin typeface="Arial"/>
                        </a:rPr>
                        <a:t>Finds unusual records without supervised labels at fit time.</a:t>
                      </a:r>
                    </a:p>
                  </a:txBody>
                  <a:tcPr marL="64008" marR="54864" marT="32004" marB="32004" anchor="ctr"/>
                </a:tc>
                <a:tc>
                  <a:txBody>
                    <a:bodyPr/>
                    <a:lstStyle/>
                    <a:p>
                      <a:pPr algn="l">
                        <a:spcAft>
                          <a:spcPts val="0"/>
                        </a:spcAft>
                      </a:pPr>
                      <a:r>
                        <a:rPr sz="1050" b="0">
                          <a:solidFill>
                            <a:srgbClr val="2B3744"/>
                          </a:solidFill>
                          <a:latin typeface="Arial"/>
                        </a:rPr>
                        <a:t>Anomaly is not the same as fraud; anomaly scores need careful interpretation.</a:t>
                      </a:r>
                    </a:p>
                  </a:txBody>
                  <a:tcPr marL="64008" marR="54864" marT="32004" marB="32004" anchor="ctr"/>
                </a:tc>
                <a:extLst>
                  <a:ext uri="{0D108BD9-81ED-4DB2-BD59-A6C34878D82A}">
                    <a16:rowId xmlns:a16="http://schemas.microsoft.com/office/drawing/2014/main" val="10004"/>
                  </a:ext>
                </a:extLst>
              </a:tr>
            </a:tbl>
          </a:graphicData>
        </a:graphic>
      </p:graphicFrame>
      <p:sp>
        <p:nvSpPr>
          <p:cNvPr id="4" name="Slide Number Placeholder 3"/>
          <p:cNvSpPr>
            <a:spLocks noGrp="1"/>
          </p:cNvSpPr>
          <p:nvPr>
            <p:ph type="sldNum" sz="quarter" idx="12"/>
          </p:nvPr>
        </p:nvSpPr>
        <p:spPr/>
        <p:txBody>
          <a:bodyPr/>
          <a:lstStyle/>
          <a:p>
            <a:fld id="{C02A2637-A5A3-49FA-B214-6E67543099EF}" type="slidenum">
              <a:rPr lang="en-US" smtClean="0"/>
              <a:t>5</a:t>
            </a:fld>
            <a:endParaRPr lang="en-US"/>
          </a:p>
        </p:txBody>
      </p:sp>
      <p:sp>
        <p:nvSpPr>
          <p:cNvPr id="6" name="TextBox 5"/>
          <p:cNvSpPr txBox="1"/>
          <p:nvPr/>
        </p:nvSpPr>
        <p:spPr>
          <a:xfrm>
            <a:off x="566928" y="5843016"/>
            <a:ext cx="11612880" cy="713232"/>
          </a:xfrm>
          <a:prstGeom prst="rect">
            <a:avLst/>
          </a:prstGeom>
          <a:noFill/>
        </p:spPr>
        <p:txBody>
          <a:bodyPr wrap="square" anchor="ctr" lIns="10972" rIns="10972" tIns="10972" bIns="10972">
            <a:normAutofit/>
          </a:bodyPr>
          <a:lstStyle/>
          <a:p>
            <a:pPr algn="l"/>
            <a:r>
              <a:rPr sz="720" b="0">
                <a:solidFill>
                  <a:srgbClr val="63707E"/>
                </a:solidFill>
                <a:latin typeface="Arial"/>
              </a:rPr>
              <a:t>[1] R. J. Bolton and D. J. Hand, “Statistical Fraud Detection: A Review,” Statistical Science, vol. 17, no. 3, pp. 235–249, 2002.
[2] E. A. Lopez-Rojas, A. Elmir, and S. Axelsson, “PaySim: A Financial Mobile Money Simulator for Fraud Detection,” EMSS, 2016.
[3] E. A. Lopez-Rojas and S. Axelsson, “BankSim: A Bank Payments Simulator for Fraud Detection Research,” EMSS, 2014.
[4] T. Chen and C. Guestrin, “XGBoost: A Scalable Tree Boosting System,” Proc. ACM SIGKDD, pp. 785–794, 2016.
[5] F. T. Liu, K. M. Ting, and Z.-H. Zhou, “Isolation Forest,” Proc. IEEE ICDM, pp. 413–422, 2008.
[13] I. Sharafaldin, A. H. Lashkari, and A. A. Ghorbani, “Toward Generating a New Intrusion Detection Dataset and Intrusion Traffic Characterization,” ICISSP, 2018.
[14] IEEE Computational Intelligence Society, “IEEE-CIS Fraud Detection,” Kaggle competition, 2019.</a:t>
            </a:r>
          </a:p>
        </p:txBody>
      </p:sp>
    </p:spTree>
    <p:extLst>
      <p:ext uri="{BB962C8B-B14F-4D97-AF65-F5344CB8AC3E}">
        <p14:creationId xmlns:p14="http://schemas.microsoft.com/office/powerpoint/2010/main" val="30954781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24EBC-07D1-5582-ECAD-FB015F64BD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93089C-2484-51E9-0A89-B13831434514}"/>
              </a:ext>
            </a:extLst>
          </p:cNvPr>
          <p:cNvSpPr>
            <a:spLocks noGrp="1"/>
          </p:cNvSpPr>
          <p:nvPr>
            <p:ph type="title"/>
          </p:nvPr>
        </p:nvSpPr>
        <p:spPr>
          <a:xfrm>
            <a:off x="0" y="0"/>
            <a:ext cx="12801600" cy="1512146"/>
          </a:xfrm>
          <a:solidFill>
            <a:schemeClr val="tx2">
              <a:lumMod val="60000"/>
              <a:lumOff val="40000"/>
            </a:schemeClr>
          </a:solidFill>
        </p:spPr>
        <p:txBody>
          <a:bodyPr vert="horz" lIns="114945" tIns="57473" rIns="114945" bIns="57473" rtlCol="0" anchor="ctr">
            <a:normAutofit/>
          </a:bodyPr>
          <a:lstStyle/>
          <a:p>
            <a:r>
              <a:rPr b="1">
                <a:latin typeface="Arial"/>
              </a:rPr>
              <a:t>4. RESEARCH GAPS</a:t>
            </a:r>
          </a:p>
        </p:txBody>
      </p:sp>
      <p:sp>
        <p:nvSpPr>
          <p:cNvPr id="4" name="Slide Number Placeholder 3">
            <a:extLst>
              <a:ext uri="{FF2B5EF4-FFF2-40B4-BE49-F238E27FC236}">
                <a16:creationId xmlns:a16="http://schemas.microsoft.com/office/drawing/2014/main" id="{A9E1DF2F-2EFC-F28C-9A44-F9337C42CAAA}"/>
              </a:ext>
            </a:extLst>
          </p:cNvPr>
          <p:cNvSpPr>
            <a:spLocks noGrp="1"/>
          </p:cNvSpPr>
          <p:nvPr>
            <p:ph type="sldNum" sz="quarter" idx="12"/>
          </p:nvPr>
        </p:nvSpPr>
        <p:spPr/>
        <p:txBody>
          <a:bodyPr/>
          <a:lstStyle/>
          <a:p>
            <a:fld id="{C02A2637-A5A3-49FA-B214-6E67543099EF}" type="slidenum">
              <a:rPr lang="en-US" smtClean="0"/>
              <a:t>6</a:t>
            </a:fld>
            <a:endParaRPr lang="en-US"/>
          </a:p>
        </p:txBody>
      </p:sp>
      <p:sp>
        <p:nvSpPr>
          <p:cNvPr id="5" name="Rounded Rectangle 4"/>
          <p:cNvSpPr/>
          <p:nvPr/>
        </p:nvSpPr>
        <p:spPr>
          <a:xfrm>
            <a:off x="594360" y="1783080"/>
            <a:ext cx="5559552" cy="1225296"/>
          </a:xfrm>
          <a:prstGeom prst="roundRect">
            <a:avLst/>
          </a:prstGeom>
          <a:solidFill>
            <a:srgbClr val="EFF6FA"/>
          </a:solidFill>
          <a:ln w="1270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783080"/>
            <a:ext cx="82296" cy="1225296"/>
          </a:xfrm>
          <a:prstGeom prst="rect">
            <a:avLst/>
          </a:prstGeom>
          <a:solidFill>
            <a:srgbClr val="1282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1856231"/>
            <a:ext cx="5294376" cy="310896"/>
          </a:xfrm>
          <a:prstGeom prst="rect">
            <a:avLst/>
          </a:prstGeom>
          <a:noFill/>
        </p:spPr>
        <p:txBody>
          <a:bodyPr wrap="square" anchor="ctr" lIns="9144" rIns="9144" tIns="9144" bIns="9144">
            <a:normAutofit/>
          </a:bodyPr>
          <a:lstStyle/>
          <a:p>
            <a:pPr algn="l"/>
            <a:r>
              <a:rPr sz="1600" b="1">
                <a:solidFill>
                  <a:srgbClr val="1282BE"/>
                </a:solidFill>
                <a:latin typeface="Arial"/>
              </a:rPr>
              <a:t>Detection + simulation are often separate</a:t>
            </a:r>
          </a:p>
        </p:txBody>
      </p:sp>
      <p:sp>
        <p:nvSpPr>
          <p:cNvPr id="8" name="TextBox 7"/>
          <p:cNvSpPr txBox="1"/>
          <p:nvPr/>
        </p:nvSpPr>
        <p:spPr>
          <a:xfrm>
            <a:off x="758952" y="2212848"/>
            <a:ext cx="5285232" cy="740664"/>
          </a:xfrm>
          <a:prstGeom prst="rect">
            <a:avLst/>
          </a:prstGeom>
          <a:noFill/>
        </p:spPr>
        <p:txBody>
          <a:bodyPr wrap="square" anchor="t" lIns="9144" rIns="9144" tIns="9144" bIns="9144">
            <a:normAutofit/>
          </a:bodyPr>
          <a:lstStyle/>
          <a:p>
            <a:pPr algn="l"/>
            <a:r>
              <a:rPr sz="1300" b="0">
                <a:solidFill>
                  <a:srgbClr val="2B3744"/>
                </a:solidFill>
                <a:latin typeface="Arial"/>
              </a:rPr>
              <a:t>Review II motivates a unified workflow. Here, model evaluation and the scenario sandbox share a dashboard, but the simulator is not coupled to learned model dynamics.</a:t>
            </a:r>
          </a:p>
        </p:txBody>
      </p:sp>
      <p:sp>
        <p:nvSpPr>
          <p:cNvPr id="9" name="Rounded Rectangle 8"/>
          <p:cNvSpPr/>
          <p:nvPr/>
        </p:nvSpPr>
        <p:spPr>
          <a:xfrm>
            <a:off x="6473952" y="1783080"/>
            <a:ext cx="5559552" cy="1225296"/>
          </a:xfrm>
          <a:prstGeom prst="roundRect">
            <a:avLst/>
          </a:prstGeom>
          <a:solidFill>
            <a:srgbClr val="FFFFFF"/>
          </a:solidFill>
          <a:ln w="1270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73952" y="1783080"/>
            <a:ext cx="82296" cy="1225296"/>
          </a:xfrm>
          <a:prstGeom prst="rect">
            <a:avLst/>
          </a:prstGeom>
          <a:solidFill>
            <a:srgbClr val="248F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38544" y="1856231"/>
            <a:ext cx="5294376" cy="310896"/>
          </a:xfrm>
          <a:prstGeom prst="rect">
            <a:avLst/>
          </a:prstGeom>
          <a:noFill/>
        </p:spPr>
        <p:txBody>
          <a:bodyPr wrap="square" anchor="ctr" lIns="9144" rIns="9144" tIns="9144" bIns="9144">
            <a:normAutofit/>
          </a:bodyPr>
          <a:lstStyle/>
          <a:p>
            <a:pPr algn="l"/>
            <a:r>
              <a:rPr sz="1600" b="1">
                <a:solidFill>
                  <a:srgbClr val="248F84"/>
                </a:solidFill>
                <a:latin typeface="Arial"/>
              </a:rPr>
              <a:t>Limited labeled data</a:t>
            </a:r>
          </a:p>
        </p:txBody>
      </p:sp>
      <p:sp>
        <p:nvSpPr>
          <p:cNvPr id="12" name="TextBox 11"/>
          <p:cNvSpPr txBox="1"/>
          <p:nvPr/>
        </p:nvSpPr>
        <p:spPr>
          <a:xfrm>
            <a:off x="6638544" y="2212848"/>
            <a:ext cx="5285232" cy="740664"/>
          </a:xfrm>
          <a:prstGeom prst="rect">
            <a:avLst/>
          </a:prstGeom>
          <a:noFill/>
        </p:spPr>
        <p:txBody>
          <a:bodyPr wrap="square" anchor="t" lIns="9144" rIns="9144" tIns="9144" bIns="9144">
            <a:normAutofit/>
          </a:bodyPr>
          <a:lstStyle/>
          <a:p>
            <a:pPr algn="l"/>
            <a:r>
              <a:rPr sz="1300" b="0">
                <a:solidFill>
                  <a:srgbClr val="2B3744"/>
                </a:solidFill>
                <a:latin typeface="Arial"/>
              </a:rPr>
              <a:t>Public payment benchmarks are simulated or anonymized; results cannot by themselves establish performance on live institutions.</a:t>
            </a:r>
          </a:p>
        </p:txBody>
      </p:sp>
      <p:sp>
        <p:nvSpPr>
          <p:cNvPr id="13" name="Rounded Rectangle 12"/>
          <p:cNvSpPr/>
          <p:nvPr/>
        </p:nvSpPr>
        <p:spPr>
          <a:xfrm>
            <a:off x="594360" y="3218688"/>
            <a:ext cx="5559552" cy="1225296"/>
          </a:xfrm>
          <a:prstGeom prst="roundRect">
            <a:avLst/>
          </a:prstGeom>
          <a:solidFill>
            <a:srgbClr val="EFF6FA"/>
          </a:solidFill>
          <a:ln w="1270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94360" y="3218688"/>
            <a:ext cx="82296" cy="1225296"/>
          </a:xfrm>
          <a:prstGeom prst="rect">
            <a:avLst/>
          </a:prstGeom>
          <a:solidFill>
            <a:srgbClr val="D69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 y="3291840"/>
            <a:ext cx="5294376" cy="310896"/>
          </a:xfrm>
          <a:prstGeom prst="rect">
            <a:avLst/>
          </a:prstGeom>
          <a:noFill/>
        </p:spPr>
        <p:txBody>
          <a:bodyPr wrap="square" anchor="ctr" lIns="9144" rIns="9144" tIns="9144" bIns="9144">
            <a:normAutofit/>
          </a:bodyPr>
          <a:lstStyle/>
          <a:p>
            <a:pPr algn="l"/>
            <a:r>
              <a:rPr sz="1600" b="1">
                <a:solidFill>
                  <a:srgbClr val="D69120"/>
                </a:solidFill>
                <a:latin typeface="Arial"/>
              </a:rPr>
              <a:t>Rare fraud and alert burden</a:t>
            </a:r>
          </a:p>
        </p:txBody>
      </p:sp>
      <p:sp>
        <p:nvSpPr>
          <p:cNvPr id="16" name="TextBox 15"/>
          <p:cNvSpPr txBox="1"/>
          <p:nvPr/>
        </p:nvSpPr>
        <p:spPr>
          <a:xfrm>
            <a:off x="758952" y="3648456"/>
            <a:ext cx="5285232" cy="740664"/>
          </a:xfrm>
          <a:prstGeom prst="rect">
            <a:avLst/>
          </a:prstGeom>
          <a:noFill/>
        </p:spPr>
        <p:txBody>
          <a:bodyPr wrap="square" anchor="t" lIns="9144" rIns="9144" tIns="9144" bIns="9144">
            <a:normAutofit/>
          </a:bodyPr>
          <a:lstStyle/>
          <a:p>
            <a:pPr algn="l"/>
            <a:r>
              <a:rPr sz="1300" b="0">
                <a:solidFill>
                  <a:srgbClr val="2B3744"/>
                </a:solidFill>
                <a:latin typeface="Arial"/>
              </a:rPr>
              <a:t>Imbalance makes accuracy insufficient. Precision, recall, F1, AUC, thresholds, and confusion counts expose different costs.</a:t>
            </a:r>
          </a:p>
        </p:txBody>
      </p:sp>
      <p:sp>
        <p:nvSpPr>
          <p:cNvPr id="17" name="Rounded Rectangle 16"/>
          <p:cNvSpPr/>
          <p:nvPr/>
        </p:nvSpPr>
        <p:spPr>
          <a:xfrm>
            <a:off x="6473952" y="3218688"/>
            <a:ext cx="5559552" cy="1225296"/>
          </a:xfrm>
          <a:prstGeom prst="roundRect">
            <a:avLst/>
          </a:prstGeom>
          <a:solidFill>
            <a:srgbClr val="FFFFFF"/>
          </a:solidFill>
          <a:ln w="1270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73952" y="3218688"/>
            <a:ext cx="82296" cy="1225296"/>
          </a:xfrm>
          <a:prstGeom prst="rect">
            <a:avLst/>
          </a:prstGeom>
          <a:solidFill>
            <a:srgbClr val="22AA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38544" y="3291840"/>
            <a:ext cx="5294376" cy="310896"/>
          </a:xfrm>
          <a:prstGeom prst="rect">
            <a:avLst/>
          </a:prstGeom>
          <a:noFill/>
        </p:spPr>
        <p:txBody>
          <a:bodyPr wrap="square" anchor="ctr" lIns="9144" rIns="9144" tIns="9144" bIns="9144">
            <a:normAutofit/>
          </a:bodyPr>
          <a:lstStyle/>
          <a:p>
            <a:pPr algn="l"/>
            <a:r>
              <a:rPr sz="1600" b="1">
                <a:solidFill>
                  <a:srgbClr val="22AAD2"/>
                </a:solidFill>
                <a:latin typeface="Arial"/>
              </a:rPr>
              <a:t>Different domains need separate validation</a:t>
            </a:r>
          </a:p>
        </p:txBody>
      </p:sp>
      <p:sp>
        <p:nvSpPr>
          <p:cNvPr id="20" name="TextBox 19"/>
          <p:cNvSpPr txBox="1"/>
          <p:nvPr/>
        </p:nvSpPr>
        <p:spPr>
          <a:xfrm>
            <a:off x="6638544" y="3648456"/>
            <a:ext cx="5285232" cy="740664"/>
          </a:xfrm>
          <a:prstGeom prst="rect">
            <a:avLst/>
          </a:prstGeom>
          <a:noFill/>
        </p:spPr>
        <p:txBody>
          <a:bodyPr wrap="square" anchor="t" lIns="9144" rIns="9144" tIns="9144" bIns="9144">
            <a:normAutofit/>
          </a:bodyPr>
          <a:lstStyle/>
          <a:p>
            <a:pPr algn="l"/>
            <a:r>
              <a:rPr sz="1300" b="0">
                <a:solidFill>
                  <a:srgbClr val="2B3744"/>
                </a:solidFill>
                <a:latin typeface="Arial"/>
              </a:rPr>
              <a:t>Payment fraud and CICIDS network intrusion are distinct tasks. A common interface does not make their features or results interchangeable.</a:t>
            </a:r>
          </a:p>
        </p:txBody>
      </p:sp>
      <p:sp>
        <p:nvSpPr>
          <p:cNvPr id="21" name="Rounded Rectangle 20"/>
          <p:cNvSpPr/>
          <p:nvPr/>
        </p:nvSpPr>
        <p:spPr>
          <a:xfrm>
            <a:off x="594360" y="4654296"/>
            <a:ext cx="5559552" cy="1225296"/>
          </a:xfrm>
          <a:prstGeom prst="roundRect">
            <a:avLst/>
          </a:prstGeom>
          <a:solidFill>
            <a:srgbClr val="EFF6FA"/>
          </a:solidFill>
          <a:ln w="1270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94360" y="4654296"/>
            <a:ext cx="82296" cy="1225296"/>
          </a:xfrm>
          <a:prstGeom prst="rect">
            <a:avLst/>
          </a:prstGeom>
          <a:solidFill>
            <a:srgbClr val="BB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8952" y="4727448"/>
            <a:ext cx="5294376" cy="310896"/>
          </a:xfrm>
          <a:prstGeom prst="rect">
            <a:avLst/>
          </a:prstGeom>
          <a:noFill/>
        </p:spPr>
        <p:txBody>
          <a:bodyPr wrap="square" anchor="ctr" lIns="9144" rIns="9144" tIns="9144" bIns="9144">
            <a:normAutofit/>
          </a:bodyPr>
          <a:lstStyle/>
          <a:p>
            <a:pPr algn="l"/>
            <a:r>
              <a:rPr sz="1600" b="1">
                <a:solidFill>
                  <a:srgbClr val="BB4141"/>
                </a:solidFill>
                <a:latin typeface="Arial"/>
              </a:rPr>
              <a:t>Changing behavior over time</a:t>
            </a:r>
          </a:p>
        </p:txBody>
      </p:sp>
      <p:sp>
        <p:nvSpPr>
          <p:cNvPr id="24" name="TextBox 23"/>
          <p:cNvSpPr txBox="1"/>
          <p:nvPr/>
        </p:nvSpPr>
        <p:spPr>
          <a:xfrm>
            <a:off x="758952" y="5084064"/>
            <a:ext cx="5285232" cy="740664"/>
          </a:xfrm>
          <a:prstGeom prst="rect">
            <a:avLst/>
          </a:prstGeom>
          <a:noFill/>
        </p:spPr>
        <p:txBody>
          <a:bodyPr wrap="square" anchor="t" lIns="9144" rIns="9144" tIns="9144" bIns="9144">
            <a:normAutofit/>
          </a:bodyPr>
          <a:lstStyle/>
          <a:p>
            <a:pPr algn="l"/>
            <a:r>
              <a:rPr sz="1300" b="0">
                <a:solidFill>
                  <a:srgbClr val="2B3744"/>
                </a:solidFill>
                <a:latin typeface="Arial"/>
              </a:rPr>
              <a:t>Fraud patterns can drift. A saved holdout score does not establish future-period reliability; temporal validation remains needed.</a:t>
            </a:r>
          </a:p>
        </p:txBody>
      </p:sp>
      <p:sp>
        <p:nvSpPr>
          <p:cNvPr id="25" name="Rounded Rectangle 24"/>
          <p:cNvSpPr/>
          <p:nvPr/>
        </p:nvSpPr>
        <p:spPr>
          <a:xfrm>
            <a:off x="6473952" y="4654296"/>
            <a:ext cx="5559552" cy="1225296"/>
          </a:xfrm>
          <a:prstGeom prst="roundRect">
            <a:avLst/>
          </a:prstGeom>
          <a:solidFill>
            <a:srgbClr val="FFFFFF"/>
          </a:solidFill>
          <a:ln w="1270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473952" y="4654296"/>
            <a:ext cx="82296" cy="1225296"/>
          </a:xfrm>
          <a:prstGeom prst="rect">
            <a:avLst/>
          </a:prstGeom>
          <a:solidFill>
            <a:srgbClr val="19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38544" y="4727448"/>
            <a:ext cx="5294376" cy="310896"/>
          </a:xfrm>
          <a:prstGeom prst="rect">
            <a:avLst/>
          </a:prstGeom>
          <a:noFill/>
        </p:spPr>
        <p:txBody>
          <a:bodyPr wrap="square" anchor="ctr" lIns="9144" rIns="9144" tIns="9144" bIns="9144">
            <a:normAutofit/>
          </a:bodyPr>
          <a:lstStyle/>
          <a:p>
            <a:pPr algn="l"/>
            <a:r>
              <a:rPr sz="1600" b="1">
                <a:solidFill>
                  <a:srgbClr val="19324D"/>
                </a:solidFill>
                <a:latin typeface="Arial"/>
              </a:rPr>
              <a:t>Explainability and operational fit</a:t>
            </a:r>
          </a:p>
        </p:txBody>
      </p:sp>
      <p:sp>
        <p:nvSpPr>
          <p:cNvPr id="28" name="TextBox 27"/>
          <p:cNvSpPr txBox="1"/>
          <p:nvPr/>
        </p:nvSpPr>
        <p:spPr>
          <a:xfrm>
            <a:off x="6638544" y="5084064"/>
            <a:ext cx="5285232" cy="740664"/>
          </a:xfrm>
          <a:prstGeom prst="rect">
            <a:avLst/>
          </a:prstGeom>
          <a:noFill/>
        </p:spPr>
        <p:txBody>
          <a:bodyPr wrap="square" anchor="t" lIns="9144" rIns="9144" tIns="9144" bIns="9144">
            <a:normAutofit/>
          </a:bodyPr>
          <a:lstStyle/>
          <a:p>
            <a:pPr algn="l"/>
            <a:r>
              <a:rPr sz="1300" b="0">
                <a:solidFill>
                  <a:srgbClr val="2B3744"/>
                </a:solidFill>
                <a:latin typeface="Arial"/>
              </a:rPr>
              <a:t>Review II highlights XAI and real-time use. This prototype does not implement SHAP/LIME or live sub-second payment integration.</a:t>
            </a:r>
          </a:p>
        </p:txBody>
      </p:sp>
      <p:sp>
        <p:nvSpPr>
          <p:cNvPr id="29" name="TextBox 28"/>
          <p:cNvSpPr txBox="1"/>
          <p:nvPr/>
        </p:nvSpPr>
        <p:spPr>
          <a:xfrm>
            <a:off x="566928" y="6419088"/>
            <a:ext cx="11612880" cy="256032"/>
          </a:xfrm>
          <a:prstGeom prst="rect">
            <a:avLst/>
          </a:prstGeom>
          <a:noFill/>
        </p:spPr>
        <p:txBody>
          <a:bodyPr wrap="square" anchor="ctr" lIns="9144" rIns="9144" tIns="9144" bIns="9144">
            <a:normAutofit/>
          </a:bodyPr>
          <a:lstStyle/>
          <a:p>
            <a:pPr algn="l"/>
            <a:r>
              <a:rPr sz="740" b="0">
                <a:solidFill>
                  <a:srgbClr val="63707E"/>
                </a:solidFill>
                <a:latin typeface="Arial"/>
              </a:rPr>
              <a:t>These gaps motivate comparison and transparent reporting; this prototype does not claim to resolve them all.</a:t>
            </a:r>
          </a:p>
        </p:txBody>
      </p:sp>
    </p:spTree>
    <p:extLst>
      <p:ext uri="{BB962C8B-B14F-4D97-AF65-F5344CB8AC3E}">
        <p14:creationId xmlns:p14="http://schemas.microsoft.com/office/powerpoint/2010/main" val="42415402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266A5-DEC6-423E-4642-6DAA46905B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FC9D02-AB68-99CB-182A-0A2671D6BD83}"/>
              </a:ext>
            </a:extLst>
          </p:cNvPr>
          <p:cNvSpPr>
            <a:spLocks noGrp="1"/>
          </p:cNvSpPr>
          <p:nvPr>
            <p:ph type="title"/>
          </p:nvPr>
        </p:nvSpPr>
        <p:spPr>
          <a:xfrm>
            <a:off x="0" y="0"/>
            <a:ext cx="12801600" cy="1512146"/>
          </a:xfrm>
          <a:solidFill>
            <a:schemeClr val="tx2">
              <a:lumMod val="60000"/>
              <a:lumOff val="40000"/>
            </a:schemeClr>
          </a:solidFill>
        </p:spPr>
        <p:txBody>
          <a:bodyPr vert="horz" lIns="114945" tIns="57473" rIns="114945" bIns="57473" rtlCol="0" anchor="ctr">
            <a:normAutofit/>
          </a:bodyPr>
          <a:lstStyle/>
          <a:p>
            <a:r>
              <a:rPr b="1">
                <a:latin typeface="Arial"/>
              </a:rPr>
              <a:t>5. OBJECTIVES</a:t>
            </a:r>
          </a:p>
        </p:txBody>
      </p:sp>
      <p:sp>
        <p:nvSpPr>
          <p:cNvPr id="4" name="Slide Number Placeholder 3">
            <a:extLst>
              <a:ext uri="{FF2B5EF4-FFF2-40B4-BE49-F238E27FC236}">
                <a16:creationId xmlns:a16="http://schemas.microsoft.com/office/drawing/2014/main" id="{0EDA4E0E-51B9-057E-EB16-03F0967919ED}"/>
              </a:ext>
            </a:extLst>
          </p:cNvPr>
          <p:cNvSpPr>
            <a:spLocks noGrp="1"/>
          </p:cNvSpPr>
          <p:nvPr>
            <p:ph type="sldNum" sz="quarter" idx="12"/>
          </p:nvPr>
        </p:nvSpPr>
        <p:spPr/>
        <p:txBody>
          <a:bodyPr/>
          <a:lstStyle/>
          <a:p>
            <a:fld id="{C02A2637-A5A3-49FA-B214-6E67543099EF}" type="slidenum">
              <a:rPr lang="en-US" smtClean="0"/>
              <a:t>7</a:t>
            </a:fld>
            <a:endParaRPr lang="en-US"/>
          </a:p>
        </p:txBody>
      </p:sp>
      <p:sp>
        <p:nvSpPr>
          <p:cNvPr id="5" name="Rounded Rectangle 4"/>
          <p:cNvSpPr/>
          <p:nvPr/>
        </p:nvSpPr>
        <p:spPr>
          <a:xfrm>
            <a:off x="594360" y="1783080"/>
            <a:ext cx="5559552" cy="1207008"/>
          </a:xfrm>
          <a:prstGeom prst="roundRect">
            <a:avLst/>
          </a:prstGeom>
          <a:solidFill>
            <a:srgbClr val="E5F2FA"/>
          </a:solidFill>
          <a:ln w="1270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783080"/>
            <a:ext cx="82296" cy="1207008"/>
          </a:xfrm>
          <a:prstGeom prst="rect">
            <a:avLst/>
          </a:prstGeom>
          <a:solidFill>
            <a:srgbClr val="1282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1856231"/>
            <a:ext cx="5294376" cy="310896"/>
          </a:xfrm>
          <a:prstGeom prst="rect">
            <a:avLst/>
          </a:prstGeom>
          <a:noFill/>
        </p:spPr>
        <p:txBody>
          <a:bodyPr wrap="square" anchor="ctr" lIns="9144" rIns="9144" tIns="9144" bIns="9144">
            <a:normAutofit/>
          </a:bodyPr>
          <a:lstStyle/>
          <a:p>
            <a:pPr algn="l"/>
            <a:r>
              <a:rPr sz="1550" b="1">
                <a:solidFill>
                  <a:srgbClr val="1282BE"/>
                </a:solidFill>
                <a:latin typeface="Arial"/>
              </a:rPr>
              <a:t>01  Build a multi-source prototype</a:t>
            </a:r>
          </a:p>
        </p:txBody>
      </p:sp>
      <p:sp>
        <p:nvSpPr>
          <p:cNvPr id="8" name="TextBox 7"/>
          <p:cNvSpPr txBox="1"/>
          <p:nvPr/>
        </p:nvSpPr>
        <p:spPr>
          <a:xfrm>
            <a:off x="758952" y="2212848"/>
            <a:ext cx="5285232" cy="722376"/>
          </a:xfrm>
          <a:prstGeom prst="rect">
            <a:avLst/>
          </a:prstGeom>
          <a:noFill/>
        </p:spPr>
        <p:txBody>
          <a:bodyPr wrap="square" anchor="t" lIns="9144" rIns="9144" tIns="9144" bIns="9144">
            <a:normAutofit/>
          </a:bodyPr>
          <a:lstStyle/>
          <a:p>
            <a:pPr algn="l"/>
            <a:r>
              <a:rPr sz="1300" b="0">
                <a:solidFill>
                  <a:srgbClr val="2B3744"/>
                </a:solidFill>
                <a:latin typeface="Arial"/>
              </a:rPr>
              <a:t>Prepare PaySim, BankSim, IEEE-CIS, and CICIDS2017 as separate labeled detection tasks.</a:t>
            </a:r>
          </a:p>
        </p:txBody>
      </p:sp>
      <p:sp>
        <p:nvSpPr>
          <p:cNvPr id="9" name="Rounded Rectangle 8"/>
          <p:cNvSpPr/>
          <p:nvPr/>
        </p:nvSpPr>
        <p:spPr>
          <a:xfrm>
            <a:off x="6473952" y="1783080"/>
            <a:ext cx="5559552" cy="1207008"/>
          </a:xfrm>
          <a:prstGeom prst="roundRect">
            <a:avLst/>
          </a:prstGeom>
          <a:solidFill>
            <a:srgbClr val="E8F5EE"/>
          </a:solidFill>
          <a:ln w="1270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73952" y="1783080"/>
            <a:ext cx="82296" cy="1207008"/>
          </a:xfrm>
          <a:prstGeom prst="rect">
            <a:avLst/>
          </a:prstGeom>
          <a:solidFill>
            <a:srgbClr val="248F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38544" y="1856231"/>
            <a:ext cx="5294376" cy="310896"/>
          </a:xfrm>
          <a:prstGeom prst="rect">
            <a:avLst/>
          </a:prstGeom>
          <a:noFill/>
        </p:spPr>
        <p:txBody>
          <a:bodyPr wrap="square" anchor="ctr" lIns="9144" rIns="9144" tIns="9144" bIns="9144">
            <a:normAutofit/>
          </a:bodyPr>
          <a:lstStyle/>
          <a:p>
            <a:pPr algn="l"/>
            <a:r>
              <a:rPr sz="1550" b="1">
                <a:solidFill>
                  <a:srgbClr val="248F84"/>
                </a:solidFill>
                <a:latin typeface="Arial"/>
              </a:rPr>
              <a:t>02  Reduce evaluation leakage</a:t>
            </a:r>
          </a:p>
        </p:txBody>
      </p:sp>
      <p:sp>
        <p:nvSpPr>
          <p:cNvPr id="12" name="TextBox 11"/>
          <p:cNvSpPr txBox="1"/>
          <p:nvPr/>
        </p:nvSpPr>
        <p:spPr>
          <a:xfrm>
            <a:off x="6638544" y="2212848"/>
            <a:ext cx="5285232" cy="722376"/>
          </a:xfrm>
          <a:prstGeom prst="rect">
            <a:avLst/>
          </a:prstGeom>
          <a:noFill/>
        </p:spPr>
        <p:txBody>
          <a:bodyPr wrap="square" anchor="t" lIns="9144" rIns="9144" tIns="9144" bIns="9144">
            <a:normAutofit/>
          </a:bodyPr>
          <a:lstStyle/>
          <a:p>
            <a:pPr algn="l"/>
            <a:r>
              <a:rPr sz="1300" b="0">
                <a:solidFill>
                  <a:srgbClr val="2B3744"/>
                </a:solidFill>
                <a:latin typeface="Arial"/>
              </a:rPr>
              <a:t>Split data before fitting transforms; exclude target/leakage fields and save preprocessing with each model.</a:t>
            </a:r>
          </a:p>
        </p:txBody>
      </p:sp>
      <p:sp>
        <p:nvSpPr>
          <p:cNvPr id="13" name="Rounded Rectangle 12"/>
          <p:cNvSpPr/>
          <p:nvPr/>
        </p:nvSpPr>
        <p:spPr>
          <a:xfrm>
            <a:off x="594360" y="3209544"/>
            <a:ext cx="5559552" cy="1207008"/>
          </a:xfrm>
          <a:prstGeom prst="roundRect">
            <a:avLst/>
          </a:prstGeom>
          <a:solidFill>
            <a:srgbClr val="E5F2FA"/>
          </a:solidFill>
          <a:ln w="1270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94360" y="3209544"/>
            <a:ext cx="82296" cy="1207008"/>
          </a:xfrm>
          <a:prstGeom prst="rect">
            <a:avLst/>
          </a:prstGeom>
          <a:solidFill>
            <a:srgbClr val="1282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 y="3282696"/>
            <a:ext cx="5294376" cy="310896"/>
          </a:xfrm>
          <a:prstGeom prst="rect">
            <a:avLst/>
          </a:prstGeom>
          <a:noFill/>
        </p:spPr>
        <p:txBody>
          <a:bodyPr wrap="square" anchor="ctr" lIns="9144" rIns="9144" tIns="9144" bIns="9144">
            <a:normAutofit/>
          </a:bodyPr>
          <a:lstStyle/>
          <a:p>
            <a:pPr algn="l"/>
            <a:r>
              <a:rPr sz="1550" b="1">
                <a:solidFill>
                  <a:srgbClr val="1282BE"/>
                </a:solidFill>
                <a:latin typeface="Arial"/>
              </a:rPr>
              <a:t>03  Compare detection approaches</a:t>
            </a:r>
          </a:p>
        </p:txBody>
      </p:sp>
      <p:sp>
        <p:nvSpPr>
          <p:cNvPr id="16" name="TextBox 15"/>
          <p:cNvSpPr txBox="1"/>
          <p:nvPr/>
        </p:nvSpPr>
        <p:spPr>
          <a:xfrm>
            <a:off x="758952" y="3639311"/>
            <a:ext cx="5285232" cy="722376"/>
          </a:xfrm>
          <a:prstGeom prst="rect">
            <a:avLst/>
          </a:prstGeom>
          <a:noFill/>
        </p:spPr>
        <p:txBody>
          <a:bodyPr wrap="square" anchor="t" lIns="9144" rIns="9144" tIns="9144" bIns="9144">
            <a:normAutofit/>
          </a:bodyPr>
          <a:lstStyle/>
          <a:p>
            <a:pPr algn="l"/>
            <a:r>
              <a:rPr sz="1300" b="0">
                <a:solidFill>
                  <a:srgbClr val="2B3744"/>
                </a:solidFill>
                <a:latin typeface="Arial"/>
              </a:rPr>
              <a:t>Evaluate Logistic Regression, Random Forest, XGBoost, and Isolation Forest on holdout data.</a:t>
            </a:r>
          </a:p>
        </p:txBody>
      </p:sp>
      <p:sp>
        <p:nvSpPr>
          <p:cNvPr id="17" name="Rounded Rectangle 16"/>
          <p:cNvSpPr/>
          <p:nvPr/>
        </p:nvSpPr>
        <p:spPr>
          <a:xfrm>
            <a:off x="6473952" y="3209544"/>
            <a:ext cx="5559552" cy="1207008"/>
          </a:xfrm>
          <a:prstGeom prst="roundRect">
            <a:avLst/>
          </a:prstGeom>
          <a:solidFill>
            <a:srgbClr val="E8F5EE"/>
          </a:solidFill>
          <a:ln w="1270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73952" y="3209544"/>
            <a:ext cx="82296" cy="1207008"/>
          </a:xfrm>
          <a:prstGeom prst="rect">
            <a:avLst/>
          </a:prstGeom>
          <a:solidFill>
            <a:srgbClr val="248F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38544" y="3282696"/>
            <a:ext cx="5294376" cy="310896"/>
          </a:xfrm>
          <a:prstGeom prst="rect">
            <a:avLst/>
          </a:prstGeom>
          <a:noFill/>
        </p:spPr>
        <p:txBody>
          <a:bodyPr wrap="square" anchor="ctr" lIns="9144" rIns="9144" tIns="9144" bIns="9144">
            <a:normAutofit/>
          </a:bodyPr>
          <a:lstStyle/>
          <a:p>
            <a:pPr algn="l"/>
            <a:r>
              <a:rPr sz="1550" b="1">
                <a:solidFill>
                  <a:srgbClr val="248F84"/>
                </a:solidFill>
                <a:latin typeface="Arial"/>
              </a:rPr>
              <a:t>04  Report rare-event trade-offs</a:t>
            </a:r>
          </a:p>
        </p:txBody>
      </p:sp>
      <p:sp>
        <p:nvSpPr>
          <p:cNvPr id="20" name="TextBox 19"/>
          <p:cNvSpPr txBox="1"/>
          <p:nvPr/>
        </p:nvSpPr>
        <p:spPr>
          <a:xfrm>
            <a:off x="6638544" y="3639311"/>
            <a:ext cx="5285232" cy="722376"/>
          </a:xfrm>
          <a:prstGeom prst="rect">
            <a:avLst/>
          </a:prstGeom>
          <a:noFill/>
        </p:spPr>
        <p:txBody>
          <a:bodyPr wrap="square" anchor="t" lIns="9144" rIns="9144" tIns="9144" bIns="9144">
            <a:normAutofit/>
          </a:bodyPr>
          <a:lstStyle/>
          <a:p>
            <a:pPr algn="l"/>
            <a:r>
              <a:rPr sz="1300" b="0">
                <a:solidFill>
                  <a:srgbClr val="2B3744"/>
                </a:solidFill>
                <a:latin typeface="Arial"/>
              </a:rPr>
              <a:t>Compare precision, recall, F1, ROC-AUC, thresholds, and confusion counts instead of relying on accuracy alone.</a:t>
            </a:r>
          </a:p>
        </p:txBody>
      </p:sp>
      <p:sp>
        <p:nvSpPr>
          <p:cNvPr id="21" name="Rounded Rectangle 20"/>
          <p:cNvSpPr/>
          <p:nvPr/>
        </p:nvSpPr>
        <p:spPr>
          <a:xfrm>
            <a:off x="594360" y="4636008"/>
            <a:ext cx="5559552" cy="1207008"/>
          </a:xfrm>
          <a:prstGeom prst="roundRect">
            <a:avLst/>
          </a:prstGeom>
          <a:solidFill>
            <a:srgbClr val="E5F2FA"/>
          </a:solidFill>
          <a:ln w="1270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94360" y="4636008"/>
            <a:ext cx="82296" cy="1207008"/>
          </a:xfrm>
          <a:prstGeom prst="rect">
            <a:avLst/>
          </a:prstGeom>
          <a:solidFill>
            <a:srgbClr val="1282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8952" y="4709160"/>
            <a:ext cx="5294376" cy="310896"/>
          </a:xfrm>
          <a:prstGeom prst="rect">
            <a:avLst/>
          </a:prstGeom>
          <a:noFill/>
        </p:spPr>
        <p:txBody>
          <a:bodyPr wrap="square" anchor="ctr" lIns="9144" rIns="9144" tIns="9144" bIns="9144">
            <a:normAutofit/>
          </a:bodyPr>
          <a:lstStyle/>
          <a:p>
            <a:pPr algn="l"/>
            <a:r>
              <a:rPr sz="1550" b="1">
                <a:solidFill>
                  <a:srgbClr val="1282BE"/>
                </a:solidFill>
                <a:latin typeface="Arial"/>
              </a:rPr>
              <a:t>05  Demonstrate a usable workflow</a:t>
            </a:r>
          </a:p>
        </p:txBody>
      </p:sp>
      <p:sp>
        <p:nvSpPr>
          <p:cNvPr id="24" name="TextBox 23"/>
          <p:cNvSpPr txBox="1"/>
          <p:nvPr/>
        </p:nvSpPr>
        <p:spPr>
          <a:xfrm>
            <a:off x="758952" y="5065776"/>
            <a:ext cx="5285232" cy="722376"/>
          </a:xfrm>
          <a:prstGeom prst="rect">
            <a:avLst/>
          </a:prstGeom>
          <a:noFill/>
        </p:spPr>
        <p:txBody>
          <a:bodyPr wrap="square" anchor="t" lIns="9144" rIns="9144" tIns="9144" bIns="9144">
            <a:normAutofit/>
          </a:bodyPr>
          <a:lstStyle/>
          <a:p>
            <a:pPr algn="l"/>
            <a:r>
              <a:rPr sz="1300" b="0">
                <a:solidFill>
                  <a:srgbClr val="2B3744"/>
                </a:solidFill>
                <a:latin typeface="Arial"/>
              </a:rPr>
              <a:t>Provide dataset review, model evaluation, manual example scoring, and an explicitly rule-based scenario sandbox.</a:t>
            </a:r>
          </a:p>
        </p:txBody>
      </p:sp>
      <p:sp>
        <p:nvSpPr>
          <p:cNvPr id="25" name="Rounded Rectangle 24"/>
          <p:cNvSpPr/>
          <p:nvPr/>
        </p:nvSpPr>
        <p:spPr>
          <a:xfrm>
            <a:off x="6473952" y="4636008"/>
            <a:ext cx="5559552" cy="1207008"/>
          </a:xfrm>
          <a:prstGeom prst="roundRect">
            <a:avLst/>
          </a:prstGeom>
          <a:solidFill>
            <a:srgbClr val="E8F5EE"/>
          </a:solidFill>
          <a:ln w="1270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473952" y="4636008"/>
            <a:ext cx="82296" cy="1207008"/>
          </a:xfrm>
          <a:prstGeom prst="rect">
            <a:avLst/>
          </a:prstGeom>
          <a:solidFill>
            <a:srgbClr val="248F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38544" y="4709160"/>
            <a:ext cx="5294376" cy="310896"/>
          </a:xfrm>
          <a:prstGeom prst="rect">
            <a:avLst/>
          </a:prstGeom>
          <a:noFill/>
        </p:spPr>
        <p:txBody>
          <a:bodyPr wrap="square" anchor="ctr" lIns="9144" rIns="9144" tIns="9144" bIns="9144">
            <a:normAutofit/>
          </a:bodyPr>
          <a:lstStyle/>
          <a:p>
            <a:pPr algn="l"/>
            <a:r>
              <a:rPr sz="1550" b="1">
                <a:solidFill>
                  <a:srgbClr val="248F84"/>
                </a:solidFill>
                <a:latin typeface="Arial"/>
              </a:rPr>
              <a:t>06  Define next validation steps</a:t>
            </a:r>
          </a:p>
        </p:txBody>
      </p:sp>
      <p:sp>
        <p:nvSpPr>
          <p:cNvPr id="28" name="TextBox 27"/>
          <p:cNvSpPr txBox="1"/>
          <p:nvPr/>
        </p:nvSpPr>
        <p:spPr>
          <a:xfrm>
            <a:off x="6638544" y="5065776"/>
            <a:ext cx="5285232" cy="722376"/>
          </a:xfrm>
          <a:prstGeom prst="rect">
            <a:avLst/>
          </a:prstGeom>
          <a:noFill/>
        </p:spPr>
        <p:txBody>
          <a:bodyPr wrap="square" anchor="t" lIns="9144" rIns="9144" tIns="9144" bIns="9144">
            <a:normAutofit/>
          </a:bodyPr>
          <a:lstStyle/>
          <a:p>
            <a:pPr algn="l"/>
            <a:r>
              <a:rPr sz="1300" b="0">
                <a:solidFill>
                  <a:srgbClr val="2B3744"/>
                </a:solidFill>
                <a:latin typeface="Arial"/>
              </a:rPr>
              <a:t>Record source, sample size, domain limitations, and the need for temporal, external, XAI, and operational validation.</a:t>
            </a:r>
          </a:p>
        </p:txBody>
      </p:sp>
    </p:spTree>
    <p:extLst>
      <p:ext uri="{BB962C8B-B14F-4D97-AF65-F5344CB8AC3E}">
        <p14:creationId xmlns:p14="http://schemas.microsoft.com/office/powerpoint/2010/main" val="7869865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801600" cy="1512146"/>
          </a:xfrm>
          <a:solidFill>
            <a:schemeClr val="tx2">
              <a:lumMod val="60000"/>
              <a:lumOff val="40000"/>
            </a:schemeClr>
          </a:solidFill>
        </p:spPr>
        <p:txBody>
          <a:bodyPr>
            <a:normAutofit/>
          </a:bodyPr>
          <a:lstStyle/>
          <a:p>
            <a:r>
              <a:rPr b="1">
                <a:latin typeface="Arial"/>
              </a:rPr>
              <a:t>6. RESEARCH WORK DONE</a:t>
            </a:r>
          </a:p>
        </p:txBody>
      </p:sp>
      <p:sp>
        <p:nvSpPr>
          <p:cNvPr id="4" name="Slide Number Placeholder 3"/>
          <p:cNvSpPr>
            <a:spLocks noGrp="1"/>
          </p:cNvSpPr>
          <p:nvPr>
            <p:ph type="sldNum" sz="quarter" idx="12"/>
          </p:nvPr>
        </p:nvSpPr>
        <p:spPr/>
        <p:txBody>
          <a:bodyPr/>
          <a:lstStyle/>
          <a:p>
            <a:fld id="{C02A2637-A5A3-49FA-B214-6E67543099EF}" type="slidenum">
              <a:rPr lang="en-US" smtClean="0"/>
              <a:t>8</a:t>
            </a:fld>
            <a:endParaRPr lang="en-US"/>
          </a:p>
        </p:txBody>
      </p:sp>
      <p:sp>
        <p:nvSpPr>
          <p:cNvPr id="5" name="TextBox 4"/>
          <p:cNvSpPr txBox="1"/>
          <p:nvPr/>
        </p:nvSpPr>
        <p:spPr>
          <a:xfrm>
            <a:off x="594360" y="1901952"/>
            <a:ext cx="11430000" cy="329184"/>
          </a:xfrm>
          <a:prstGeom prst="rect">
            <a:avLst/>
          </a:prstGeom>
          <a:noFill/>
        </p:spPr>
        <p:txBody>
          <a:bodyPr wrap="square" anchor="ctr" lIns="54864" rIns="54864" tIns="54864" bIns="54864">
            <a:normAutofit/>
          </a:bodyPr>
          <a:lstStyle/>
          <a:p>
            <a:pPr algn="ctr"/>
            <a:r>
              <a:rPr sz="1300" b="1">
                <a:solidFill>
                  <a:srgbClr val="63707E"/>
                </a:solidFill>
                <a:latin typeface="Arial"/>
              </a:rPr>
              <a:t>PROJECT IMPLEMENTATION STATUS</a:t>
            </a:r>
          </a:p>
        </p:txBody>
      </p:sp>
      <p:sp>
        <p:nvSpPr>
          <p:cNvPr id="6" name="Rounded Rectangle 5"/>
          <p:cNvSpPr/>
          <p:nvPr/>
        </p:nvSpPr>
        <p:spPr>
          <a:xfrm>
            <a:off x="566928" y="2761488"/>
            <a:ext cx="2697480" cy="2029968"/>
          </a:xfrm>
          <a:prstGeom prst="roundRect">
            <a:avLst/>
          </a:prstGeom>
          <a:solidFill>
            <a:srgbClr val="FFFFFF"/>
          </a:solidFill>
          <a:ln w="1270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2761488"/>
            <a:ext cx="82296" cy="2029968"/>
          </a:xfrm>
          <a:prstGeom prst="rect">
            <a:avLst/>
          </a:prstGeom>
          <a:solidFill>
            <a:srgbClr val="1282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834640"/>
            <a:ext cx="2432304" cy="310896"/>
          </a:xfrm>
          <a:prstGeom prst="rect">
            <a:avLst/>
          </a:prstGeom>
          <a:noFill/>
        </p:spPr>
        <p:txBody>
          <a:bodyPr wrap="square" anchor="ctr" lIns="9144" rIns="9144" tIns="9144" bIns="9144">
            <a:normAutofit/>
          </a:bodyPr>
          <a:lstStyle/>
          <a:p>
            <a:pPr algn="l"/>
            <a:r>
              <a:rPr sz="1700" b="1">
                <a:solidFill>
                  <a:srgbClr val="1282BE"/>
                </a:solidFill>
                <a:latin typeface="Arial"/>
              </a:rPr>
              <a:t>DATA</a:t>
            </a:r>
          </a:p>
        </p:txBody>
      </p:sp>
      <p:sp>
        <p:nvSpPr>
          <p:cNvPr id="9" name="TextBox 8"/>
          <p:cNvSpPr txBox="1"/>
          <p:nvPr/>
        </p:nvSpPr>
        <p:spPr>
          <a:xfrm>
            <a:off x="731520" y="3191256"/>
            <a:ext cx="2423160" cy="1545336"/>
          </a:xfrm>
          <a:prstGeom prst="rect">
            <a:avLst/>
          </a:prstGeom>
          <a:noFill/>
        </p:spPr>
        <p:txBody>
          <a:bodyPr wrap="square" anchor="t" lIns="9144" rIns="9144" tIns="9144" bIns="9144">
            <a:normAutofit/>
          </a:bodyPr>
          <a:lstStyle/>
          <a:p>
            <a:pPr algn="l"/>
            <a:r>
              <a:rPr sz="1300" b="0">
                <a:solidFill>
                  <a:srgbClr val="2B3744"/>
                </a:solidFill>
                <a:latin typeface="Arial"/>
              </a:rPr>
              <a:t>Four benchmark/simulator sources prepared; row counts and target labels recorded.</a:t>
            </a:r>
          </a:p>
        </p:txBody>
      </p:sp>
      <p:sp>
        <p:nvSpPr>
          <p:cNvPr id="10" name="Right Arrow 9"/>
          <p:cNvSpPr/>
          <p:nvPr/>
        </p:nvSpPr>
        <p:spPr>
          <a:xfrm>
            <a:off x="3291840" y="3611880"/>
            <a:ext cx="228600" cy="310896"/>
          </a:xfrm>
          <a:prstGeom prst="rightArrow">
            <a:avLst/>
          </a:prstGeom>
          <a:solidFill>
            <a:srgbClr val="22AA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520440" y="2761488"/>
            <a:ext cx="2697480" cy="2029968"/>
          </a:xfrm>
          <a:prstGeom prst="roundRect">
            <a:avLst/>
          </a:prstGeom>
          <a:solidFill>
            <a:srgbClr val="FFFFFF"/>
          </a:solidFill>
          <a:ln w="1270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520440" y="2761488"/>
            <a:ext cx="82296" cy="2029968"/>
          </a:xfrm>
          <a:prstGeom prst="rect">
            <a:avLst/>
          </a:prstGeom>
          <a:solidFill>
            <a:srgbClr val="248F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85032" y="2834640"/>
            <a:ext cx="2432304" cy="310896"/>
          </a:xfrm>
          <a:prstGeom prst="rect">
            <a:avLst/>
          </a:prstGeom>
          <a:noFill/>
        </p:spPr>
        <p:txBody>
          <a:bodyPr wrap="square" anchor="ctr" lIns="9144" rIns="9144" tIns="9144" bIns="9144">
            <a:normAutofit/>
          </a:bodyPr>
          <a:lstStyle/>
          <a:p>
            <a:pPr algn="l"/>
            <a:r>
              <a:rPr sz="1700" b="1">
                <a:solidFill>
                  <a:srgbClr val="248F84"/>
                </a:solidFill>
                <a:latin typeface="Arial"/>
              </a:rPr>
              <a:t>PIPELINE</a:t>
            </a:r>
          </a:p>
        </p:txBody>
      </p:sp>
      <p:sp>
        <p:nvSpPr>
          <p:cNvPr id="14" name="TextBox 13"/>
          <p:cNvSpPr txBox="1"/>
          <p:nvPr/>
        </p:nvSpPr>
        <p:spPr>
          <a:xfrm>
            <a:off x="3685032" y="3191256"/>
            <a:ext cx="2423160" cy="1545336"/>
          </a:xfrm>
          <a:prstGeom prst="rect">
            <a:avLst/>
          </a:prstGeom>
          <a:noFill/>
        </p:spPr>
        <p:txBody>
          <a:bodyPr wrap="square" anchor="t" lIns="9144" rIns="9144" tIns="9144" bIns="9144">
            <a:normAutofit/>
          </a:bodyPr>
          <a:lstStyle/>
          <a:p>
            <a:pPr algn="l"/>
            <a:r>
              <a:rPr sz="1300" b="0">
                <a:solidFill>
                  <a:srgbClr val="2B3744"/>
                </a:solidFill>
                <a:latin typeface="Arial"/>
              </a:rPr>
              <a:t>Dataset-specific input fields, leakage exclusions, splits, and transforms implemented.</a:t>
            </a:r>
          </a:p>
        </p:txBody>
      </p:sp>
      <p:sp>
        <p:nvSpPr>
          <p:cNvPr id="15" name="Right Arrow 14"/>
          <p:cNvSpPr/>
          <p:nvPr/>
        </p:nvSpPr>
        <p:spPr>
          <a:xfrm>
            <a:off x="6245352" y="3611880"/>
            <a:ext cx="228600" cy="310896"/>
          </a:xfrm>
          <a:prstGeom prst="rightArrow">
            <a:avLst/>
          </a:prstGeom>
          <a:solidFill>
            <a:srgbClr val="22AA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473952" y="2761488"/>
            <a:ext cx="2697480" cy="2029968"/>
          </a:xfrm>
          <a:prstGeom prst="roundRect">
            <a:avLst/>
          </a:prstGeom>
          <a:solidFill>
            <a:srgbClr val="FFFFFF"/>
          </a:solidFill>
          <a:ln w="1270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73952" y="2761488"/>
            <a:ext cx="82296" cy="2029968"/>
          </a:xfrm>
          <a:prstGeom prst="rect">
            <a:avLst/>
          </a:prstGeom>
          <a:solidFill>
            <a:srgbClr val="22AA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38544" y="2834640"/>
            <a:ext cx="2432304" cy="310896"/>
          </a:xfrm>
          <a:prstGeom prst="rect">
            <a:avLst/>
          </a:prstGeom>
          <a:noFill/>
        </p:spPr>
        <p:txBody>
          <a:bodyPr wrap="square" anchor="ctr" lIns="9144" rIns="9144" tIns="9144" bIns="9144">
            <a:normAutofit/>
          </a:bodyPr>
          <a:lstStyle/>
          <a:p>
            <a:pPr algn="l"/>
            <a:r>
              <a:rPr sz="1700" b="1">
                <a:solidFill>
                  <a:srgbClr val="22AAD2"/>
                </a:solidFill>
                <a:latin typeface="Arial"/>
              </a:rPr>
              <a:t>MODELS</a:t>
            </a:r>
          </a:p>
        </p:txBody>
      </p:sp>
      <p:sp>
        <p:nvSpPr>
          <p:cNvPr id="19" name="TextBox 18"/>
          <p:cNvSpPr txBox="1"/>
          <p:nvPr/>
        </p:nvSpPr>
        <p:spPr>
          <a:xfrm>
            <a:off x="6638544" y="3191256"/>
            <a:ext cx="2423160" cy="1545336"/>
          </a:xfrm>
          <a:prstGeom prst="rect">
            <a:avLst/>
          </a:prstGeom>
          <a:noFill/>
        </p:spPr>
        <p:txBody>
          <a:bodyPr wrap="square" anchor="t" lIns="9144" rIns="9144" tIns="9144" bIns="9144">
            <a:normAutofit/>
          </a:bodyPr>
          <a:lstStyle/>
          <a:p>
            <a:pPr algn="l"/>
            <a:r>
              <a:rPr sz="1300" b="0">
                <a:solidFill>
                  <a:srgbClr val="2B3744"/>
                </a:solidFill>
                <a:latin typeface="Arial"/>
              </a:rPr>
              <a:t>Four model families trained per dataset; 16 saved pipelines are present.</a:t>
            </a:r>
          </a:p>
        </p:txBody>
      </p:sp>
      <p:sp>
        <p:nvSpPr>
          <p:cNvPr id="20" name="Right Arrow 19"/>
          <p:cNvSpPr/>
          <p:nvPr/>
        </p:nvSpPr>
        <p:spPr>
          <a:xfrm>
            <a:off x="9198864" y="3611880"/>
            <a:ext cx="228600" cy="310896"/>
          </a:xfrm>
          <a:prstGeom prst="rightArrow">
            <a:avLst/>
          </a:prstGeom>
          <a:solidFill>
            <a:srgbClr val="22AA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427463" y="2761488"/>
            <a:ext cx="2697480" cy="2029968"/>
          </a:xfrm>
          <a:prstGeom prst="roundRect">
            <a:avLst/>
          </a:prstGeom>
          <a:solidFill>
            <a:srgbClr val="FFFFFF"/>
          </a:solidFill>
          <a:ln w="1270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427463" y="2761488"/>
            <a:ext cx="82296" cy="2029968"/>
          </a:xfrm>
          <a:prstGeom prst="rect">
            <a:avLst/>
          </a:prstGeom>
          <a:solidFill>
            <a:srgbClr val="19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92055" y="2834640"/>
            <a:ext cx="2432304" cy="310896"/>
          </a:xfrm>
          <a:prstGeom prst="rect">
            <a:avLst/>
          </a:prstGeom>
          <a:noFill/>
        </p:spPr>
        <p:txBody>
          <a:bodyPr wrap="square" anchor="ctr" lIns="9144" rIns="9144" tIns="9144" bIns="9144">
            <a:normAutofit/>
          </a:bodyPr>
          <a:lstStyle/>
          <a:p>
            <a:pPr algn="l"/>
            <a:r>
              <a:rPr sz="1700" b="1">
                <a:solidFill>
                  <a:srgbClr val="19324D"/>
                </a:solidFill>
                <a:latin typeface="Arial"/>
              </a:rPr>
              <a:t>DASHBOARD</a:t>
            </a:r>
          </a:p>
        </p:txBody>
      </p:sp>
      <p:sp>
        <p:nvSpPr>
          <p:cNvPr id="24" name="TextBox 23"/>
          <p:cNvSpPr txBox="1"/>
          <p:nvPr/>
        </p:nvSpPr>
        <p:spPr>
          <a:xfrm>
            <a:off x="9592055" y="3191256"/>
            <a:ext cx="2423160" cy="1545336"/>
          </a:xfrm>
          <a:prstGeom prst="rect">
            <a:avLst/>
          </a:prstGeom>
          <a:noFill/>
        </p:spPr>
        <p:txBody>
          <a:bodyPr wrap="square" anchor="t" lIns="9144" rIns="9144" tIns="9144" bIns="9144">
            <a:normAutofit/>
          </a:bodyPr>
          <a:lstStyle/>
          <a:p>
            <a:pPr algn="l"/>
            <a:r>
              <a:rPr sz="1300" b="0">
                <a:solidFill>
                  <a:srgbClr val="2B3744"/>
                </a:solidFill>
                <a:latin typeface="Arial"/>
              </a:rPr>
              <a:t>Five Streamlit sections connected to saved models, metrics, forms, and scenarios.</a:t>
            </a:r>
          </a:p>
        </p:txBody>
      </p:sp>
      <p:sp>
        <p:nvSpPr>
          <p:cNvPr id="25" name="TextBox 24"/>
          <p:cNvSpPr txBox="1"/>
          <p:nvPr/>
        </p:nvSpPr>
        <p:spPr>
          <a:xfrm>
            <a:off x="841248" y="5230368"/>
            <a:ext cx="10972800" cy="658368"/>
          </a:xfrm>
          <a:prstGeom prst="rect">
            <a:avLst/>
          </a:prstGeom>
          <a:solidFill>
            <a:srgbClr val="FBF5E6"/>
          </a:solidFill>
          <a:ln>
            <a:noFill/>
          </a:ln>
        </p:spPr>
        <p:txBody>
          <a:bodyPr wrap="square" anchor="ctr" lIns="118872" rIns="118872" tIns="118872" bIns="118872">
            <a:normAutofit/>
          </a:bodyPr>
          <a:lstStyle/>
          <a:p>
            <a:pPr algn="ctr"/>
            <a:r>
              <a:rPr sz="1600" b="0">
                <a:solidFill>
                  <a:srgbClr val="2B3744"/>
                </a:solidFill>
                <a:latin typeface="Arial"/>
              </a:rPr>
              <a:t>Saved results are holdout evaluations. Independent external validation and any real payment/network integration remain future work.</a:t>
            </a:r>
          </a:p>
        </p:txBody>
      </p:sp>
    </p:spTree>
    <p:extLst>
      <p:ext uri="{BB962C8B-B14F-4D97-AF65-F5344CB8AC3E}">
        <p14:creationId xmlns:p14="http://schemas.microsoft.com/office/powerpoint/2010/main" val="19444165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8DAA3-E6F2-B842-5B2C-24A7FD7C27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644116-6BAB-BDE0-8F36-5DA7BCF987F2}"/>
              </a:ext>
            </a:extLst>
          </p:cNvPr>
          <p:cNvSpPr>
            <a:spLocks noGrp="1"/>
          </p:cNvSpPr>
          <p:nvPr>
            <p:ph type="title"/>
          </p:nvPr>
        </p:nvSpPr>
        <p:spPr>
          <a:xfrm>
            <a:off x="0" y="0"/>
            <a:ext cx="12801600" cy="1512146"/>
          </a:xfrm>
          <a:solidFill>
            <a:schemeClr val="tx2">
              <a:lumMod val="60000"/>
              <a:lumOff val="40000"/>
            </a:schemeClr>
          </a:solidFill>
        </p:spPr>
        <p:txBody>
          <a:bodyPr>
            <a:normAutofit/>
          </a:bodyPr>
          <a:lstStyle/>
          <a:p>
            <a:r>
              <a:rPr b="1">
                <a:latin typeface="Arial"/>
              </a:rPr>
              <a:t>MODULE IDENTIFICATION</a:t>
            </a:r>
          </a:p>
        </p:txBody>
      </p:sp>
      <p:sp>
        <p:nvSpPr>
          <p:cNvPr id="4" name="Slide Number Placeholder 3">
            <a:extLst>
              <a:ext uri="{FF2B5EF4-FFF2-40B4-BE49-F238E27FC236}">
                <a16:creationId xmlns:a16="http://schemas.microsoft.com/office/drawing/2014/main" id="{0C15EFEC-6BF3-4447-1E0F-489E9855AF57}"/>
              </a:ext>
            </a:extLst>
          </p:cNvPr>
          <p:cNvSpPr>
            <a:spLocks noGrp="1"/>
          </p:cNvSpPr>
          <p:nvPr>
            <p:ph type="sldNum" sz="quarter" idx="12"/>
          </p:nvPr>
        </p:nvSpPr>
        <p:spPr/>
        <p:txBody>
          <a:bodyPr/>
          <a:lstStyle/>
          <a:p>
            <a:fld id="{C02A2637-A5A3-49FA-B214-6E67543099EF}" type="slidenum">
              <a:rPr lang="en-US" smtClean="0"/>
              <a:t>9</a:t>
            </a:fld>
            <a:endParaRPr lang="en-US"/>
          </a:p>
        </p:txBody>
      </p:sp>
      <p:sp>
        <p:nvSpPr>
          <p:cNvPr id="5" name="Rounded Rectangle 4"/>
          <p:cNvSpPr/>
          <p:nvPr/>
        </p:nvSpPr>
        <p:spPr>
          <a:xfrm>
            <a:off x="594360" y="1783080"/>
            <a:ext cx="5559552" cy="1225296"/>
          </a:xfrm>
          <a:prstGeom prst="roundRect">
            <a:avLst/>
          </a:prstGeom>
          <a:solidFill>
            <a:srgbClr val="EFF6FA"/>
          </a:solidFill>
          <a:ln w="1270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783080"/>
            <a:ext cx="82296" cy="1225296"/>
          </a:xfrm>
          <a:prstGeom prst="rect">
            <a:avLst/>
          </a:prstGeom>
          <a:solidFill>
            <a:srgbClr val="1282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1856231"/>
            <a:ext cx="5294376" cy="310896"/>
          </a:xfrm>
          <a:prstGeom prst="rect">
            <a:avLst/>
          </a:prstGeom>
          <a:noFill/>
        </p:spPr>
        <p:txBody>
          <a:bodyPr wrap="square" anchor="ctr" lIns="9144" rIns="9144" tIns="9144" bIns="9144">
            <a:normAutofit/>
          </a:bodyPr>
          <a:lstStyle/>
          <a:p>
            <a:pPr algn="l"/>
            <a:r>
              <a:rPr sz="1500" b="1">
                <a:solidFill>
                  <a:srgbClr val="1282BE"/>
                </a:solidFill>
                <a:latin typeface="Arial"/>
              </a:rPr>
              <a:t>1. Data &amp; configuration</a:t>
            </a:r>
          </a:p>
        </p:txBody>
      </p:sp>
      <p:sp>
        <p:nvSpPr>
          <p:cNvPr id="8" name="TextBox 7"/>
          <p:cNvSpPr txBox="1"/>
          <p:nvPr/>
        </p:nvSpPr>
        <p:spPr>
          <a:xfrm>
            <a:off x="758952" y="2212848"/>
            <a:ext cx="5285232" cy="740664"/>
          </a:xfrm>
          <a:prstGeom prst="rect">
            <a:avLst/>
          </a:prstGeom>
          <a:noFill/>
        </p:spPr>
        <p:txBody>
          <a:bodyPr wrap="square" anchor="t" lIns="9144" rIns="9144" tIns="9144" bIns="9144">
            <a:normAutofit/>
          </a:bodyPr>
          <a:lstStyle/>
          <a:p>
            <a:pPr algn="l"/>
            <a:r>
              <a:rPr sz="1180" b="0">
                <a:solidFill>
                  <a:srgbClr val="2B3744"/>
                </a:solidFill>
                <a:latin typeface="Arial"/>
              </a:rPr>
              <a:t>download_datasets.py + config.py
Dataset paths, target columns, feature lists, sample caps and model settings.</a:t>
            </a:r>
          </a:p>
        </p:txBody>
      </p:sp>
      <p:sp>
        <p:nvSpPr>
          <p:cNvPr id="9" name="Rounded Rectangle 8"/>
          <p:cNvSpPr/>
          <p:nvPr/>
        </p:nvSpPr>
        <p:spPr>
          <a:xfrm>
            <a:off x="6473952" y="1783080"/>
            <a:ext cx="5559552" cy="1225296"/>
          </a:xfrm>
          <a:prstGeom prst="roundRect">
            <a:avLst/>
          </a:prstGeom>
          <a:solidFill>
            <a:srgbClr val="EFF6FA"/>
          </a:solidFill>
          <a:ln w="1270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73952" y="1783080"/>
            <a:ext cx="82296" cy="1225296"/>
          </a:xfrm>
          <a:prstGeom prst="rect">
            <a:avLst/>
          </a:prstGeom>
          <a:solidFill>
            <a:srgbClr val="248F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38544" y="1856231"/>
            <a:ext cx="5294376" cy="310896"/>
          </a:xfrm>
          <a:prstGeom prst="rect">
            <a:avLst/>
          </a:prstGeom>
          <a:noFill/>
        </p:spPr>
        <p:txBody>
          <a:bodyPr wrap="square" anchor="ctr" lIns="9144" rIns="9144" tIns="9144" bIns="9144">
            <a:normAutofit/>
          </a:bodyPr>
          <a:lstStyle/>
          <a:p>
            <a:pPr algn="l"/>
            <a:r>
              <a:rPr sz="1500" b="1">
                <a:solidFill>
                  <a:srgbClr val="248F84"/>
                </a:solidFill>
                <a:latin typeface="Arial"/>
              </a:rPr>
              <a:t>2. Loader &amp; labels</a:t>
            </a:r>
          </a:p>
        </p:txBody>
      </p:sp>
      <p:sp>
        <p:nvSpPr>
          <p:cNvPr id="12" name="TextBox 11"/>
          <p:cNvSpPr txBox="1"/>
          <p:nvPr/>
        </p:nvSpPr>
        <p:spPr>
          <a:xfrm>
            <a:off x="6638544" y="2212848"/>
            <a:ext cx="5285232" cy="740664"/>
          </a:xfrm>
          <a:prstGeom prst="rect">
            <a:avLst/>
          </a:prstGeom>
          <a:noFill/>
        </p:spPr>
        <p:txBody>
          <a:bodyPr wrap="square" anchor="t" lIns="9144" rIns="9144" tIns="9144" bIns="9144">
            <a:normAutofit/>
          </a:bodyPr>
          <a:lstStyle/>
          <a:p>
            <a:pPr algn="l"/>
            <a:r>
              <a:rPr sz="1180" b="0">
                <a:solidFill>
                  <a:srgbClr val="2B3744"/>
                </a:solidFill>
                <a:latin typeface="Arial"/>
              </a:rPr>
              <a:t>modules/data_loader.py
Reads full sources, finds target, binarizes labels and records row/class statistics.</a:t>
            </a:r>
          </a:p>
        </p:txBody>
      </p:sp>
      <p:sp>
        <p:nvSpPr>
          <p:cNvPr id="13" name="Rounded Rectangle 12"/>
          <p:cNvSpPr/>
          <p:nvPr/>
        </p:nvSpPr>
        <p:spPr>
          <a:xfrm>
            <a:off x="594360" y="3218688"/>
            <a:ext cx="5559552" cy="1225296"/>
          </a:xfrm>
          <a:prstGeom prst="roundRect">
            <a:avLst/>
          </a:prstGeom>
          <a:solidFill>
            <a:srgbClr val="FFFFFF"/>
          </a:solidFill>
          <a:ln w="1270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94360" y="3218688"/>
            <a:ext cx="82296" cy="1225296"/>
          </a:xfrm>
          <a:prstGeom prst="rect">
            <a:avLst/>
          </a:prstGeom>
          <a:solidFill>
            <a:srgbClr val="1282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 y="3291840"/>
            <a:ext cx="5294376" cy="310896"/>
          </a:xfrm>
          <a:prstGeom prst="rect">
            <a:avLst/>
          </a:prstGeom>
          <a:noFill/>
        </p:spPr>
        <p:txBody>
          <a:bodyPr wrap="square" anchor="ctr" lIns="9144" rIns="9144" tIns="9144" bIns="9144">
            <a:normAutofit/>
          </a:bodyPr>
          <a:lstStyle/>
          <a:p>
            <a:pPr algn="l"/>
            <a:r>
              <a:rPr sz="1500" b="1">
                <a:solidFill>
                  <a:srgbClr val="1282BE"/>
                </a:solidFill>
                <a:latin typeface="Arial"/>
              </a:rPr>
              <a:t>3. Feature pipeline</a:t>
            </a:r>
          </a:p>
        </p:txBody>
      </p:sp>
      <p:sp>
        <p:nvSpPr>
          <p:cNvPr id="16" name="TextBox 15"/>
          <p:cNvSpPr txBox="1"/>
          <p:nvPr/>
        </p:nvSpPr>
        <p:spPr>
          <a:xfrm>
            <a:off x="758952" y="3648456"/>
            <a:ext cx="5285232" cy="740664"/>
          </a:xfrm>
          <a:prstGeom prst="rect">
            <a:avLst/>
          </a:prstGeom>
          <a:noFill/>
        </p:spPr>
        <p:txBody>
          <a:bodyPr wrap="square" anchor="t" lIns="9144" rIns="9144" tIns="9144" bIns="9144">
            <a:normAutofit/>
          </a:bodyPr>
          <a:lstStyle/>
          <a:p>
            <a:pPr algn="l"/>
            <a:r>
              <a:rPr sz="1180" b="0">
                <a:solidFill>
                  <a:srgbClr val="2B3744"/>
                </a:solidFill>
                <a:latin typeface="Arial"/>
              </a:rPr>
              <a:t>Domain extractor + ColumnTransformer
Cleans missing/infinite values, engineers selected fields, encodes categories and scales numeric inputs.</a:t>
            </a:r>
          </a:p>
        </p:txBody>
      </p:sp>
      <p:sp>
        <p:nvSpPr>
          <p:cNvPr id="17" name="Rounded Rectangle 16"/>
          <p:cNvSpPr/>
          <p:nvPr/>
        </p:nvSpPr>
        <p:spPr>
          <a:xfrm>
            <a:off x="6473952" y="3218688"/>
            <a:ext cx="5559552" cy="1225296"/>
          </a:xfrm>
          <a:prstGeom prst="roundRect">
            <a:avLst/>
          </a:prstGeom>
          <a:solidFill>
            <a:srgbClr val="FFFFFF"/>
          </a:solidFill>
          <a:ln w="1270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73952" y="3218688"/>
            <a:ext cx="82296" cy="1225296"/>
          </a:xfrm>
          <a:prstGeom prst="rect">
            <a:avLst/>
          </a:prstGeom>
          <a:solidFill>
            <a:srgbClr val="248F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38544" y="3291840"/>
            <a:ext cx="5294376" cy="310896"/>
          </a:xfrm>
          <a:prstGeom prst="rect">
            <a:avLst/>
          </a:prstGeom>
          <a:noFill/>
        </p:spPr>
        <p:txBody>
          <a:bodyPr wrap="square" anchor="ctr" lIns="9144" rIns="9144" tIns="9144" bIns="9144">
            <a:normAutofit/>
          </a:bodyPr>
          <a:lstStyle/>
          <a:p>
            <a:pPr algn="l"/>
            <a:r>
              <a:rPr sz="1500" b="1">
                <a:solidFill>
                  <a:srgbClr val="248F84"/>
                </a:solidFill>
                <a:latin typeface="Arial"/>
              </a:rPr>
              <a:t>4. Model service</a:t>
            </a:r>
          </a:p>
        </p:txBody>
      </p:sp>
      <p:sp>
        <p:nvSpPr>
          <p:cNvPr id="20" name="TextBox 19"/>
          <p:cNvSpPr txBox="1"/>
          <p:nvPr/>
        </p:nvSpPr>
        <p:spPr>
          <a:xfrm>
            <a:off x="6638544" y="3648456"/>
            <a:ext cx="5285232" cy="740664"/>
          </a:xfrm>
          <a:prstGeom prst="rect">
            <a:avLst/>
          </a:prstGeom>
          <a:noFill/>
        </p:spPr>
        <p:txBody>
          <a:bodyPr wrap="square" anchor="t" lIns="9144" rIns="9144" tIns="9144" bIns="9144">
            <a:normAutofit/>
          </a:bodyPr>
          <a:lstStyle/>
          <a:p>
            <a:pPr algn="l"/>
            <a:r>
              <a:rPr sz="1180" b="0">
                <a:solidFill>
                  <a:srgbClr val="2B3744"/>
                </a:solidFill>
                <a:latin typeface="Arial"/>
              </a:rPr>
              <a:t>modules/model_trainer.py
Fits LR, Random Forest, XGBoost and Isolation Forest; computes holdout metrics and saves pipelines.</a:t>
            </a:r>
          </a:p>
        </p:txBody>
      </p:sp>
      <p:sp>
        <p:nvSpPr>
          <p:cNvPr id="21" name="Rounded Rectangle 20"/>
          <p:cNvSpPr/>
          <p:nvPr/>
        </p:nvSpPr>
        <p:spPr>
          <a:xfrm>
            <a:off x="594360" y="4654296"/>
            <a:ext cx="5559552" cy="1225296"/>
          </a:xfrm>
          <a:prstGeom prst="roundRect">
            <a:avLst/>
          </a:prstGeom>
          <a:solidFill>
            <a:srgbClr val="EFF6FA"/>
          </a:solidFill>
          <a:ln w="1270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94360" y="4654296"/>
            <a:ext cx="82296" cy="1225296"/>
          </a:xfrm>
          <a:prstGeom prst="rect">
            <a:avLst/>
          </a:prstGeom>
          <a:solidFill>
            <a:srgbClr val="1282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8952" y="4727448"/>
            <a:ext cx="5294376" cy="310896"/>
          </a:xfrm>
          <a:prstGeom prst="rect">
            <a:avLst/>
          </a:prstGeom>
          <a:noFill/>
        </p:spPr>
        <p:txBody>
          <a:bodyPr wrap="square" anchor="ctr" lIns="9144" rIns="9144" tIns="9144" bIns="9144">
            <a:normAutofit/>
          </a:bodyPr>
          <a:lstStyle/>
          <a:p>
            <a:pPr algn="l"/>
            <a:r>
              <a:rPr sz="1500" b="1">
                <a:solidFill>
                  <a:srgbClr val="1282BE"/>
                </a:solidFill>
                <a:latin typeface="Arial"/>
              </a:rPr>
              <a:t>5. Dashboard &amp; scoring</a:t>
            </a:r>
          </a:p>
        </p:txBody>
      </p:sp>
      <p:sp>
        <p:nvSpPr>
          <p:cNvPr id="24" name="TextBox 23"/>
          <p:cNvSpPr txBox="1"/>
          <p:nvPr/>
        </p:nvSpPr>
        <p:spPr>
          <a:xfrm>
            <a:off x="758952" y="5084064"/>
            <a:ext cx="5285232" cy="740664"/>
          </a:xfrm>
          <a:prstGeom prst="rect">
            <a:avLst/>
          </a:prstGeom>
          <a:noFill/>
        </p:spPr>
        <p:txBody>
          <a:bodyPr wrap="square" anchor="t" lIns="9144" rIns="9144" tIns="9144" bIns="9144">
            <a:normAutofit/>
          </a:bodyPr>
          <a:lstStyle/>
          <a:p>
            <a:pPr algn="l"/>
            <a:r>
              <a:rPr sz="1180" b="0">
                <a:solidFill>
                  <a:srgbClr val="2B3744"/>
                </a:solidFill>
                <a:latin typeface="Arial"/>
              </a:rPr>
              <a:t>app.py
Five navigable pages, dataset/model selection, manual form scoring and executive charts.</a:t>
            </a:r>
          </a:p>
        </p:txBody>
      </p:sp>
      <p:sp>
        <p:nvSpPr>
          <p:cNvPr id="25" name="Rounded Rectangle 24"/>
          <p:cNvSpPr/>
          <p:nvPr/>
        </p:nvSpPr>
        <p:spPr>
          <a:xfrm>
            <a:off x="6473952" y="4654296"/>
            <a:ext cx="5559552" cy="1225296"/>
          </a:xfrm>
          <a:prstGeom prst="roundRect">
            <a:avLst/>
          </a:prstGeom>
          <a:solidFill>
            <a:srgbClr val="EFF6FA"/>
          </a:solidFill>
          <a:ln w="1270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473952" y="4654296"/>
            <a:ext cx="82296" cy="1225296"/>
          </a:xfrm>
          <a:prstGeom prst="rect">
            <a:avLst/>
          </a:prstGeom>
          <a:solidFill>
            <a:srgbClr val="248F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38544" y="4727448"/>
            <a:ext cx="5294376" cy="310896"/>
          </a:xfrm>
          <a:prstGeom prst="rect">
            <a:avLst/>
          </a:prstGeom>
          <a:noFill/>
        </p:spPr>
        <p:txBody>
          <a:bodyPr wrap="square" anchor="ctr" lIns="9144" rIns="9144" tIns="9144" bIns="9144">
            <a:normAutofit/>
          </a:bodyPr>
          <a:lstStyle/>
          <a:p>
            <a:pPr algn="l"/>
            <a:r>
              <a:rPr sz="1500" b="1">
                <a:solidFill>
                  <a:srgbClr val="248F84"/>
                </a:solidFill>
                <a:latin typeface="Arial"/>
              </a:rPr>
              <a:t>6. Scenario simulator</a:t>
            </a:r>
          </a:p>
        </p:txBody>
      </p:sp>
      <p:sp>
        <p:nvSpPr>
          <p:cNvPr id="28" name="TextBox 27"/>
          <p:cNvSpPr txBox="1"/>
          <p:nvPr/>
        </p:nvSpPr>
        <p:spPr>
          <a:xfrm>
            <a:off x="6638544" y="5084064"/>
            <a:ext cx="5285232" cy="740664"/>
          </a:xfrm>
          <a:prstGeom prst="rect">
            <a:avLst/>
          </a:prstGeom>
          <a:noFill/>
        </p:spPr>
        <p:txBody>
          <a:bodyPr wrap="square" anchor="t" lIns="9144" rIns="9144" tIns="9144" bIns="9144">
            <a:normAutofit/>
          </a:bodyPr>
          <a:lstStyle/>
          <a:p>
            <a:pPr algn="l"/>
            <a:r>
              <a:rPr sz="1180" b="0">
                <a:solidFill>
                  <a:srgbClr val="2B3744"/>
                </a:solidFill>
                <a:latin typeface="Arial"/>
              </a:rPr>
              <a:t>modules/digital_twin.py
Configured state-transition probabilities and a hard-coded intervention-score adjustment.</a:t>
            </a:r>
          </a:p>
        </p:txBody>
      </p:sp>
      <p:sp>
        <p:nvSpPr>
          <p:cNvPr id="29" name="TextBox 28"/>
          <p:cNvSpPr txBox="1"/>
          <p:nvPr/>
        </p:nvSpPr>
        <p:spPr>
          <a:xfrm>
            <a:off x="566928" y="6419088"/>
            <a:ext cx="11612880" cy="256032"/>
          </a:xfrm>
          <a:prstGeom prst="rect">
            <a:avLst/>
          </a:prstGeom>
          <a:noFill/>
        </p:spPr>
        <p:txBody>
          <a:bodyPr wrap="square" anchor="ctr" lIns="9144" rIns="9144" tIns="9144" bIns="9144">
            <a:normAutofit/>
          </a:bodyPr>
          <a:lstStyle/>
          <a:p>
            <a:pPr algn="l"/>
            <a:r>
              <a:rPr sz="740" b="0">
                <a:solidFill>
                  <a:srgbClr val="63707E"/>
                </a:solidFill>
                <a:latin typeface="Arial"/>
              </a:rPr>
              <a:t>Offline training is separated from Streamlit inference: `offline_trainer.py` writes artifacts; `app.py` loads them.</a:t>
            </a:r>
          </a:p>
        </p:txBody>
      </p:sp>
    </p:spTree>
    <p:extLst>
      <p:ext uri="{BB962C8B-B14F-4D97-AF65-F5344CB8AC3E}">
        <p14:creationId xmlns:p14="http://schemas.microsoft.com/office/powerpoint/2010/main" val="28553621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801600" cy="1512146"/>
          </a:xfrm>
          <a:solidFill>
            <a:srgbClr val="558ED5"/>
          </a:solidFill>
        </p:spPr>
        <p:txBody>
          <a:bodyPr>
            <a:normAutofit/>
          </a:bodyPr>
          <a:lstStyle/>
          <a:p>
            <a:r>
              <a:rPr b="1">
                <a:latin typeface="Arial"/>
              </a:rPr>
              <a:t>SYSTEM ARCHITECTURE</a:t>
            </a:r>
          </a:p>
        </p:txBody>
      </p:sp>
      <p:sp>
        <p:nvSpPr>
          <p:cNvPr id="4" name="Slide Number Placeholder 3"/>
          <p:cNvSpPr>
            <a:spLocks noGrp="1"/>
          </p:cNvSpPr>
          <p:nvPr>
            <p:ph type="sldNum" sz="quarter" idx="12"/>
          </p:nvPr>
        </p:nvSpPr>
        <p:spPr/>
        <p:txBody>
          <a:bodyPr/>
          <a:lstStyle/>
          <a:p>
            <a:fld id="{C02A2637-A5A3-49FA-B214-6E67543099EF}" type="slidenum">
              <a:rPr lang="en-US" smtClean="0"/>
              <a:t>10</a:t>
            </a:fld>
            <a:endParaRPr lang="en-US"/>
          </a:p>
        </p:txBody>
      </p:sp>
      <p:sp>
        <p:nvSpPr>
          <p:cNvPr id="5" name="Rounded Rectangle 4"/>
          <p:cNvSpPr/>
          <p:nvPr/>
        </p:nvSpPr>
        <p:spPr>
          <a:xfrm>
            <a:off x="438912" y="1874519"/>
            <a:ext cx="2331720" cy="1261872"/>
          </a:xfrm>
          <a:prstGeom prst="roundRect">
            <a:avLst/>
          </a:prstGeom>
          <a:solidFill>
            <a:srgbClr val="E5F2FA"/>
          </a:solidFill>
          <a:ln w="15875">
            <a:solidFill>
              <a:srgbClr val="128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920239"/>
            <a:ext cx="2203703" cy="329184"/>
          </a:xfrm>
          <a:prstGeom prst="rect">
            <a:avLst/>
          </a:prstGeom>
          <a:noFill/>
        </p:spPr>
        <p:txBody>
          <a:bodyPr wrap="square" anchor="ctr" lIns="9144" rIns="9144" tIns="9144" bIns="9144">
            <a:normAutofit/>
          </a:bodyPr>
          <a:lstStyle/>
          <a:p>
            <a:pPr algn="ctr"/>
            <a:r>
              <a:rPr sz="1300" b="1">
                <a:solidFill>
                  <a:srgbClr val="1282BE"/>
                </a:solidFill>
                <a:latin typeface="Arial"/>
              </a:rPr>
              <a:t>DATA SOURCES</a:t>
            </a:r>
          </a:p>
        </p:txBody>
      </p:sp>
      <p:sp>
        <p:nvSpPr>
          <p:cNvPr id="7" name="TextBox 6"/>
          <p:cNvSpPr txBox="1"/>
          <p:nvPr/>
        </p:nvSpPr>
        <p:spPr>
          <a:xfrm>
            <a:off x="548640" y="2267712"/>
            <a:ext cx="2112263" cy="804671"/>
          </a:xfrm>
          <a:prstGeom prst="rect">
            <a:avLst/>
          </a:prstGeom>
          <a:noFill/>
        </p:spPr>
        <p:txBody>
          <a:bodyPr wrap="square" anchor="ctr" lIns="18288" rIns="18288" tIns="18288" bIns="18288">
            <a:normAutofit/>
          </a:bodyPr>
          <a:lstStyle/>
          <a:p>
            <a:pPr algn="ctr"/>
            <a:r>
              <a:rPr sz="1150" b="0">
                <a:solidFill>
                  <a:srgbClr val="2B3744"/>
                </a:solidFill>
                <a:latin typeface="Arial"/>
              </a:rPr>
              <a:t>PaySim • BankSim
IEEE-CIS • CICIDS2017</a:t>
            </a:r>
          </a:p>
        </p:txBody>
      </p:sp>
      <p:sp>
        <p:nvSpPr>
          <p:cNvPr id="8" name="Rounded Rectangle 7"/>
          <p:cNvSpPr/>
          <p:nvPr/>
        </p:nvSpPr>
        <p:spPr>
          <a:xfrm>
            <a:off x="3154680" y="1874519"/>
            <a:ext cx="2331720" cy="1261872"/>
          </a:xfrm>
          <a:prstGeom prst="roundRect">
            <a:avLst/>
          </a:prstGeom>
          <a:solidFill>
            <a:srgbClr val="E8F5EE"/>
          </a:solidFill>
          <a:ln w="15875">
            <a:solidFill>
              <a:srgbClr val="248F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18688" y="1920239"/>
            <a:ext cx="2203703" cy="329184"/>
          </a:xfrm>
          <a:prstGeom prst="rect">
            <a:avLst/>
          </a:prstGeom>
          <a:noFill/>
        </p:spPr>
        <p:txBody>
          <a:bodyPr wrap="square" anchor="ctr" lIns="9144" rIns="9144" tIns="9144" bIns="9144">
            <a:normAutofit/>
          </a:bodyPr>
          <a:lstStyle/>
          <a:p>
            <a:pPr algn="ctr"/>
            <a:r>
              <a:rPr sz="1300" b="1">
                <a:solidFill>
                  <a:srgbClr val="248F84"/>
                </a:solidFill>
                <a:latin typeface="Arial"/>
              </a:rPr>
              <a:t>LOAD &amp; PREPARE</a:t>
            </a:r>
          </a:p>
        </p:txBody>
      </p:sp>
      <p:sp>
        <p:nvSpPr>
          <p:cNvPr id="10" name="TextBox 9"/>
          <p:cNvSpPr txBox="1"/>
          <p:nvPr/>
        </p:nvSpPr>
        <p:spPr>
          <a:xfrm>
            <a:off x="3264408" y="2267712"/>
            <a:ext cx="2112263" cy="804671"/>
          </a:xfrm>
          <a:prstGeom prst="rect">
            <a:avLst/>
          </a:prstGeom>
          <a:noFill/>
        </p:spPr>
        <p:txBody>
          <a:bodyPr wrap="square" anchor="ctr" lIns="18288" rIns="18288" tIns="18288" bIns="18288">
            <a:normAutofit/>
          </a:bodyPr>
          <a:lstStyle/>
          <a:p>
            <a:pPr algn="ctr"/>
            <a:r>
              <a:rPr sz="1150" b="0">
                <a:solidFill>
                  <a:srgbClr val="2B3744"/>
                </a:solidFill>
                <a:latin typeface="Arial"/>
              </a:rPr>
              <a:t>Target + feature selection
Clean • split • transform</a:t>
            </a:r>
          </a:p>
        </p:txBody>
      </p:sp>
      <p:sp>
        <p:nvSpPr>
          <p:cNvPr id="11" name="Rounded Rectangle 10"/>
          <p:cNvSpPr/>
          <p:nvPr/>
        </p:nvSpPr>
        <p:spPr>
          <a:xfrm>
            <a:off x="5870448" y="1874519"/>
            <a:ext cx="2331720" cy="1261872"/>
          </a:xfrm>
          <a:prstGeom prst="roundRect">
            <a:avLst/>
          </a:prstGeom>
          <a:solidFill>
            <a:srgbClr val="E5F2FA"/>
          </a:solidFill>
          <a:ln w="15875">
            <a:solidFill>
              <a:srgbClr val="128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34456" y="1920239"/>
            <a:ext cx="2203703" cy="329184"/>
          </a:xfrm>
          <a:prstGeom prst="rect">
            <a:avLst/>
          </a:prstGeom>
          <a:noFill/>
        </p:spPr>
        <p:txBody>
          <a:bodyPr wrap="square" anchor="ctr" lIns="9144" rIns="9144" tIns="9144" bIns="9144">
            <a:normAutofit/>
          </a:bodyPr>
          <a:lstStyle/>
          <a:p>
            <a:pPr algn="ctr"/>
            <a:r>
              <a:rPr sz="1300" b="1">
                <a:solidFill>
                  <a:srgbClr val="1282BE"/>
                </a:solidFill>
                <a:latin typeface="Arial"/>
              </a:rPr>
              <a:t>MODEL LAYER</a:t>
            </a:r>
          </a:p>
        </p:txBody>
      </p:sp>
      <p:sp>
        <p:nvSpPr>
          <p:cNvPr id="13" name="TextBox 12"/>
          <p:cNvSpPr txBox="1"/>
          <p:nvPr/>
        </p:nvSpPr>
        <p:spPr>
          <a:xfrm>
            <a:off x="5980176" y="2267712"/>
            <a:ext cx="2112263" cy="804671"/>
          </a:xfrm>
          <a:prstGeom prst="rect">
            <a:avLst/>
          </a:prstGeom>
          <a:noFill/>
        </p:spPr>
        <p:txBody>
          <a:bodyPr wrap="square" anchor="ctr" lIns="18288" rIns="18288" tIns="18288" bIns="18288">
            <a:normAutofit/>
          </a:bodyPr>
          <a:lstStyle/>
          <a:p>
            <a:pPr algn="ctr"/>
            <a:r>
              <a:rPr sz="1150" b="0">
                <a:solidFill>
                  <a:srgbClr val="2B3744"/>
                </a:solidFill>
                <a:latin typeface="Arial"/>
              </a:rPr>
              <a:t>LR • Random Forest
XGBoost • Isolation Forest</a:t>
            </a:r>
          </a:p>
        </p:txBody>
      </p:sp>
      <p:sp>
        <p:nvSpPr>
          <p:cNvPr id="14" name="Rounded Rectangle 13"/>
          <p:cNvSpPr/>
          <p:nvPr/>
        </p:nvSpPr>
        <p:spPr>
          <a:xfrm>
            <a:off x="8586216" y="1874519"/>
            <a:ext cx="2331720" cy="1261872"/>
          </a:xfrm>
          <a:prstGeom prst="roundRect">
            <a:avLst/>
          </a:prstGeom>
          <a:solidFill>
            <a:srgbClr val="FBF5E6"/>
          </a:solidFill>
          <a:ln w="15875">
            <a:solidFill>
              <a:srgbClr val="D691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50224" y="1920239"/>
            <a:ext cx="2203703" cy="329184"/>
          </a:xfrm>
          <a:prstGeom prst="rect">
            <a:avLst/>
          </a:prstGeom>
          <a:noFill/>
        </p:spPr>
        <p:txBody>
          <a:bodyPr wrap="square" anchor="ctr" lIns="9144" rIns="9144" tIns="9144" bIns="9144">
            <a:normAutofit/>
          </a:bodyPr>
          <a:lstStyle/>
          <a:p>
            <a:pPr algn="ctr"/>
            <a:r>
              <a:rPr sz="1300" b="1">
                <a:solidFill>
                  <a:srgbClr val="D69120"/>
                </a:solidFill>
                <a:latin typeface="Arial"/>
              </a:rPr>
              <a:t>EVALUATE &amp; SAVE</a:t>
            </a:r>
          </a:p>
        </p:txBody>
      </p:sp>
      <p:sp>
        <p:nvSpPr>
          <p:cNvPr id="16" name="TextBox 15"/>
          <p:cNvSpPr txBox="1"/>
          <p:nvPr/>
        </p:nvSpPr>
        <p:spPr>
          <a:xfrm>
            <a:off x="8695944" y="2267712"/>
            <a:ext cx="2112263" cy="804671"/>
          </a:xfrm>
          <a:prstGeom prst="rect">
            <a:avLst/>
          </a:prstGeom>
          <a:noFill/>
        </p:spPr>
        <p:txBody>
          <a:bodyPr wrap="square" anchor="ctr" lIns="18288" rIns="18288" tIns="18288" bIns="18288">
            <a:normAutofit/>
          </a:bodyPr>
          <a:lstStyle/>
          <a:p>
            <a:pPr algn="ctr"/>
            <a:r>
              <a:rPr sz="1150" b="0">
                <a:solidFill>
                  <a:srgbClr val="2B3744"/>
                </a:solidFill>
                <a:latin typeface="Arial"/>
              </a:rPr>
              <a:t>Holdout metrics + thresholds
Pipelines + dataset stats</a:t>
            </a:r>
          </a:p>
        </p:txBody>
      </p:sp>
      <p:sp>
        <p:nvSpPr>
          <p:cNvPr id="17" name="Right Arrow 16"/>
          <p:cNvSpPr/>
          <p:nvPr/>
        </p:nvSpPr>
        <p:spPr>
          <a:xfrm>
            <a:off x="2798064" y="2350008"/>
            <a:ext cx="283464" cy="274320"/>
          </a:xfrm>
          <a:prstGeom prst="rightArrow">
            <a:avLst/>
          </a:prstGeom>
          <a:solidFill>
            <a:srgbClr val="22AA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ight Arrow 17"/>
          <p:cNvSpPr/>
          <p:nvPr/>
        </p:nvSpPr>
        <p:spPr>
          <a:xfrm>
            <a:off x="5513832" y="2350008"/>
            <a:ext cx="283464" cy="274320"/>
          </a:xfrm>
          <a:prstGeom prst="rightArrow">
            <a:avLst/>
          </a:prstGeom>
          <a:solidFill>
            <a:srgbClr val="22AA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ight Arrow 18"/>
          <p:cNvSpPr/>
          <p:nvPr/>
        </p:nvSpPr>
        <p:spPr>
          <a:xfrm>
            <a:off x="8229600" y="2350008"/>
            <a:ext cx="283464" cy="274320"/>
          </a:xfrm>
          <a:prstGeom prst="rightArrow">
            <a:avLst/>
          </a:prstGeom>
          <a:solidFill>
            <a:srgbClr val="22AA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78992" y="3977639"/>
            <a:ext cx="3246120" cy="1335024"/>
          </a:xfrm>
          <a:prstGeom prst="roundRect">
            <a:avLst/>
          </a:prstGeom>
          <a:solidFill>
            <a:srgbClr val="EFF6FA"/>
          </a:solidFill>
          <a:ln w="15875">
            <a:solidFill>
              <a:srgbClr val="1932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43000" y="4023359"/>
            <a:ext cx="3118103" cy="329184"/>
          </a:xfrm>
          <a:prstGeom prst="rect">
            <a:avLst/>
          </a:prstGeom>
          <a:noFill/>
        </p:spPr>
        <p:txBody>
          <a:bodyPr wrap="square" anchor="ctr" lIns="9144" rIns="9144" tIns="9144" bIns="9144">
            <a:normAutofit/>
          </a:bodyPr>
          <a:lstStyle/>
          <a:p>
            <a:pPr algn="ctr"/>
            <a:r>
              <a:rPr sz="1400" b="1">
                <a:solidFill>
                  <a:srgbClr val="19324D"/>
                </a:solidFill>
                <a:latin typeface="Arial"/>
              </a:rPr>
              <a:t>SAVED ARTIFACTS</a:t>
            </a:r>
          </a:p>
        </p:txBody>
      </p:sp>
      <p:sp>
        <p:nvSpPr>
          <p:cNvPr id="22" name="TextBox 21"/>
          <p:cNvSpPr txBox="1"/>
          <p:nvPr/>
        </p:nvSpPr>
        <p:spPr>
          <a:xfrm>
            <a:off x="1188719" y="4370831"/>
            <a:ext cx="3026663" cy="877824"/>
          </a:xfrm>
          <a:prstGeom prst="rect">
            <a:avLst/>
          </a:prstGeom>
          <a:noFill/>
        </p:spPr>
        <p:txBody>
          <a:bodyPr wrap="square" anchor="ctr" lIns="18288" rIns="18288" tIns="18288" bIns="18288">
            <a:normAutofit/>
          </a:bodyPr>
          <a:lstStyle/>
          <a:p>
            <a:pPr algn="ctr"/>
            <a:r>
              <a:rPr sz="1200" b="0">
                <a:solidFill>
                  <a:srgbClr val="2B3744"/>
                </a:solidFill>
                <a:latin typeface="Arial"/>
              </a:rPr>
              <a:t>models/*.pkl
evaluation_metrics.json • dataset_stats.json</a:t>
            </a:r>
          </a:p>
        </p:txBody>
      </p:sp>
      <p:sp>
        <p:nvSpPr>
          <p:cNvPr id="23" name="Rounded Rectangle 22"/>
          <p:cNvSpPr/>
          <p:nvPr/>
        </p:nvSpPr>
        <p:spPr>
          <a:xfrm>
            <a:off x="4736592" y="3977639"/>
            <a:ext cx="3246120" cy="1335024"/>
          </a:xfrm>
          <a:prstGeom prst="roundRect">
            <a:avLst/>
          </a:prstGeom>
          <a:solidFill>
            <a:srgbClr val="E5F2FA"/>
          </a:solidFill>
          <a:ln w="15875">
            <a:solidFill>
              <a:srgbClr val="128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00600" y="4023359"/>
            <a:ext cx="3118103" cy="329184"/>
          </a:xfrm>
          <a:prstGeom prst="rect">
            <a:avLst/>
          </a:prstGeom>
          <a:noFill/>
        </p:spPr>
        <p:txBody>
          <a:bodyPr wrap="square" anchor="ctr" lIns="9144" rIns="9144" tIns="9144" bIns="9144">
            <a:normAutofit/>
          </a:bodyPr>
          <a:lstStyle/>
          <a:p>
            <a:pPr algn="ctr"/>
            <a:r>
              <a:rPr sz="1400" b="1">
                <a:solidFill>
                  <a:srgbClr val="1282BE"/>
                </a:solidFill>
                <a:latin typeface="Arial"/>
              </a:rPr>
              <a:t>STREAMLIT DASHBOARD</a:t>
            </a:r>
          </a:p>
        </p:txBody>
      </p:sp>
      <p:sp>
        <p:nvSpPr>
          <p:cNvPr id="25" name="TextBox 24"/>
          <p:cNvSpPr txBox="1"/>
          <p:nvPr/>
        </p:nvSpPr>
        <p:spPr>
          <a:xfrm>
            <a:off x="4846320" y="4370831"/>
            <a:ext cx="3026663" cy="877824"/>
          </a:xfrm>
          <a:prstGeom prst="rect">
            <a:avLst/>
          </a:prstGeom>
          <a:noFill/>
        </p:spPr>
        <p:txBody>
          <a:bodyPr wrap="square" anchor="ctr" lIns="18288" rIns="18288" tIns="18288" bIns="18288">
            <a:normAutofit/>
          </a:bodyPr>
          <a:lstStyle/>
          <a:p>
            <a:pPr algn="ctr"/>
            <a:r>
              <a:rPr sz="1200" b="0">
                <a:solidFill>
                  <a:srgbClr val="2B3744"/>
                </a:solidFill>
                <a:latin typeface="Arial"/>
              </a:rPr>
              <a:t>Data • Evaluation • Simulator
Example Prediction • Executive Insights</a:t>
            </a:r>
          </a:p>
        </p:txBody>
      </p:sp>
      <p:sp>
        <p:nvSpPr>
          <p:cNvPr id="26" name="Rounded Rectangle 25"/>
          <p:cNvSpPr/>
          <p:nvPr/>
        </p:nvSpPr>
        <p:spPr>
          <a:xfrm>
            <a:off x="8394192" y="3977639"/>
            <a:ext cx="3246120" cy="1335024"/>
          </a:xfrm>
          <a:prstGeom prst="roundRect">
            <a:avLst/>
          </a:prstGeom>
          <a:solidFill>
            <a:srgbClr val="E8F5EE"/>
          </a:solidFill>
          <a:ln w="15875">
            <a:solidFill>
              <a:srgbClr val="248F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58200" y="4023359"/>
            <a:ext cx="3118103" cy="329184"/>
          </a:xfrm>
          <a:prstGeom prst="rect">
            <a:avLst/>
          </a:prstGeom>
          <a:noFill/>
        </p:spPr>
        <p:txBody>
          <a:bodyPr wrap="square" anchor="ctr" lIns="9144" rIns="9144" tIns="9144" bIns="9144">
            <a:normAutofit/>
          </a:bodyPr>
          <a:lstStyle/>
          <a:p>
            <a:pPr algn="ctr"/>
            <a:r>
              <a:rPr sz="1400" b="1">
                <a:solidFill>
                  <a:srgbClr val="248F84"/>
                </a:solidFill>
                <a:latin typeface="Arial"/>
              </a:rPr>
              <a:t>USER OUTPUT</a:t>
            </a:r>
          </a:p>
        </p:txBody>
      </p:sp>
      <p:sp>
        <p:nvSpPr>
          <p:cNvPr id="28" name="TextBox 27"/>
          <p:cNvSpPr txBox="1"/>
          <p:nvPr/>
        </p:nvSpPr>
        <p:spPr>
          <a:xfrm>
            <a:off x="8503919" y="4370831"/>
            <a:ext cx="3026663" cy="877824"/>
          </a:xfrm>
          <a:prstGeom prst="rect">
            <a:avLst/>
          </a:prstGeom>
          <a:noFill/>
        </p:spPr>
        <p:txBody>
          <a:bodyPr wrap="square" anchor="ctr" lIns="18288" rIns="18288" tIns="18288" bIns="18288">
            <a:normAutofit/>
          </a:bodyPr>
          <a:lstStyle/>
          <a:p>
            <a:pPr algn="ctr"/>
            <a:r>
              <a:rPr sz="1150" b="0">
                <a:solidFill>
                  <a:srgbClr val="2B3744"/>
                </a:solidFill>
                <a:latin typeface="Arial"/>
              </a:rPr>
              <a:t>Metrics and plots
Example score + threshold decision
Scenario trajectory</a:t>
            </a:r>
          </a:p>
        </p:txBody>
      </p:sp>
      <p:sp>
        <p:nvSpPr>
          <p:cNvPr id="29" name="Right Arrow 28"/>
          <p:cNvSpPr/>
          <p:nvPr/>
        </p:nvSpPr>
        <p:spPr>
          <a:xfrm>
            <a:off x="4370832" y="4507992"/>
            <a:ext cx="283464" cy="274320"/>
          </a:xfrm>
          <a:prstGeom prst="rightArrow">
            <a:avLst/>
          </a:prstGeom>
          <a:solidFill>
            <a:srgbClr val="22AA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ight Arrow 29"/>
          <p:cNvSpPr/>
          <p:nvPr/>
        </p:nvSpPr>
        <p:spPr>
          <a:xfrm>
            <a:off x="8028431" y="4507992"/>
            <a:ext cx="283464" cy="274320"/>
          </a:xfrm>
          <a:prstGeom prst="rightArrow">
            <a:avLst/>
          </a:prstGeom>
          <a:solidFill>
            <a:srgbClr val="22AA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5596128"/>
            <a:ext cx="10972800" cy="384048"/>
          </a:xfrm>
          <a:prstGeom prst="rect">
            <a:avLst/>
          </a:prstGeom>
          <a:noFill/>
        </p:spPr>
        <p:txBody>
          <a:bodyPr wrap="square" anchor="ctr" lIns="54864" rIns="54864" tIns="54864" bIns="54864">
            <a:normAutofit/>
          </a:bodyPr>
          <a:lstStyle/>
          <a:p>
            <a:pPr algn="ctr"/>
            <a:r>
              <a:rPr sz="1330" b="1">
                <a:solidFill>
                  <a:srgbClr val="19324D"/>
                </a:solidFill>
                <a:latin typeface="Arial"/>
              </a:rPr>
              <a:t>Technology: Python • pandas/NumPy • scikit-learn • imbalanced-learn • XGBoost • Streamlit • Plotly • joblib</a:t>
            </a:r>
          </a:p>
        </p:txBody>
      </p:sp>
      <p:sp>
        <p:nvSpPr>
          <p:cNvPr id="32" name="TextBox 31"/>
          <p:cNvSpPr txBox="1"/>
          <p:nvPr/>
        </p:nvSpPr>
        <p:spPr>
          <a:xfrm>
            <a:off x="566928" y="6419088"/>
            <a:ext cx="11612880" cy="256032"/>
          </a:xfrm>
          <a:prstGeom prst="rect">
            <a:avLst/>
          </a:prstGeom>
          <a:noFill/>
        </p:spPr>
        <p:txBody>
          <a:bodyPr wrap="square" anchor="ctr" lIns="9144" rIns="9144" tIns="9144" bIns="9144">
            <a:normAutofit/>
          </a:bodyPr>
          <a:lstStyle/>
          <a:p>
            <a:pPr algn="l"/>
            <a:r>
              <a:rPr sz="740" b="0">
                <a:solidFill>
                  <a:srgbClr val="63707E"/>
                </a:solidFill>
                <a:latin typeface="Arial"/>
              </a:rPr>
              <a:t>The dashboard does not connect to a live financial or network service; the prediction page scores manual inputs.</a:t>
            </a:r>
          </a:p>
        </p:txBody>
      </p:sp>
    </p:spTree>
    <p:extLst>
      <p:ext uri="{BB962C8B-B14F-4D97-AF65-F5344CB8AC3E}">
        <p14:creationId xmlns:p14="http://schemas.microsoft.com/office/powerpoint/2010/main" val="13808257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14F7B-448F-5933-E4F5-9F6656ACEC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BB1540-D08A-936D-657B-2CA7AA0EF4A8}"/>
              </a:ext>
            </a:extLst>
          </p:cNvPr>
          <p:cNvSpPr>
            <a:spLocks noGrp="1"/>
          </p:cNvSpPr>
          <p:nvPr>
            <p:ph type="title"/>
          </p:nvPr>
        </p:nvSpPr>
        <p:spPr>
          <a:xfrm>
            <a:off x="0" y="0"/>
            <a:ext cx="12801600" cy="1512146"/>
          </a:xfrm>
          <a:solidFill>
            <a:srgbClr val="558ED5"/>
          </a:solidFill>
        </p:spPr>
        <p:txBody>
          <a:bodyPr>
            <a:normAutofit/>
          </a:bodyPr>
          <a:lstStyle/>
          <a:p>
            <a:r>
              <a:rPr b="1">
                <a:latin typeface="Arial"/>
              </a:rPr>
              <a:t>DEVELOPMENT &amp; INTEGRATION</a:t>
            </a:r>
          </a:p>
        </p:txBody>
      </p:sp>
      <p:sp>
        <p:nvSpPr>
          <p:cNvPr id="4" name="Slide Number Placeholder 3">
            <a:extLst>
              <a:ext uri="{FF2B5EF4-FFF2-40B4-BE49-F238E27FC236}">
                <a16:creationId xmlns:a16="http://schemas.microsoft.com/office/drawing/2014/main" id="{E6869C87-894B-EA46-CE5B-2DDA46DB8C2C}"/>
              </a:ext>
            </a:extLst>
          </p:cNvPr>
          <p:cNvSpPr>
            <a:spLocks noGrp="1"/>
          </p:cNvSpPr>
          <p:nvPr>
            <p:ph type="sldNum" sz="quarter" idx="12"/>
          </p:nvPr>
        </p:nvSpPr>
        <p:spPr/>
        <p:txBody>
          <a:bodyPr/>
          <a:lstStyle/>
          <a:p>
            <a:fld id="{C02A2637-A5A3-49FA-B214-6E67543099EF}" type="slidenum">
              <a:rPr lang="en-US" smtClean="0"/>
              <a:t>11</a:t>
            </a:fld>
            <a:endParaRPr lang="en-US"/>
          </a:p>
        </p:txBody>
      </p:sp>
      <p:sp>
        <p:nvSpPr>
          <p:cNvPr id="5" name="Rounded Rectangle 4"/>
          <p:cNvSpPr/>
          <p:nvPr/>
        </p:nvSpPr>
        <p:spPr>
          <a:xfrm>
            <a:off x="594360" y="1783080"/>
            <a:ext cx="5532120" cy="1828800"/>
          </a:xfrm>
          <a:prstGeom prst="roundRect">
            <a:avLst/>
          </a:prstGeom>
          <a:solidFill>
            <a:srgbClr val="E5F2FA"/>
          </a:solidFill>
          <a:ln w="1270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783080"/>
            <a:ext cx="82296" cy="1828800"/>
          </a:xfrm>
          <a:prstGeom prst="rect">
            <a:avLst/>
          </a:prstGeom>
          <a:solidFill>
            <a:srgbClr val="1282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1856231"/>
            <a:ext cx="5266944" cy="310896"/>
          </a:xfrm>
          <a:prstGeom prst="rect">
            <a:avLst/>
          </a:prstGeom>
          <a:noFill/>
        </p:spPr>
        <p:txBody>
          <a:bodyPr wrap="square" anchor="ctr" lIns="9144" rIns="9144" tIns="9144" bIns="9144">
            <a:normAutofit/>
          </a:bodyPr>
          <a:lstStyle/>
          <a:p>
            <a:pPr algn="l"/>
            <a:r>
              <a:rPr sz="1600" b="1">
                <a:solidFill>
                  <a:srgbClr val="1282BE"/>
                </a:solidFill>
                <a:latin typeface="Arial"/>
              </a:rPr>
              <a:t>IMPLEMENTATION</a:t>
            </a:r>
          </a:p>
        </p:txBody>
      </p:sp>
      <p:sp>
        <p:nvSpPr>
          <p:cNvPr id="8" name="TextBox 7"/>
          <p:cNvSpPr txBox="1"/>
          <p:nvPr/>
        </p:nvSpPr>
        <p:spPr>
          <a:xfrm>
            <a:off x="758952" y="2212848"/>
            <a:ext cx="5257800" cy="1344168"/>
          </a:xfrm>
          <a:prstGeom prst="rect">
            <a:avLst/>
          </a:prstGeom>
          <a:noFill/>
        </p:spPr>
        <p:txBody>
          <a:bodyPr wrap="square" anchor="t" lIns="9144" rIns="9144" tIns="9144" bIns="9144">
            <a:normAutofit/>
          </a:bodyPr>
          <a:lstStyle/>
          <a:p>
            <a:pPr algn="l"/>
            <a:r>
              <a:rPr sz="1230" b="0">
                <a:solidFill>
                  <a:srgbClr val="2B3744"/>
                </a:solidFill>
                <a:latin typeface="Arial"/>
              </a:rPr>
              <a:t>• Download/prepare data outside dashboard startup.
• Split data before fitting model transforms.
• Keep feature extraction and preprocessing in serialized pipelines.
• Store metrics and dataset summaries as JSON for the UI.</a:t>
            </a:r>
          </a:p>
        </p:txBody>
      </p:sp>
      <p:sp>
        <p:nvSpPr>
          <p:cNvPr id="9" name="Rounded Rectangle 8"/>
          <p:cNvSpPr/>
          <p:nvPr/>
        </p:nvSpPr>
        <p:spPr>
          <a:xfrm>
            <a:off x="6355080" y="1783080"/>
            <a:ext cx="5532120" cy="1828800"/>
          </a:xfrm>
          <a:prstGeom prst="roundRect">
            <a:avLst/>
          </a:prstGeom>
          <a:solidFill>
            <a:srgbClr val="E8F5EE"/>
          </a:solidFill>
          <a:ln w="1270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1783080"/>
            <a:ext cx="82296" cy="1828800"/>
          </a:xfrm>
          <a:prstGeom prst="rect">
            <a:avLst/>
          </a:prstGeom>
          <a:solidFill>
            <a:srgbClr val="248F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19672" y="1856231"/>
            <a:ext cx="5266944" cy="310896"/>
          </a:xfrm>
          <a:prstGeom prst="rect">
            <a:avLst/>
          </a:prstGeom>
          <a:noFill/>
        </p:spPr>
        <p:txBody>
          <a:bodyPr wrap="square" anchor="ctr" lIns="9144" rIns="9144" tIns="9144" bIns="9144">
            <a:normAutofit/>
          </a:bodyPr>
          <a:lstStyle/>
          <a:p>
            <a:pPr algn="l"/>
            <a:r>
              <a:rPr sz="1600" b="1">
                <a:solidFill>
                  <a:srgbClr val="248F84"/>
                </a:solidFill>
                <a:latin typeface="Arial"/>
              </a:rPr>
              <a:t>INTEGRATION</a:t>
            </a:r>
          </a:p>
        </p:txBody>
      </p:sp>
      <p:sp>
        <p:nvSpPr>
          <p:cNvPr id="12" name="TextBox 11"/>
          <p:cNvSpPr txBox="1"/>
          <p:nvPr/>
        </p:nvSpPr>
        <p:spPr>
          <a:xfrm>
            <a:off x="6519672" y="2212848"/>
            <a:ext cx="5257800" cy="1344168"/>
          </a:xfrm>
          <a:prstGeom prst="rect">
            <a:avLst/>
          </a:prstGeom>
          <a:noFill/>
        </p:spPr>
        <p:txBody>
          <a:bodyPr wrap="square" anchor="t" lIns="9144" rIns="9144" tIns="9144" bIns="9144">
            <a:normAutofit/>
          </a:bodyPr>
          <a:lstStyle/>
          <a:p>
            <a:pPr algn="l"/>
            <a:r>
              <a:rPr sz="1250" b="0">
                <a:solidFill>
                  <a:srgbClr val="2B3744"/>
                </a:solidFill>
                <a:latin typeface="Arial"/>
              </a:rPr>
              <a:t>offline_trainer.py → saved pipeline + JSON → app.py
Live Prediction reuses the saved model pipeline and dataset/model threshold.
Prediction forms align their fields to the model input schema.</a:t>
            </a:r>
          </a:p>
        </p:txBody>
      </p:sp>
      <p:sp>
        <p:nvSpPr>
          <p:cNvPr id="13" name="Rounded Rectangle 12"/>
          <p:cNvSpPr/>
          <p:nvPr/>
        </p:nvSpPr>
        <p:spPr>
          <a:xfrm>
            <a:off x="594360" y="3877056"/>
            <a:ext cx="5532120" cy="1691640"/>
          </a:xfrm>
          <a:prstGeom prst="roundRect">
            <a:avLst/>
          </a:prstGeom>
          <a:solidFill>
            <a:srgbClr val="FBF5E6"/>
          </a:solidFill>
          <a:ln w="1270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94360" y="3877056"/>
            <a:ext cx="82296" cy="1691640"/>
          </a:xfrm>
          <a:prstGeom prst="rect">
            <a:avLst/>
          </a:prstGeom>
          <a:solidFill>
            <a:srgbClr val="D69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 y="3950208"/>
            <a:ext cx="5266944" cy="310896"/>
          </a:xfrm>
          <a:prstGeom prst="rect">
            <a:avLst/>
          </a:prstGeom>
          <a:noFill/>
        </p:spPr>
        <p:txBody>
          <a:bodyPr wrap="square" anchor="ctr" lIns="9144" rIns="9144" tIns="9144" bIns="9144">
            <a:normAutofit/>
          </a:bodyPr>
          <a:lstStyle/>
          <a:p>
            <a:pPr algn="l"/>
            <a:r>
              <a:rPr sz="1500" b="1">
                <a:solidFill>
                  <a:srgbClr val="D69120"/>
                </a:solidFill>
                <a:latin typeface="Arial"/>
              </a:rPr>
              <a:t>CHALLENGES ADDRESSED</a:t>
            </a:r>
          </a:p>
        </p:txBody>
      </p:sp>
      <p:sp>
        <p:nvSpPr>
          <p:cNvPr id="16" name="TextBox 15"/>
          <p:cNvSpPr txBox="1"/>
          <p:nvPr/>
        </p:nvSpPr>
        <p:spPr>
          <a:xfrm>
            <a:off x="758952" y="4306824"/>
            <a:ext cx="5257800" cy="1207008"/>
          </a:xfrm>
          <a:prstGeom prst="rect">
            <a:avLst/>
          </a:prstGeom>
          <a:noFill/>
        </p:spPr>
        <p:txBody>
          <a:bodyPr wrap="square" anchor="t" lIns="9144" rIns="9144" tIns="9144" bIns="9144">
            <a:normAutofit/>
          </a:bodyPr>
          <a:lstStyle/>
          <a:p>
            <a:pPr algn="l"/>
            <a:r>
              <a:rPr sz="1220" b="0">
                <a:solidFill>
                  <a:srgbClr val="2B3744"/>
                </a:solidFill>
                <a:latin typeface="Arial"/>
              </a:rPr>
              <a:t>Target leakage checks • large-file bounded sampling • missing/infinite values • categorical encoding • class imbalance • time-aware splits for BankSim/IEEE when both classes permit.</a:t>
            </a:r>
          </a:p>
        </p:txBody>
      </p:sp>
      <p:sp>
        <p:nvSpPr>
          <p:cNvPr id="17" name="Rounded Rectangle 16"/>
          <p:cNvSpPr/>
          <p:nvPr/>
        </p:nvSpPr>
        <p:spPr>
          <a:xfrm>
            <a:off x="6355080" y="3877056"/>
            <a:ext cx="5532120" cy="1691640"/>
          </a:xfrm>
          <a:prstGeom prst="roundRect">
            <a:avLst/>
          </a:prstGeom>
          <a:solidFill>
            <a:srgbClr val="FFFFFF"/>
          </a:solidFill>
          <a:ln w="1270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55080" y="3877056"/>
            <a:ext cx="82296" cy="1691640"/>
          </a:xfrm>
          <a:prstGeom prst="rect">
            <a:avLst/>
          </a:prstGeom>
          <a:solidFill>
            <a:srgbClr val="BB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19672" y="3950208"/>
            <a:ext cx="5266944" cy="310896"/>
          </a:xfrm>
          <a:prstGeom prst="rect">
            <a:avLst/>
          </a:prstGeom>
          <a:noFill/>
        </p:spPr>
        <p:txBody>
          <a:bodyPr wrap="square" anchor="ctr" lIns="9144" rIns="9144" tIns="9144" bIns="9144">
            <a:normAutofit/>
          </a:bodyPr>
          <a:lstStyle/>
          <a:p>
            <a:pPr algn="l"/>
            <a:r>
              <a:rPr sz="1500" b="1">
                <a:solidFill>
                  <a:srgbClr val="BB4141"/>
                </a:solidFill>
                <a:latin typeface="Arial"/>
              </a:rPr>
              <a:t>LIMITS TO VERIFY</a:t>
            </a:r>
          </a:p>
        </p:txBody>
      </p:sp>
      <p:sp>
        <p:nvSpPr>
          <p:cNvPr id="20" name="TextBox 19"/>
          <p:cNvSpPr txBox="1"/>
          <p:nvPr/>
        </p:nvSpPr>
        <p:spPr>
          <a:xfrm>
            <a:off x="6519672" y="4306824"/>
            <a:ext cx="5257800" cy="1207008"/>
          </a:xfrm>
          <a:prstGeom prst="rect">
            <a:avLst/>
          </a:prstGeom>
          <a:noFill/>
        </p:spPr>
        <p:txBody>
          <a:bodyPr wrap="square" anchor="t" lIns="9144" rIns="9144" tIns="9144" bIns="9144">
            <a:normAutofit/>
          </a:bodyPr>
          <a:lstStyle/>
          <a:p>
            <a:pPr algn="l"/>
            <a:r>
              <a:rPr sz="1220" b="0">
                <a:solidFill>
                  <a:srgbClr val="2B3744"/>
                </a:solidFill>
                <a:latin typeface="Arial"/>
              </a:rPr>
              <a:t>Input forms may impute unasked model fields. Thresholds need operational cost setting. Results need independent time-based validation. Scenario rules are illustrative, not learned.</a:t>
            </a:r>
          </a:p>
        </p:txBody>
      </p:sp>
      <p:sp>
        <p:nvSpPr>
          <p:cNvPr id="21" name="TextBox 20"/>
          <p:cNvSpPr txBox="1"/>
          <p:nvPr/>
        </p:nvSpPr>
        <p:spPr>
          <a:xfrm>
            <a:off x="566928" y="6419088"/>
            <a:ext cx="11612880" cy="256032"/>
          </a:xfrm>
          <a:prstGeom prst="rect">
            <a:avLst/>
          </a:prstGeom>
          <a:noFill/>
        </p:spPr>
        <p:txBody>
          <a:bodyPr wrap="square" anchor="ctr" lIns="9144" rIns="9144" tIns="9144" bIns="9144">
            <a:normAutofit/>
          </a:bodyPr>
          <a:lstStyle/>
          <a:p>
            <a:pPr algn="l"/>
            <a:r>
              <a:rPr sz="740" b="0">
                <a:solidFill>
                  <a:srgbClr val="63707E"/>
                </a:solidFill>
                <a:latin typeface="Arial"/>
              </a:rPr>
              <a:t>Training/evaluation commands: `python offline_trainer.py`  |  Refresh saved-model metrics: `python offline_trainer.py --evaluate-existing`.</a:t>
            </a:r>
          </a:p>
        </p:txBody>
      </p:sp>
    </p:spTree>
    <p:extLst>
      <p:ext uri="{BB962C8B-B14F-4D97-AF65-F5344CB8AC3E}">
        <p14:creationId xmlns:p14="http://schemas.microsoft.com/office/powerpoint/2010/main" val="33692432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FF5EA-D62B-1983-B948-F514CA25FA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D138A4-31C7-3BA3-41EC-856FFC3F2CD3}"/>
              </a:ext>
            </a:extLst>
          </p:cNvPr>
          <p:cNvSpPr>
            <a:spLocks noGrp="1"/>
          </p:cNvSpPr>
          <p:nvPr>
            <p:ph type="title"/>
          </p:nvPr>
        </p:nvSpPr>
        <p:spPr>
          <a:xfrm>
            <a:off x="0" y="0"/>
            <a:ext cx="12801600" cy="1512146"/>
          </a:xfrm>
          <a:solidFill>
            <a:srgbClr val="558ED5"/>
          </a:solidFill>
        </p:spPr>
        <p:txBody>
          <a:bodyPr>
            <a:normAutofit/>
          </a:bodyPr>
          <a:lstStyle/>
          <a:p>
            <a:r>
              <a:rPr b="1">
                <a:latin typeface="Arial"/>
              </a:rPr>
              <a:t>PROTOTYPE / RESEARCH FRAMEWORK</a:t>
            </a:r>
          </a:p>
        </p:txBody>
      </p:sp>
      <p:sp>
        <p:nvSpPr>
          <p:cNvPr id="4" name="Slide Number Placeholder 3">
            <a:extLst>
              <a:ext uri="{FF2B5EF4-FFF2-40B4-BE49-F238E27FC236}">
                <a16:creationId xmlns:a16="http://schemas.microsoft.com/office/drawing/2014/main" id="{55D83B01-BF0B-D797-AC89-252288DAD2AE}"/>
              </a:ext>
            </a:extLst>
          </p:cNvPr>
          <p:cNvSpPr>
            <a:spLocks noGrp="1"/>
          </p:cNvSpPr>
          <p:nvPr>
            <p:ph type="sldNum" sz="quarter" idx="12"/>
          </p:nvPr>
        </p:nvSpPr>
        <p:spPr/>
        <p:txBody>
          <a:bodyPr/>
          <a:lstStyle/>
          <a:p>
            <a:fld id="{C02A2637-A5A3-49FA-B214-6E67543099EF}" type="slidenum">
              <a:rPr lang="en-US" smtClean="0"/>
              <a:t>12</a:t>
            </a:fld>
            <a:endParaRPr lang="en-US"/>
          </a:p>
        </p:txBody>
      </p:sp>
      <p:sp>
        <p:nvSpPr>
          <p:cNvPr id="5" name="TextBox 4"/>
          <p:cNvSpPr txBox="1"/>
          <p:nvPr/>
        </p:nvSpPr>
        <p:spPr>
          <a:xfrm>
            <a:off x="621792" y="1700784"/>
            <a:ext cx="11430000" cy="411480"/>
          </a:xfrm>
          <a:prstGeom prst="rect">
            <a:avLst/>
          </a:prstGeom>
          <a:noFill/>
        </p:spPr>
        <p:txBody>
          <a:bodyPr wrap="square" anchor="ctr" lIns="54864" rIns="54864" tIns="54864" bIns="54864">
            <a:normAutofit/>
          </a:bodyPr>
          <a:lstStyle/>
          <a:p>
            <a:pPr algn="ctr"/>
            <a:r>
              <a:rPr sz="1600" b="1">
                <a:solidFill>
                  <a:srgbClr val="19324D"/>
                </a:solidFill>
                <a:latin typeface="Arial"/>
              </a:rPr>
              <a:t>DASHBOARD WALKTHROUGH  |  streamlit run app.py</a:t>
            </a:r>
          </a:p>
        </p:txBody>
      </p:sp>
      <p:sp>
        <p:nvSpPr>
          <p:cNvPr id="6" name="Rounded Rectangle 5"/>
          <p:cNvSpPr/>
          <p:nvPr/>
        </p:nvSpPr>
        <p:spPr>
          <a:xfrm>
            <a:off x="594360" y="2331720"/>
            <a:ext cx="2084831" cy="822960"/>
          </a:xfrm>
          <a:prstGeom prst="roundRect">
            <a:avLst/>
          </a:prstGeom>
          <a:solidFill>
            <a:srgbClr val="1282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377440"/>
            <a:ext cx="1993392" cy="713232"/>
          </a:xfrm>
          <a:prstGeom prst="rect">
            <a:avLst/>
          </a:prstGeom>
          <a:noFill/>
        </p:spPr>
        <p:txBody>
          <a:bodyPr wrap="square" anchor="ctr" lIns="9144" rIns="9144" tIns="9144" bIns="9144">
            <a:normAutofit/>
          </a:bodyPr>
          <a:lstStyle/>
          <a:p>
            <a:pPr algn="ctr"/>
            <a:r>
              <a:rPr sz="1400" b="1">
                <a:solidFill>
                  <a:srgbClr val="FFFFFF"/>
                </a:solidFill>
                <a:latin typeface="Arial"/>
              </a:rPr>
              <a:t>1  Data
Management</a:t>
            </a:r>
          </a:p>
        </p:txBody>
      </p:sp>
      <p:sp>
        <p:nvSpPr>
          <p:cNvPr id="8" name="Rounded Rectangle 7"/>
          <p:cNvSpPr/>
          <p:nvPr/>
        </p:nvSpPr>
        <p:spPr>
          <a:xfrm>
            <a:off x="2944368" y="2331720"/>
            <a:ext cx="2084831" cy="822960"/>
          </a:xfrm>
          <a:prstGeom prst="roundRect">
            <a:avLst/>
          </a:prstGeom>
          <a:solidFill>
            <a:srgbClr val="248F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90087" y="2377440"/>
            <a:ext cx="1993392" cy="713232"/>
          </a:xfrm>
          <a:prstGeom prst="rect">
            <a:avLst/>
          </a:prstGeom>
          <a:noFill/>
        </p:spPr>
        <p:txBody>
          <a:bodyPr wrap="square" anchor="ctr" lIns="9144" rIns="9144" tIns="9144" bIns="9144">
            <a:normAutofit/>
          </a:bodyPr>
          <a:lstStyle/>
          <a:p>
            <a:pPr algn="ctr"/>
            <a:r>
              <a:rPr sz="1400" b="1">
                <a:solidFill>
                  <a:srgbClr val="FFFFFF"/>
                </a:solidFill>
                <a:latin typeface="Arial"/>
              </a:rPr>
              <a:t>2  Model
Evaluation</a:t>
            </a:r>
          </a:p>
        </p:txBody>
      </p:sp>
      <p:sp>
        <p:nvSpPr>
          <p:cNvPr id="10" name="Rounded Rectangle 9"/>
          <p:cNvSpPr/>
          <p:nvPr/>
        </p:nvSpPr>
        <p:spPr>
          <a:xfrm>
            <a:off x="5294376" y="2331720"/>
            <a:ext cx="2084831" cy="822960"/>
          </a:xfrm>
          <a:prstGeom prst="roundRect">
            <a:avLst/>
          </a:prstGeom>
          <a:solidFill>
            <a:srgbClr val="D69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40096" y="2377440"/>
            <a:ext cx="1993392" cy="713232"/>
          </a:xfrm>
          <a:prstGeom prst="rect">
            <a:avLst/>
          </a:prstGeom>
          <a:noFill/>
        </p:spPr>
        <p:txBody>
          <a:bodyPr wrap="square" anchor="ctr" lIns="9144" rIns="9144" tIns="9144" bIns="9144">
            <a:normAutofit/>
          </a:bodyPr>
          <a:lstStyle/>
          <a:p>
            <a:pPr algn="ctr"/>
            <a:r>
              <a:rPr sz="1400" b="1">
                <a:solidFill>
                  <a:srgbClr val="FFFFFF"/>
                </a:solidFill>
                <a:latin typeface="Arial"/>
              </a:rPr>
              <a:t>3  Twin
Simulator</a:t>
            </a:r>
          </a:p>
        </p:txBody>
      </p:sp>
      <p:sp>
        <p:nvSpPr>
          <p:cNvPr id="12" name="Rounded Rectangle 11"/>
          <p:cNvSpPr/>
          <p:nvPr/>
        </p:nvSpPr>
        <p:spPr>
          <a:xfrm>
            <a:off x="7644383" y="2331720"/>
            <a:ext cx="2084831" cy="822960"/>
          </a:xfrm>
          <a:prstGeom prst="roundRect">
            <a:avLst/>
          </a:prstGeom>
          <a:solidFill>
            <a:srgbClr val="22AA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90104" y="2377440"/>
            <a:ext cx="1993392" cy="713232"/>
          </a:xfrm>
          <a:prstGeom prst="rect">
            <a:avLst/>
          </a:prstGeom>
          <a:noFill/>
        </p:spPr>
        <p:txBody>
          <a:bodyPr wrap="square" anchor="ctr" lIns="9144" rIns="9144" tIns="9144" bIns="9144">
            <a:normAutofit/>
          </a:bodyPr>
          <a:lstStyle/>
          <a:p>
            <a:pPr algn="ctr"/>
            <a:r>
              <a:rPr sz="1400" b="1">
                <a:solidFill>
                  <a:srgbClr val="FFFFFF"/>
                </a:solidFill>
                <a:latin typeface="Arial"/>
              </a:rPr>
              <a:t>4  Example
Prediction</a:t>
            </a:r>
          </a:p>
        </p:txBody>
      </p:sp>
      <p:sp>
        <p:nvSpPr>
          <p:cNvPr id="14" name="Rounded Rectangle 13"/>
          <p:cNvSpPr/>
          <p:nvPr/>
        </p:nvSpPr>
        <p:spPr>
          <a:xfrm>
            <a:off x="9994392" y="2331720"/>
            <a:ext cx="2084831" cy="822960"/>
          </a:xfrm>
          <a:prstGeom prst="roundRect">
            <a:avLst/>
          </a:prstGeom>
          <a:solidFill>
            <a:srgbClr val="19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40112" y="2377440"/>
            <a:ext cx="1993392" cy="713232"/>
          </a:xfrm>
          <a:prstGeom prst="rect">
            <a:avLst/>
          </a:prstGeom>
          <a:noFill/>
        </p:spPr>
        <p:txBody>
          <a:bodyPr wrap="square" anchor="ctr" lIns="9144" rIns="9144" tIns="9144" bIns="9144">
            <a:normAutofit/>
          </a:bodyPr>
          <a:lstStyle/>
          <a:p>
            <a:pPr algn="ctr"/>
            <a:r>
              <a:rPr sz="1400" b="1">
                <a:solidFill>
                  <a:srgbClr val="FFFFFF"/>
                </a:solidFill>
                <a:latin typeface="Arial"/>
              </a:rPr>
              <a:t>5  Executive
Insights</a:t>
            </a:r>
          </a:p>
        </p:txBody>
      </p:sp>
      <p:sp>
        <p:nvSpPr>
          <p:cNvPr id="16" name="Rounded Rectangle 15"/>
          <p:cNvSpPr/>
          <p:nvPr/>
        </p:nvSpPr>
        <p:spPr>
          <a:xfrm>
            <a:off x="667512" y="3858768"/>
            <a:ext cx="1947672" cy="1133856"/>
          </a:xfrm>
          <a:prstGeom prst="roundRect">
            <a:avLst/>
          </a:prstGeom>
          <a:solidFill>
            <a:srgbClr val="EFF6FA"/>
          </a:solidFill>
          <a:ln w="15875">
            <a:solidFill>
              <a:srgbClr val="128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3904487"/>
            <a:ext cx="1819655" cy="329184"/>
          </a:xfrm>
          <a:prstGeom prst="rect">
            <a:avLst/>
          </a:prstGeom>
          <a:noFill/>
        </p:spPr>
        <p:txBody>
          <a:bodyPr wrap="square" anchor="ctr" lIns="9144" rIns="9144" tIns="9144" bIns="9144">
            <a:normAutofit/>
          </a:bodyPr>
          <a:lstStyle/>
          <a:p>
            <a:pPr algn="ctr"/>
            <a:r>
              <a:rPr sz="1300" b="1">
                <a:solidFill>
                  <a:srgbClr val="1282BE"/>
                </a:solidFill>
                <a:latin typeface="Arial"/>
              </a:rPr>
              <a:t>SELECT</a:t>
            </a:r>
          </a:p>
        </p:txBody>
      </p:sp>
      <p:sp>
        <p:nvSpPr>
          <p:cNvPr id="18" name="TextBox 17"/>
          <p:cNvSpPr txBox="1"/>
          <p:nvPr/>
        </p:nvSpPr>
        <p:spPr>
          <a:xfrm>
            <a:off x="777240" y="4251959"/>
            <a:ext cx="1728216" cy="676656"/>
          </a:xfrm>
          <a:prstGeom prst="rect">
            <a:avLst/>
          </a:prstGeom>
          <a:noFill/>
        </p:spPr>
        <p:txBody>
          <a:bodyPr wrap="square" anchor="ctr" lIns="18288" rIns="18288" tIns="18288" bIns="18288">
            <a:normAutofit/>
          </a:bodyPr>
          <a:lstStyle/>
          <a:p>
            <a:pPr algn="ctr"/>
            <a:r>
              <a:rPr sz="1100" b="0">
                <a:solidFill>
                  <a:srgbClr val="2B3744"/>
                </a:solidFill>
                <a:latin typeface="Arial"/>
              </a:rPr>
              <a:t>Dataset +
saved model</a:t>
            </a:r>
          </a:p>
        </p:txBody>
      </p:sp>
      <p:sp>
        <p:nvSpPr>
          <p:cNvPr id="19" name="Right Arrow 18"/>
          <p:cNvSpPr/>
          <p:nvPr/>
        </p:nvSpPr>
        <p:spPr>
          <a:xfrm>
            <a:off x="2679192" y="4261104"/>
            <a:ext cx="228600" cy="256032"/>
          </a:xfrm>
          <a:prstGeom prst="rightArrow">
            <a:avLst/>
          </a:prstGeom>
          <a:solidFill>
            <a:srgbClr val="22AA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017520" y="3858768"/>
            <a:ext cx="1947672" cy="1133856"/>
          </a:xfrm>
          <a:prstGeom prst="roundRect">
            <a:avLst/>
          </a:prstGeom>
          <a:solidFill>
            <a:srgbClr val="E5F2FA"/>
          </a:solidFill>
          <a:ln w="15875">
            <a:solidFill>
              <a:srgbClr val="248F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81527" y="3904487"/>
            <a:ext cx="1819655" cy="329184"/>
          </a:xfrm>
          <a:prstGeom prst="rect">
            <a:avLst/>
          </a:prstGeom>
          <a:noFill/>
        </p:spPr>
        <p:txBody>
          <a:bodyPr wrap="square" anchor="ctr" lIns="9144" rIns="9144" tIns="9144" bIns="9144">
            <a:normAutofit/>
          </a:bodyPr>
          <a:lstStyle/>
          <a:p>
            <a:pPr algn="ctr"/>
            <a:r>
              <a:rPr sz="1300" b="1">
                <a:solidFill>
                  <a:srgbClr val="248F84"/>
                </a:solidFill>
                <a:latin typeface="Arial"/>
              </a:rPr>
              <a:t>ENTER</a:t>
            </a:r>
          </a:p>
        </p:txBody>
      </p:sp>
      <p:sp>
        <p:nvSpPr>
          <p:cNvPr id="22" name="TextBox 21"/>
          <p:cNvSpPr txBox="1"/>
          <p:nvPr/>
        </p:nvSpPr>
        <p:spPr>
          <a:xfrm>
            <a:off x="3127248" y="4251959"/>
            <a:ext cx="1728216" cy="676656"/>
          </a:xfrm>
          <a:prstGeom prst="rect">
            <a:avLst/>
          </a:prstGeom>
          <a:noFill/>
        </p:spPr>
        <p:txBody>
          <a:bodyPr wrap="square" anchor="ctr" lIns="18288" rIns="18288" tIns="18288" bIns="18288">
            <a:normAutofit/>
          </a:bodyPr>
          <a:lstStyle/>
          <a:p>
            <a:pPr algn="ctr"/>
            <a:r>
              <a:rPr sz="1100" b="0">
                <a:solidFill>
                  <a:srgbClr val="2B3744"/>
                </a:solidFill>
                <a:latin typeface="Arial"/>
              </a:rPr>
              <a:t>Example fields
(manual input)</a:t>
            </a:r>
          </a:p>
        </p:txBody>
      </p:sp>
      <p:sp>
        <p:nvSpPr>
          <p:cNvPr id="23" name="Right Arrow 22"/>
          <p:cNvSpPr/>
          <p:nvPr/>
        </p:nvSpPr>
        <p:spPr>
          <a:xfrm>
            <a:off x="5029200" y="4261104"/>
            <a:ext cx="228600" cy="256032"/>
          </a:xfrm>
          <a:prstGeom prst="rightArrow">
            <a:avLst/>
          </a:prstGeom>
          <a:solidFill>
            <a:srgbClr val="22AA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367527" y="3858768"/>
            <a:ext cx="1947672" cy="1133856"/>
          </a:xfrm>
          <a:prstGeom prst="roundRect">
            <a:avLst/>
          </a:prstGeom>
          <a:solidFill>
            <a:srgbClr val="EFF6FA"/>
          </a:solidFill>
          <a:ln w="15875">
            <a:solidFill>
              <a:srgbClr val="D691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31536" y="3904487"/>
            <a:ext cx="1819655" cy="329184"/>
          </a:xfrm>
          <a:prstGeom prst="rect">
            <a:avLst/>
          </a:prstGeom>
          <a:noFill/>
        </p:spPr>
        <p:txBody>
          <a:bodyPr wrap="square" anchor="ctr" lIns="9144" rIns="9144" tIns="9144" bIns="9144">
            <a:normAutofit/>
          </a:bodyPr>
          <a:lstStyle/>
          <a:p>
            <a:pPr algn="ctr"/>
            <a:r>
              <a:rPr sz="1300" b="1">
                <a:solidFill>
                  <a:srgbClr val="D69120"/>
                </a:solidFill>
                <a:latin typeface="Arial"/>
              </a:rPr>
              <a:t>SCORE</a:t>
            </a:r>
          </a:p>
        </p:txBody>
      </p:sp>
      <p:sp>
        <p:nvSpPr>
          <p:cNvPr id="26" name="TextBox 25"/>
          <p:cNvSpPr txBox="1"/>
          <p:nvPr/>
        </p:nvSpPr>
        <p:spPr>
          <a:xfrm>
            <a:off x="5477255" y="4251959"/>
            <a:ext cx="1728216" cy="676656"/>
          </a:xfrm>
          <a:prstGeom prst="rect">
            <a:avLst/>
          </a:prstGeom>
          <a:noFill/>
        </p:spPr>
        <p:txBody>
          <a:bodyPr wrap="square" anchor="ctr" lIns="18288" rIns="18288" tIns="18288" bIns="18288">
            <a:normAutofit/>
          </a:bodyPr>
          <a:lstStyle/>
          <a:p>
            <a:pPr algn="ctr"/>
            <a:r>
              <a:rPr sz="1100" b="0">
                <a:solidFill>
                  <a:srgbClr val="2B3744"/>
                </a:solidFill>
                <a:latin typeface="Arial"/>
              </a:rPr>
              <a:t>Saved pipeline
returns model score</a:t>
            </a:r>
          </a:p>
        </p:txBody>
      </p:sp>
      <p:sp>
        <p:nvSpPr>
          <p:cNvPr id="27" name="Right Arrow 26"/>
          <p:cNvSpPr/>
          <p:nvPr/>
        </p:nvSpPr>
        <p:spPr>
          <a:xfrm>
            <a:off x="7379208" y="4261104"/>
            <a:ext cx="228600" cy="256032"/>
          </a:xfrm>
          <a:prstGeom prst="rightArrow">
            <a:avLst/>
          </a:prstGeom>
          <a:solidFill>
            <a:srgbClr val="22AA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717536" y="3858768"/>
            <a:ext cx="1947672" cy="1133856"/>
          </a:xfrm>
          <a:prstGeom prst="roundRect">
            <a:avLst/>
          </a:prstGeom>
          <a:solidFill>
            <a:srgbClr val="E5F2FA"/>
          </a:solidFill>
          <a:ln w="15875">
            <a:solidFill>
              <a:srgbClr val="22AA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81544" y="3904487"/>
            <a:ext cx="1819655" cy="329184"/>
          </a:xfrm>
          <a:prstGeom prst="rect">
            <a:avLst/>
          </a:prstGeom>
          <a:noFill/>
        </p:spPr>
        <p:txBody>
          <a:bodyPr wrap="square" anchor="ctr" lIns="9144" rIns="9144" tIns="9144" bIns="9144">
            <a:normAutofit/>
          </a:bodyPr>
          <a:lstStyle/>
          <a:p>
            <a:pPr algn="ctr"/>
            <a:r>
              <a:rPr sz="1300" b="1">
                <a:solidFill>
                  <a:srgbClr val="22AAD2"/>
                </a:solidFill>
                <a:latin typeface="Arial"/>
              </a:rPr>
              <a:t>DECIDE</a:t>
            </a:r>
          </a:p>
        </p:txBody>
      </p:sp>
      <p:sp>
        <p:nvSpPr>
          <p:cNvPr id="30" name="TextBox 29"/>
          <p:cNvSpPr txBox="1"/>
          <p:nvPr/>
        </p:nvSpPr>
        <p:spPr>
          <a:xfrm>
            <a:off x="7827263" y="4251959"/>
            <a:ext cx="1728216" cy="676656"/>
          </a:xfrm>
          <a:prstGeom prst="rect">
            <a:avLst/>
          </a:prstGeom>
          <a:noFill/>
        </p:spPr>
        <p:txBody>
          <a:bodyPr wrap="square" anchor="ctr" lIns="18288" rIns="18288" tIns="18288" bIns="18288">
            <a:normAutofit/>
          </a:bodyPr>
          <a:lstStyle/>
          <a:p>
            <a:pPr algn="ctr"/>
            <a:r>
              <a:rPr sz="1100" b="0">
                <a:solidFill>
                  <a:srgbClr val="2B3744"/>
                </a:solidFill>
                <a:latin typeface="Arial"/>
              </a:rPr>
              <a:t>Compare score
with threshold</a:t>
            </a:r>
          </a:p>
        </p:txBody>
      </p:sp>
      <p:sp>
        <p:nvSpPr>
          <p:cNvPr id="31" name="Right Arrow 30"/>
          <p:cNvSpPr/>
          <p:nvPr/>
        </p:nvSpPr>
        <p:spPr>
          <a:xfrm>
            <a:off x="9729216" y="4261104"/>
            <a:ext cx="228600" cy="256032"/>
          </a:xfrm>
          <a:prstGeom prst="rightArrow">
            <a:avLst/>
          </a:prstGeom>
          <a:solidFill>
            <a:srgbClr val="22AA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10067544" y="3858768"/>
            <a:ext cx="1947672" cy="1133856"/>
          </a:xfrm>
          <a:prstGeom prst="roundRect">
            <a:avLst/>
          </a:prstGeom>
          <a:solidFill>
            <a:srgbClr val="EFF6FA"/>
          </a:solidFill>
          <a:ln w="15875">
            <a:solidFill>
              <a:srgbClr val="1932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131552" y="3904487"/>
            <a:ext cx="1819655" cy="329184"/>
          </a:xfrm>
          <a:prstGeom prst="rect">
            <a:avLst/>
          </a:prstGeom>
          <a:noFill/>
        </p:spPr>
        <p:txBody>
          <a:bodyPr wrap="square" anchor="ctr" lIns="9144" rIns="9144" tIns="9144" bIns="9144">
            <a:normAutofit/>
          </a:bodyPr>
          <a:lstStyle/>
          <a:p>
            <a:pPr algn="ctr"/>
            <a:r>
              <a:rPr sz="1300" b="1">
                <a:solidFill>
                  <a:srgbClr val="19324D"/>
                </a:solidFill>
                <a:latin typeface="Arial"/>
              </a:rPr>
              <a:t>EXPLAIN</a:t>
            </a:r>
          </a:p>
        </p:txBody>
      </p:sp>
      <p:sp>
        <p:nvSpPr>
          <p:cNvPr id="34" name="TextBox 33"/>
          <p:cNvSpPr txBox="1"/>
          <p:nvPr/>
        </p:nvSpPr>
        <p:spPr>
          <a:xfrm>
            <a:off x="10177272" y="4251959"/>
            <a:ext cx="1728216" cy="676656"/>
          </a:xfrm>
          <a:prstGeom prst="rect">
            <a:avLst/>
          </a:prstGeom>
          <a:noFill/>
        </p:spPr>
        <p:txBody>
          <a:bodyPr wrap="square" anchor="ctr" lIns="18288" rIns="18288" tIns="18288" bIns="18288">
            <a:normAutofit/>
          </a:bodyPr>
          <a:lstStyle/>
          <a:p>
            <a:pPr algn="ctr"/>
            <a:r>
              <a:rPr sz="1100" b="0">
                <a:solidFill>
                  <a:srgbClr val="2B3744"/>
                </a:solidFill>
                <a:latin typeface="Arial"/>
              </a:rPr>
              <a:t>Display alert,
metrics and context</a:t>
            </a:r>
          </a:p>
        </p:txBody>
      </p:sp>
      <p:sp>
        <p:nvSpPr>
          <p:cNvPr id="35" name="TextBox 34"/>
          <p:cNvSpPr txBox="1"/>
          <p:nvPr/>
        </p:nvSpPr>
        <p:spPr>
          <a:xfrm>
            <a:off x="960120" y="5376672"/>
            <a:ext cx="10789920" cy="685800"/>
          </a:xfrm>
          <a:prstGeom prst="rect">
            <a:avLst/>
          </a:prstGeom>
          <a:solidFill>
            <a:srgbClr val="FBF5E6"/>
          </a:solidFill>
          <a:ln>
            <a:noFill/>
          </a:ln>
        </p:spPr>
        <p:txBody>
          <a:bodyPr wrap="square" anchor="ctr" lIns="109728" rIns="109728" tIns="109728" bIns="109728">
            <a:normAutofit/>
          </a:bodyPr>
          <a:lstStyle/>
          <a:p>
            <a:pPr algn="ctr"/>
            <a:r>
              <a:rPr sz="1450" b="0">
                <a:solidFill>
                  <a:srgbClr val="2B3744"/>
                </a:solidFill>
                <a:latin typeface="Arial"/>
              </a:rPr>
              <a:t>Prototype boundary: manual local scoring only. The scenario page uses configured transitions; neither feature is connected to a live payment or network feed.</a:t>
            </a:r>
          </a:p>
        </p:txBody>
      </p:sp>
    </p:spTree>
    <p:extLst>
      <p:ext uri="{BB962C8B-B14F-4D97-AF65-F5344CB8AC3E}">
        <p14:creationId xmlns:p14="http://schemas.microsoft.com/office/powerpoint/2010/main" val="11450041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6C8D-B43E-DA7C-E00A-0FC4EA185F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44C6AA-E1C2-EA6C-246E-CC1479CDED74}"/>
              </a:ext>
            </a:extLst>
          </p:cNvPr>
          <p:cNvSpPr>
            <a:spLocks noGrp="1"/>
          </p:cNvSpPr>
          <p:nvPr>
            <p:ph type="title"/>
          </p:nvPr>
        </p:nvSpPr>
        <p:spPr>
          <a:xfrm>
            <a:off x="0" y="0"/>
            <a:ext cx="12801600" cy="1512146"/>
          </a:xfrm>
          <a:solidFill>
            <a:srgbClr val="558ED5"/>
          </a:solidFill>
        </p:spPr>
        <p:txBody>
          <a:bodyPr>
            <a:normAutofit/>
          </a:bodyPr>
          <a:lstStyle/>
          <a:p>
            <a:r>
              <a:rPr b="1">
                <a:latin typeface="Arial"/>
              </a:rPr>
              <a:t>7. CONCLUSIONS</a:t>
            </a:r>
          </a:p>
        </p:txBody>
      </p:sp>
      <p:sp>
        <p:nvSpPr>
          <p:cNvPr id="4" name="Slide Number Placeholder 3">
            <a:extLst>
              <a:ext uri="{FF2B5EF4-FFF2-40B4-BE49-F238E27FC236}">
                <a16:creationId xmlns:a16="http://schemas.microsoft.com/office/drawing/2014/main" id="{C20BB0C0-AF3E-C46D-0A00-DD8E18E7843A}"/>
              </a:ext>
            </a:extLst>
          </p:cNvPr>
          <p:cNvSpPr>
            <a:spLocks noGrp="1"/>
          </p:cNvSpPr>
          <p:nvPr>
            <p:ph type="sldNum" sz="quarter" idx="12"/>
          </p:nvPr>
        </p:nvSpPr>
        <p:spPr/>
        <p:txBody>
          <a:bodyPr/>
          <a:lstStyle/>
          <a:p>
            <a:fld id="{C02A2637-A5A3-49FA-B214-6E67543099EF}" type="slidenum">
              <a:rPr lang="en-US" smtClean="0"/>
              <a:t>13</a:t>
            </a:fld>
            <a:endParaRPr lang="en-US"/>
          </a:p>
        </p:txBody>
      </p:sp>
      <p:sp>
        <p:nvSpPr>
          <p:cNvPr id="5" name="TextBox 4"/>
          <p:cNvSpPr txBox="1"/>
          <p:nvPr/>
        </p:nvSpPr>
        <p:spPr>
          <a:xfrm>
            <a:off x="658368" y="1810512"/>
            <a:ext cx="2834640" cy="640080"/>
          </a:xfrm>
          <a:prstGeom prst="rect">
            <a:avLst/>
          </a:prstGeom>
          <a:noFill/>
        </p:spPr>
        <p:txBody>
          <a:bodyPr wrap="square" anchor="ctr" lIns="54864" rIns="54864" tIns="54864" bIns="54864">
            <a:normAutofit/>
          </a:bodyPr>
          <a:lstStyle/>
          <a:p>
            <a:pPr algn="l"/>
            <a:r>
              <a:rPr sz="1500" b="1">
                <a:solidFill>
                  <a:srgbClr val="1282BE"/>
                </a:solidFill>
                <a:latin typeface="Arial"/>
              </a:rPr>
              <a:t>A complete prototype workflow is present</a:t>
            </a:r>
          </a:p>
        </p:txBody>
      </p:sp>
      <p:sp>
        <p:nvSpPr>
          <p:cNvPr id="6" name="TextBox 5"/>
          <p:cNvSpPr txBox="1"/>
          <p:nvPr/>
        </p:nvSpPr>
        <p:spPr>
          <a:xfrm>
            <a:off x="3429000" y="1810512"/>
            <a:ext cx="8458200" cy="694944"/>
          </a:xfrm>
          <a:prstGeom prst="rect">
            <a:avLst/>
          </a:prstGeom>
          <a:noFill/>
        </p:spPr>
        <p:txBody>
          <a:bodyPr wrap="square" anchor="ctr" lIns="54864" rIns="54864" tIns="54864" bIns="54864">
            <a:normAutofit/>
          </a:bodyPr>
          <a:lstStyle/>
          <a:p>
            <a:pPr algn="l"/>
            <a:r>
              <a:rPr sz="1530" b="0">
                <a:solidFill>
                  <a:srgbClr val="2B3744"/>
                </a:solidFill>
                <a:latin typeface="Arial"/>
              </a:rPr>
              <a:t>Four datasets, four model families, saved pipelines and metrics, and five dashboard sections are integrated.</a:t>
            </a:r>
          </a:p>
        </p:txBody>
      </p:sp>
      <p:cxnSp>
        <p:nvCxnSpPr>
          <p:cNvPr id="7" name="Connector 6"/>
          <p:cNvCxnSpPr/>
          <p:nvPr/>
        </p:nvCxnSpPr>
        <p:spPr>
          <a:xfrm>
            <a:off x="658368" y="2651760"/>
            <a:ext cx="11183112" cy="0"/>
          </a:xfrm>
          <a:prstGeom prst="line">
            <a:avLst/>
          </a:prstGeom>
          <a:ln w="10160">
            <a:solidFill>
              <a:srgbClr val="CFDC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58368" y="2880360"/>
            <a:ext cx="2834640" cy="640080"/>
          </a:xfrm>
          <a:prstGeom prst="rect">
            <a:avLst/>
          </a:prstGeom>
          <a:noFill/>
        </p:spPr>
        <p:txBody>
          <a:bodyPr wrap="square" anchor="ctr" lIns="54864" rIns="54864" tIns="54864" bIns="54864">
            <a:normAutofit/>
          </a:bodyPr>
          <a:lstStyle/>
          <a:p>
            <a:pPr algn="l"/>
            <a:r>
              <a:rPr sz="1500" b="1">
                <a:solidFill>
                  <a:srgbClr val="248F84"/>
                </a:solidFill>
                <a:latin typeface="Arial"/>
              </a:rPr>
              <a:t>Metrics reveal different operating trade-offs</a:t>
            </a:r>
          </a:p>
        </p:txBody>
      </p:sp>
      <p:sp>
        <p:nvSpPr>
          <p:cNvPr id="9" name="TextBox 8"/>
          <p:cNvSpPr txBox="1"/>
          <p:nvPr/>
        </p:nvSpPr>
        <p:spPr>
          <a:xfrm>
            <a:off x="3429000" y="2880360"/>
            <a:ext cx="8458200" cy="694944"/>
          </a:xfrm>
          <a:prstGeom prst="rect">
            <a:avLst/>
          </a:prstGeom>
          <a:noFill/>
        </p:spPr>
        <p:txBody>
          <a:bodyPr wrap="square" anchor="ctr" lIns="54864" rIns="54864" tIns="54864" bIns="54864">
            <a:normAutofit/>
          </a:bodyPr>
          <a:lstStyle/>
          <a:p>
            <a:pPr algn="l"/>
            <a:r>
              <a:rPr sz="1530" b="0">
                <a:solidFill>
                  <a:srgbClr val="2B3744"/>
                </a:solidFill>
                <a:latin typeface="Arial"/>
              </a:rPr>
              <a:t>High recall can coexist with low precision; accuracy and AUC alone do not describe alert quality.</a:t>
            </a:r>
          </a:p>
        </p:txBody>
      </p:sp>
      <p:cxnSp>
        <p:nvCxnSpPr>
          <p:cNvPr id="10" name="Connector 9"/>
          <p:cNvCxnSpPr/>
          <p:nvPr/>
        </p:nvCxnSpPr>
        <p:spPr>
          <a:xfrm>
            <a:off x="658368" y="3721608"/>
            <a:ext cx="11183112" cy="0"/>
          </a:xfrm>
          <a:prstGeom prst="line">
            <a:avLst/>
          </a:prstGeom>
          <a:ln w="10160">
            <a:solidFill>
              <a:srgbClr val="CFDCE5"/>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58368" y="3950208"/>
            <a:ext cx="2834640" cy="640080"/>
          </a:xfrm>
          <a:prstGeom prst="rect">
            <a:avLst/>
          </a:prstGeom>
          <a:noFill/>
        </p:spPr>
        <p:txBody>
          <a:bodyPr wrap="square" anchor="ctr" lIns="54864" rIns="54864" tIns="54864" bIns="54864">
            <a:normAutofit/>
          </a:bodyPr>
          <a:lstStyle/>
          <a:p>
            <a:pPr algn="l"/>
            <a:r>
              <a:rPr sz="1500" b="1">
                <a:solidFill>
                  <a:srgbClr val="1282BE"/>
                </a:solidFill>
                <a:latin typeface="Arial"/>
              </a:rPr>
              <a:t>Results must stay in context</a:t>
            </a:r>
          </a:p>
        </p:txBody>
      </p:sp>
      <p:sp>
        <p:nvSpPr>
          <p:cNvPr id="12" name="TextBox 11"/>
          <p:cNvSpPr txBox="1"/>
          <p:nvPr/>
        </p:nvSpPr>
        <p:spPr>
          <a:xfrm>
            <a:off x="3429000" y="3950208"/>
            <a:ext cx="8458200" cy="694944"/>
          </a:xfrm>
          <a:prstGeom prst="rect">
            <a:avLst/>
          </a:prstGeom>
          <a:noFill/>
        </p:spPr>
        <p:txBody>
          <a:bodyPr wrap="square" anchor="ctr" lIns="54864" rIns="54864" tIns="54864" bIns="54864">
            <a:normAutofit/>
          </a:bodyPr>
          <a:lstStyle/>
          <a:p>
            <a:pPr algn="l"/>
            <a:r>
              <a:rPr sz="1530" b="0">
                <a:solidFill>
                  <a:srgbClr val="2B3744"/>
                </a:solidFill>
                <a:latin typeface="Arial"/>
              </a:rPr>
              <a:t>BankSim and PaySim are simulated; CICIDS2017 is network intrusion; IEEE-CIS is an anonymized competition benchmark.</a:t>
            </a:r>
          </a:p>
        </p:txBody>
      </p:sp>
      <p:cxnSp>
        <p:nvCxnSpPr>
          <p:cNvPr id="13" name="Connector 12"/>
          <p:cNvCxnSpPr/>
          <p:nvPr/>
        </p:nvCxnSpPr>
        <p:spPr>
          <a:xfrm>
            <a:off x="658368" y="4791456"/>
            <a:ext cx="11183112" cy="0"/>
          </a:xfrm>
          <a:prstGeom prst="line">
            <a:avLst/>
          </a:prstGeom>
          <a:ln w="10160">
            <a:solidFill>
              <a:srgbClr val="CFDCE5"/>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58368" y="5020056"/>
            <a:ext cx="2834640" cy="640080"/>
          </a:xfrm>
          <a:prstGeom prst="rect">
            <a:avLst/>
          </a:prstGeom>
          <a:noFill/>
        </p:spPr>
        <p:txBody>
          <a:bodyPr wrap="square" anchor="ctr" lIns="54864" rIns="54864" tIns="54864" bIns="54864">
            <a:normAutofit/>
          </a:bodyPr>
          <a:lstStyle/>
          <a:p>
            <a:pPr algn="l"/>
            <a:r>
              <a:rPr sz="1500" b="1">
                <a:solidFill>
                  <a:srgbClr val="248F84"/>
                </a:solidFill>
                <a:latin typeface="Arial"/>
              </a:rPr>
              <a:t>Validation remains essential</a:t>
            </a:r>
          </a:p>
        </p:txBody>
      </p:sp>
      <p:sp>
        <p:nvSpPr>
          <p:cNvPr id="15" name="TextBox 14"/>
          <p:cNvSpPr txBox="1"/>
          <p:nvPr/>
        </p:nvSpPr>
        <p:spPr>
          <a:xfrm>
            <a:off x="3429000" y="5020056"/>
            <a:ext cx="8458200" cy="694944"/>
          </a:xfrm>
          <a:prstGeom prst="rect">
            <a:avLst/>
          </a:prstGeom>
          <a:noFill/>
        </p:spPr>
        <p:txBody>
          <a:bodyPr wrap="square" anchor="ctr" lIns="54864" rIns="54864" tIns="54864" bIns="54864">
            <a:normAutofit/>
          </a:bodyPr>
          <a:lstStyle/>
          <a:p>
            <a:pPr algn="l"/>
            <a:r>
              <a:rPr sz="1530" b="0">
                <a:solidFill>
                  <a:srgbClr val="2B3744"/>
                </a:solidFill>
                <a:latin typeface="Arial"/>
              </a:rPr>
              <a:t>Saved holdout values are not a production guarantee. The rule-based simulator is illustrative and separate from model training.</a:t>
            </a:r>
          </a:p>
        </p:txBody>
      </p:sp>
      <p:sp>
        <p:nvSpPr>
          <p:cNvPr id="16" name="TextBox 15"/>
          <p:cNvSpPr txBox="1"/>
          <p:nvPr/>
        </p:nvSpPr>
        <p:spPr>
          <a:xfrm>
            <a:off x="914400" y="6236208"/>
            <a:ext cx="10972800" cy="347472"/>
          </a:xfrm>
          <a:prstGeom prst="rect">
            <a:avLst/>
          </a:prstGeom>
          <a:noFill/>
        </p:spPr>
        <p:txBody>
          <a:bodyPr wrap="square" anchor="ctr" lIns="54864" rIns="54864" tIns="54864" bIns="54864">
            <a:normAutofit/>
          </a:bodyPr>
          <a:lstStyle/>
          <a:p>
            <a:pPr algn="ctr"/>
            <a:r>
              <a:rPr sz="1350" b="1">
                <a:solidFill>
                  <a:srgbClr val="19324D"/>
                </a:solidFill>
                <a:latin typeface="Arial"/>
              </a:rPr>
              <a:t>Takeaway: a transparent detection prototype is useful when its data provenance, threshold trade-offs, and limitations are reported together.</a:t>
            </a:r>
          </a:p>
        </p:txBody>
      </p:sp>
    </p:spTree>
    <p:extLst>
      <p:ext uri="{BB962C8B-B14F-4D97-AF65-F5344CB8AC3E}">
        <p14:creationId xmlns:p14="http://schemas.microsoft.com/office/powerpoint/2010/main" val="13753997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88BB3-2A5B-34AC-B39B-BAE5C65E68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D448EB-8A1A-C9A3-3C48-4830472042E6}"/>
              </a:ext>
            </a:extLst>
          </p:cNvPr>
          <p:cNvSpPr>
            <a:spLocks noGrp="1"/>
          </p:cNvSpPr>
          <p:nvPr>
            <p:ph type="title"/>
          </p:nvPr>
        </p:nvSpPr>
        <p:spPr>
          <a:xfrm>
            <a:off x="0" y="0"/>
            <a:ext cx="12801600" cy="1512146"/>
          </a:xfrm>
          <a:solidFill>
            <a:srgbClr val="558ED5"/>
          </a:solidFill>
        </p:spPr>
        <p:txBody>
          <a:bodyPr>
            <a:normAutofit/>
          </a:bodyPr>
          <a:lstStyle/>
          <a:p>
            <a:r>
              <a:rPr b="1">
                <a:latin typeface="Arial"/>
              </a:rPr>
              <a:t>8. OUTCOME</a:t>
            </a:r>
          </a:p>
        </p:txBody>
      </p:sp>
      <p:sp>
        <p:nvSpPr>
          <p:cNvPr id="4" name="Slide Number Placeholder 3">
            <a:extLst>
              <a:ext uri="{FF2B5EF4-FFF2-40B4-BE49-F238E27FC236}">
                <a16:creationId xmlns:a16="http://schemas.microsoft.com/office/drawing/2014/main" id="{3C63C818-3FBA-7FB8-3369-BCE4AC4BD8EF}"/>
              </a:ext>
            </a:extLst>
          </p:cNvPr>
          <p:cNvSpPr>
            <a:spLocks noGrp="1"/>
          </p:cNvSpPr>
          <p:nvPr>
            <p:ph type="sldNum" sz="quarter" idx="12"/>
          </p:nvPr>
        </p:nvSpPr>
        <p:spPr/>
        <p:txBody>
          <a:bodyPr/>
          <a:lstStyle/>
          <a:p>
            <a:fld id="{C02A2637-A5A3-49FA-B214-6E67543099EF}" type="slidenum">
              <a:rPr lang="en-US" smtClean="0"/>
              <a:t>14</a:t>
            </a:fld>
            <a:endParaRPr lang="en-US"/>
          </a:p>
        </p:txBody>
      </p:sp>
      <p:graphicFrame>
        <p:nvGraphicFramePr>
          <p:cNvPr id="5" name="Table 4"/>
          <p:cNvGraphicFramePr>
            <a:graphicFrameLocks noGrp="1"/>
          </p:cNvGraphicFramePr>
          <p:nvPr/>
        </p:nvGraphicFramePr>
        <p:xfrm>
          <a:off x="502920" y="1709928"/>
          <a:ext cx="11795760" cy="2240280"/>
        </p:xfrm>
        <a:graphic>
          <a:graphicData uri="http://schemas.openxmlformats.org/drawingml/2006/table">
            <a:tbl>
              <a:tblPr firstRow="1" bandRow="1">
                <a:tableStyleId>{5C22544A-7EE6-4342-B048-85BDC9FD1C3A}</a:tableStyleId>
              </a:tblPr>
              <a:tblGrid>
                <a:gridCol w="1600200"/>
                <a:gridCol w="2011680"/>
                <a:gridCol w="1417320"/>
                <a:gridCol w="1417320"/>
                <a:gridCol w="1417320"/>
                <a:gridCol w="1097280"/>
                <a:gridCol w="1417320"/>
                <a:gridCol w="1417320"/>
              </a:tblGrid>
              <a:tr h="448056">
                <a:tc>
                  <a:txBody>
                    <a:bodyPr/>
                    <a:lstStyle/>
                    <a:p>
                      <a:pPr algn="l">
                        <a:spcAft>
                          <a:spcPts val="0"/>
                        </a:spcAft>
                      </a:pPr>
                      <a:r>
                        <a:rPr sz="1080" b="1">
                          <a:solidFill>
                            <a:srgbClr val="FFFFFF"/>
                          </a:solidFill>
                          <a:latin typeface="Arial"/>
                        </a:rPr>
                        <a:t>Dataset</a:t>
                      </a:r>
                    </a:p>
                  </a:txBody>
                  <a:tcPr anchor="ctr" marL="36576" marR="36576" marT="22860" marB="22860">
                    <a:solidFill>
                      <a:srgbClr val="19324D"/>
                    </a:solidFill>
                  </a:tcPr>
                </a:tc>
                <a:tc>
                  <a:txBody>
                    <a:bodyPr/>
                    <a:lstStyle/>
                    <a:p>
                      <a:pPr algn="l">
                        <a:spcAft>
                          <a:spcPts val="0"/>
                        </a:spcAft>
                      </a:pPr>
                      <a:r>
                        <a:rPr sz="1080" b="1">
                          <a:solidFill>
                            <a:srgbClr val="FFFFFF"/>
                          </a:solidFill>
                          <a:latin typeface="Arial"/>
                        </a:rPr>
                        <a:t>Best model</a:t>
                      </a:r>
                    </a:p>
                  </a:txBody>
                  <a:tcPr anchor="ctr" marL="36576" marR="36576" marT="22860" marB="22860">
                    <a:solidFill>
                      <a:srgbClr val="19324D"/>
                    </a:solidFill>
                  </a:tcPr>
                </a:tc>
                <a:tc>
                  <a:txBody>
                    <a:bodyPr/>
                    <a:lstStyle/>
                    <a:p>
                      <a:pPr algn="ctr">
                        <a:spcAft>
                          <a:spcPts val="0"/>
                        </a:spcAft>
                      </a:pPr>
                      <a:r>
                        <a:rPr sz="1080" b="1">
                          <a:solidFill>
                            <a:srgbClr val="FFFFFF"/>
                          </a:solidFill>
                          <a:latin typeface="Arial"/>
                        </a:rPr>
                        <a:t>Accuracy</a:t>
                      </a:r>
                    </a:p>
                  </a:txBody>
                  <a:tcPr anchor="ctr" marL="36576" marR="36576" marT="22860" marB="22860">
                    <a:solidFill>
                      <a:srgbClr val="19324D"/>
                    </a:solidFill>
                  </a:tcPr>
                </a:tc>
                <a:tc>
                  <a:txBody>
                    <a:bodyPr/>
                    <a:lstStyle/>
                    <a:p>
                      <a:pPr algn="ctr">
                        <a:spcAft>
                          <a:spcPts val="0"/>
                        </a:spcAft>
                      </a:pPr>
                      <a:r>
                        <a:rPr sz="1080" b="1">
                          <a:solidFill>
                            <a:srgbClr val="FFFFFF"/>
                          </a:solidFill>
                          <a:latin typeface="Arial"/>
                        </a:rPr>
                        <a:t>Precision</a:t>
                      </a:r>
                    </a:p>
                  </a:txBody>
                  <a:tcPr anchor="ctr" marL="36576" marR="36576" marT="22860" marB="22860">
                    <a:solidFill>
                      <a:srgbClr val="19324D"/>
                    </a:solidFill>
                  </a:tcPr>
                </a:tc>
                <a:tc>
                  <a:txBody>
                    <a:bodyPr/>
                    <a:lstStyle/>
                    <a:p>
                      <a:pPr algn="ctr">
                        <a:spcAft>
                          <a:spcPts val="0"/>
                        </a:spcAft>
                      </a:pPr>
                      <a:r>
                        <a:rPr sz="1080" b="1">
                          <a:solidFill>
                            <a:srgbClr val="FFFFFF"/>
                          </a:solidFill>
                          <a:latin typeface="Arial"/>
                        </a:rPr>
                        <a:t>Recall</a:t>
                      </a:r>
                    </a:p>
                  </a:txBody>
                  <a:tcPr anchor="ctr" marL="36576" marR="36576" marT="22860" marB="22860">
                    <a:solidFill>
                      <a:srgbClr val="19324D"/>
                    </a:solidFill>
                  </a:tcPr>
                </a:tc>
                <a:tc>
                  <a:txBody>
                    <a:bodyPr/>
                    <a:lstStyle/>
                    <a:p>
                      <a:pPr algn="ctr">
                        <a:spcAft>
                          <a:spcPts val="0"/>
                        </a:spcAft>
                      </a:pPr>
                      <a:r>
                        <a:rPr sz="1080" b="1">
                          <a:solidFill>
                            <a:srgbClr val="FFFFFF"/>
                          </a:solidFill>
                          <a:latin typeface="Arial"/>
                        </a:rPr>
                        <a:t>F1</a:t>
                      </a:r>
                    </a:p>
                  </a:txBody>
                  <a:tcPr anchor="ctr" marL="36576" marR="36576" marT="22860" marB="22860">
                    <a:solidFill>
                      <a:srgbClr val="19324D"/>
                    </a:solidFill>
                  </a:tcPr>
                </a:tc>
                <a:tc>
                  <a:txBody>
                    <a:bodyPr/>
                    <a:lstStyle/>
                    <a:p>
                      <a:pPr algn="ctr">
                        <a:spcAft>
                          <a:spcPts val="0"/>
                        </a:spcAft>
                      </a:pPr>
                      <a:r>
                        <a:rPr sz="1080" b="1">
                          <a:solidFill>
                            <a:srgbClr val="FFFFFF"/>
                          </a:solidFill>
                          <a:latin typeface="Arial"/>
                        </a:rPr>
                        <a:t>ROC-AUC</a:t>
                      </a:r>
                    </a:p>
                  </a:txBody>
                  <a:tcPr anchor="ctr" marL="36576" marR="36576" marT="22860" marB="22860">
                    <a:solidFill>
                      <a:srgbClr val="19324D"/>
                    </a:solidFill>
                  </a:tcPr>
                </a:tc>
                <a:tc>
                  <a:txBody>
                    <a:bodyPr/>
                    <a:lstStyle/>
                    <a:p>
                      <a:pPr algn="ctr">
                        <a:spcAft>
                          <a:spcPts val="0"/>
                        </a:spcAft>
                      </a:pPr>
                      <a:r>
                        <a:rPr sz="1080" b="1">
                          <a:solidFill>
                            <a:srgbClr val="FFFFFF"/>
                          </a:solidFill>
                          <a:latin typeface="Arial"/>
                        </a:rPr>
                        <a:t>Threshold</a:t>
                      </a:r>
                    </a:p>
                  </a:txBody>
                  <a:tcPr anchor="ctr" marL="36576" marR="36576" marT="22860" marB="22860">
                    <a:solidFill>
                      <a:srgbClr val="19324D"/>
                    </a:solidFill>
                  </a:tcPr>
                </a:tc>
              </a:tr>
              <a:tr h="448056">
                <a:tc>
                  <a:txBody>
                    <a:bodyPr/>
                    <a:lstStyle/>
                    <a:p>
                      <a:pPr algn="l">
                        <a:spcAft>
                          <a:spcPts val="0"/>
                        </a:spcAft>
                      </a:pPr>
                      <a:r>
                        <a:rPr sz="1050" b="1">
                          <a:solidFill>
                            <a:srgbClr val="2B3744"/>
                          </a:solidFill>
                          <a:latin typeface="Arial"/>
                        </a:rPr>
                        <a:t>PaySim</a:t>
                      </a:r>
                    </a:p>
                  </a:txBody>
                  <a:tcPr anchor="ctr" marL="36576" marR="36576" marT="22860" marB="22860">
                    <a:solidFill>
                      <a:srgbClr val="EFF6FA"/>
                    </a:solidFill>
                  </a:tcPr>
                </a:tc>
                <a:tc>
                  <a:txBody>
                    <a:bodyPr/>
                    <a:lstStyle/>
                    <a:p>
                      <a:pPr algn="l">
                        <a:spcAft>
                          <a:spcPts val="0"/>
                        </a:spcAft>
                      </a:pPr>
                      <a:r>
                        <a:rPr sz="1050" b="0">
                          <a:solidFill>
                            <a:srgbClr val="2B3744"/>
                          </a:solidFill>
                          <a:latin typeface="Arial"/>
                        </a:rPr>
                        <a:t>XGBoost</a:t>
                      </a:r>
                    </a:p>
                  </a:txBody>
                  <a:tcPr anchor="ctr" marL="36576" marR="36576" marT="22860" marB="22860">
                    <a:solidFill>
                      <a:srgbClr val="EFF6FA"/>
                    </a:solidFill>
                  </a:tcPr>
                </a:tc>
                <a:tc>
                  <a:txBody>
                    <a:bodyPr/>
                    <a:lstStyle/>
                    <a:p>
                      <a:pPr algn="ctr">
                        <a:spcAft>
                          <a:spcPts val="0"/>
                        </a:spcAft>
                      </a:pPr>
                      <a:r>
                        <a:rPr sz="1050" b="0">
                          <a:solidFill>
                            <a:srgbClr val="2B3744"/>
                          </a:solidFill>
                          <a:latin typeface="Arial"/>
                        </a:rPr>
                        <a:t>0.9995</a:t>
                      </a:r>
                    </a:p>
                  </a:txBody>
                  <a:tcPr anchor="ctr" marL="36576" marR="36576" marT="22860" marB="22860">
                    <a:solidFill>
                      <a:srgbClr val="EFF6FA"/>
                    </a:solidFill>
                  </a:tcPr>
                </a:tc>
                <a:tc>
                  <a:txBody>
                    <a:bodyPr/>
                    <a:lstStyle/>
                    <a:p>
                      <a:pPr algn="ctr">
                        <a:spcAft>
                          <a:spcPts val="0"/>
                        </a:spcAft>
                      </a:pPr>
                      <a:r>
                        <a:rPr sz="1050" b="0">
                          <a:solidFill>
                            <a:srgbClr val="2B3744"/>
                          </a:solidFill>
                          <a:latin typeface="Arial"/>
                        </a:rPr>
                        <a:t>0.7326</a:t>
                      </a:r>
                    </a:p>
                  </a:txBody>
                  <a:tcPr anchor="ctr" marL="36576" marR="36576" marT="22860" marB="22860">
                    <a:solidFill>
                      <a:srgbClr val="EFF6FA"/>
                    </a:solidFill>
                  </a:tcPr>
                </a:tc>
                <a:tc>
                  <a:txBody>
                    <a:bodyPr/>
                    <a:lstStyle/>
                    <a:p>
                      <a:pPr algn="ctr">
                        <a:spcAft>
                          <a:spcPts val="0"/>
                        </a:spcAft>
                      </a:pPr>
                      <a:r>
                        <a:rPr sz="1050" b="0">
                          <a:solidFill>
                            <a:srgbClr val="2B3744"/>
                          </a:solidFill>
                          <a:latin typeface="Arial"/>
                        </a:rPr>
                        <a:t>0.9844</a:t>
                      </a:r>
                    </a:p>
                  </a:txBody>
                  <a:tcPr anchor="ctr" marL="36576" marR="36576" marT="22860" marB="22860">
                    <a:solidFill>
                      <a:srgbClr val="EFF6FA"/>
                    </a:solidFill>
                  </a:tcPr>
                </a:tc>
                <a:tc>
                  <a:txBody>
                    <a:bodyPr/>
                    <a:lstStyle/>
                    <a:p>
                      <a:pPr algn="ctr">
                        <a:spcAft>
                          <a:spcPts val="0"/>
                        </a:spcAft>
                      </a:pPr>
                      <a:r>
                        <a:rPr sz="1050" b="0">
                          <a:solidFill>
                            <a:srgbClr val="2B3744"/>
                          </a:solidFill>
                          <a:latin typeface="Arial"/>
                        </a:rPr>
                        <a:t>0.8400</a:t>
                      </a:r>
                    </a:p>
                  </a:txBody>
                  <a:tcPr anchor="ctr" marL="36576" marR="36576" marT="22860" marB="22860">
                    <a:solidFill>
                      <a:srgbClr val="EFF6FA"/>
                    </a:solidFill>
                  </a:tcPr>
                </a:tc>
                <a:tc>
                  <a:txBody>
                    <a:bodyPr/>
                    <a:lstStyle/>
                    <a:p>
                      <a:pPr algn="ctr">
                        <a:spcAft>
                          <a:spcPts val="0"/>
                        </a:spcAft>
                      </a:pPr>
                      <a:r>
                        <a:rPr sz="1050" b="0">
                          <a:solidFill>
                            <a:srgbClr val="2B3744"/>
                          </a:solidFill>
                          <a:latin typeface="Arial"/>
                        </a:rPr>
                        <a:t>0.9935</a:t>
                      </a:r>
                    </a:p>
                  </a:txBody>
                  <a:tcPr anchor="ctr" marL="36576" marR="36576" marT="22860" marB="22860">
                    <a:solidFill>
                      <a:srgbClr val="EFF6FA"/>
                    </a:solidFill>
                  </a:tcPr>
                </a:tc>
                <a:tc>
                  <a:txBody>
                    <a:bodyPr/>
                    <a:lstStyle/>
                    <a:p>
                      <a:pPr algn="ctr">
                        <a:spcAft>
                          <a:spcPts val="0"/>
                        </a:spcAft>
                      </a:pPr>
                      <a:r>
                        <a:rPr sz="1050" b="0">
                          <a:solidFill>
                            <a:srgbClr val="2B3744"/>
                          </a:solidFill>
                          <a:latin typeface="Arial"/>
                        </a:rPr>
                        <a:t>0.005</a:t>
                      </a:r>
                    </a:p>
                  </a:txBody>
                  <a:tcPr anchor="ctr" marL="36576" marR="36576" marT="22860" marB="22860">
                    <a:solidFill>
                      <a:srgbClr val="EFF6FA"/>
                    </a:solidFill>
                  </a:tcPr>
                </a:tc>
              </a:tr>
              <a:tr h="448056">
                <a:tc>
                  <a:txBody>
                    <a:bodyPr/>
                    <a:lstStyle/>
                    <a:p>
                      <a:pPr algn="l">
                        <a:spcAft>
                          <a:spcPts val="0"/>
                        </a:spcAft>
                      </a:pPr>
                      <a:r>
                        <a:rPr sz="1050" b="1">
                          <a:solidFill>
                            <a:srgbClr val="2B3744"/>
                          </a:solidFill>
                          <a:latin typeface="Arial"/>
                        </a:rPr>
                        <a:t>BankSim</a:t>
                      </a:r>
                    </a:p>
                  </a:txBody>
                  <a:tcPr anchor="ctr" marL="36576" marR="36576" marT="22860" marB="22860">
                    <a:solidFill>
                      <a:srgbClr val="FFFFFF"/>
                    </a:solidFill>
                  </a:tcPr>
                </a:tc>
                <a:tc>
                  <a:txBody>
                    <a:bodyPr/>
                    <a:lstStyle/>
                    <a:p>
                      <a:pPr algn="l">
                        <a:spcAft>
                          <a:spcPts val="0"/>
                        </a:spcAft>
                      </a:pPr>
                      <a:r>
                        <a:rPr sz="1050" b="0">
                          <a:solidFill>
                            <a:srgbClr val="2B3744"/>
                          </a:solidFill>
                          <a:latin typeface="Arial"/>
                        </a:rPr>
                        <a:t>Random Forest</a:t>
                      </a:r>
                    </a:p>
                  </a:txBody>
                  <a:tcPr anchor="ctr" marL="36576" marR="36576" marT="22860" marB="22860">
                    <a:solidFill>
                      <a:srgbClr val="FFFFFF"/>
                    </a:solidFill>
                  </a:tcPr>
                </a:tc>
                <a:tc>
                  <a:txBody>
                    <a:bodyPr/>
                    <a:lstStyle/>
                    <a:p>
                      <a:pPr algn="ctr">
                        <a:spcAft>
                          <a:spcPts val="0"/>
                        </a:spcAft>
                      </a:pPr>
                      <a:r>
                        <a:rPr sz="1050" b="0">
                          <a:solidFill>
                            <a:srgbClr val="2B3744"/>
                          </a:solidFill>
                          <a:latin typeface="Arial"/>
                        </a:rPr>
                        <a:t>0.9534</a:t>
                      </a:r>
                    </a:p>
                  </a:txBody>
                  <a:tcPr anchor="ctr" marL="36576" marR="36576" marT="22860" marB="22860">
                    <a:solidFill>
                      <a:srgbClr val="FFFFFF"/>
                    </a:solidFill>
                  </a:tcPr>
                </a:tc>
                <a:tc>
                  <a:txBody>
                    <a:bodyPr/>
                    <a:lstStyle/>
                    <a:p>
                      <a:pPr algn="ctr">
                        <a:spcAft>
                          <a:spcPts val="0"/>
                        </a:spcAft>
                      </a:pPr>
                      <a:r>
                        <a:rPr sz="1050" b="0">
                          <a:solidFill>
                            <a:srgbClr val="2B3744"/>
                          </a:solidFill>
                          <a:latin typeface="Arial"/>
                        </a:rPr>
                        <a:t>0.1807</a:t>
                      </a:r>
                    </a:p>
                  </a:txBody>
                  <a:tcPr anchor="ctr" marL="36576" marR="36576" marT="22860" marB="22860">
                    <a:solidFill>
                      <a:srgbClr val="FFFFFF"/>
                    </a:solidFill>
                  </a:tcPr>
                </a:tc>
                <a:tc>
                  <a:txBody>
                    <a:bodyPr/>
                    <a:lstStyle/>
                    <a:p>
                      <a:pPr algn="ctr">
                        <a:spcAft>
                          <a:spcPts val="0"/>
                        </a:spcAft>
                      </a:pPr>
                      <a:r>
                        <a:rPr sz="1050" b="0">
                          <a:solidFill>
                            <a:srgbClr val="2B3744"/>
                          </a:solidFill>
                          <a:latin typeface="Arial"/>
                        </a:rPr>
                        <a:t>0.9386</a:t>
                      </a:r>
                    </a:p>
                  </a:txBody>
                  <a:tcPr anchor="ctr" marL="36576" marR="36576" marT="22860" marB="22860">
                    <a:solidFill>
                      <a:srgbClr val="FFFFFF"/>
                    </a:solidFill>
                  </a:tcPr>
                </a:tc>
                <a:tc>
                  <a:txBody>
                    <a:bodyPr/>
                    <a:lstStyle/>
                    <a:p>
                      <a:pPr algn="ctr">
                        <a:spcAft>
                          <a:spcPts val="0"/>
                        </a:spcAft>
                      </a:pPr>
                      <a:r>
                        <a:rPr sz="1050" b="0">
                          <a:solidFill>
                            <a:srgbClr val="2B3744"/>
                          </a:solidFill>
                          <a:latin typeface="Arial"/>
                        </a:rPr>
                        <a:t>0.3031</a:t>
                      </a:r>
                    </a:p>
                  </a:txBody>
                  <a:tcPr anchor="ctr" marL="36576" marR="36576" marT="22860" marB="22860">
                    <a:solidFill>
                      <a:srgbClr val="FFFFFF"/>
                    </a:solidFill>
                  </a:tcPr>
                </a:tc>
                <a:tc>
                  <a:txBody>
                    <a:bodyPr/>
                    <a:lstStyle/>
                    <a:p>
                      <a:pPr algn="ctr">
                        <a:spcAft>
                          <a:spcPts val="0"/>
                        </a:spcAft>
                      </a:pPr>
                      <a:r>
                        <a:rPr sz="1050" b="0">
                          <a:solidFill>
                            <a:srgbClr val="2B3744"/>
                          </a:solidFill>
                          <a:latin typeface="Arial"/>
                        </a:rPr>
                        <a:t>0.9920</a:t>
                      </a:r>
                    </a:p>
                  </a:txBody>
                  <a:tcPr anchor="ctr" marL="36576" marR="36576" marT="22860" marB="22860">
                    <a:solidFill>
                      <a:srgbClr val="FFFFFF"/>
                    </a:solidFill>
                  </a:tcPr>
                </a:tc>
                <a:tc>
                  <a:txBody>
                    <a:bodyPr/>
                    <a:lstStyle/>
                    <a:p>
                      <a:pPr algn="ctr">
                        <a:spcAft>
                          <a:spcPts val="0"/>
                        </a:spcAft>
                      </a:pPr>
                      <a:r>
                        <a:rPr sz="1050" b="0">
                          <a:solidFill>
                            <a:srgbClr val="2B3744"/>
                          </a:solidFill>
                          <a:latin typeface="Arial"/>
                        </a:rPr>
                        <a:t>0.500</a:t>
                      </a:r>
                    </a:p>
                  </a:txBody>
                  <a:tcPr anchor="ctr" marL="36576" marR="36576" marT="22860" marB="22860">
                    <a:solidFill>
                      <a:srgbClr val="FFFFFF"/>
                    </a:solidFill>
                  </a:tcPr>
                </a:tc>
              </a:tr>
              <a:tr h="448056">
                <a:tc>
                  <a:txBody>
                    <a:bodyPr/>
                    <a:lstStyle/>
                    <a:p>
                      <a:pPr algn="l">
                        <a:spcAft>
                          <a:spcPts val="0"/>
                        </a:spcAft>
                      </a:pPr>
                      <a:r>
                        <a:rPr sz="1050" b="1">
                          <a:solidFill>
                            <a:srgbClr val="2B3744"/>
                          </a:solidFill>
                          <a:latin typeface="Arial"/>
                        </a:rPr>
                        <a:t>CICIDS2017</a:t>
                      </a:r>
                    </a:p>
                  </a:txBody>
                  <a:tcPr anchor="ctr" marL="36576" marR="36576" marT="22860" marB="22860">
                    <a:solidFill>
                      <a:srgbClr val="EFF6FA"/>
                    </a:solidFill>
                  </a:tcPr>
                </a:tc>
                <a:tc>
                  <a:txBody>
                    <a:bodyPr/>
                    <a:lstStyle/>
                    <a:p>
                      <a:pPr algn="l">
                        <a:spcAft>
                          <a:spcPts val="0"/>
                        </a:spcAft>
                      </a:pPr>
                      <a:r>
                        <a:rPr sz="1050" b="0">
                          <a:solidFill>
                            <a:srgbClr val="2B3744"/>
                          </a:solidFill>
                          <a:latin typeface="Arial"/>
                        </a:rPr>
                        <a:t>XGBoost</a:t>
                      </a:r>
                    </a:p>
                  </a:txBody>
                  <a:tcPr anchor="ctr" marL="36576" marR="36576" marT="22860" marB="22860">
                    <a:solidFill>
                      <a:srgbClr val="EFF6FA"/>
                    </a:solidFill>
                  </a:tcPr>
                </a:tc>
                <a:tc>
                  <a:txBody>
                    <a:bodyPr/>
                    <a:lstStyle/>
                    <a:p>
                      <a:pPr algn="ctr">
                        <a:spcAft>
                          <a:spcPts val="0"/>
                        </a:spcAft>
                      </a:pPr>
                      <a:r>
                        <a:rPr sz="1050" b="0">
                          <a:solidFill>
                            <a:srgbClr val="2B3744"/>
                          </a:solidFill>
                          <a:latin typeface="Arial"/>
                        </a:rPr>
                        <a:t>0.8781</a:t>
                      </a:r>
                    </a:p>
                  </a:txBody>
                  <a:tcPr anchor="ctr" marL="36576" marR="36576" marT="22860" marB="22860">
                    <a:solidFill>
                      <a:srgbClr val="EFF6FA"/>
                    </a:solidFill>
                  </a:tcPr>
                </a:tc>
                <a:tc>
                  <a:txBody>
                    <a:bodyPr/>
                    <a:lstStyle/>
                    <a:p>
                      <a:pPr algn="ctr">
                        <a:spcAft>
                          <a:spcPts val="0"/>
                        </a:spcAft>
                      </a:pPr>
                      <a:r>
                        <a:rPr sz="1050" b="0">
                          <a:solidFill>
                            <a:srgbClr val="2B3744"/>
                          </a:solidFill>
                          <a:latin typeface="Arial"/>
                        </a:rPr>
                        <a:t>0.6179</a:t>
                      </a:r>
                    </a:p>
                  </a:txBody>
                  <a:tcPr anchor="ctr" marL="36576" marR="36576" marT="22860" marB="22860">
                    <a:solidFill>
                      <a:srgbClr val="EFF6FA"/>
                    </a:solidFill>
                  </a:tcPr>
                </a:tc>
                <a:tc>
                  <a:txBody>
                    <a:bodyPr/>
                    <a:lstStyle/>
                    <a:p>
                      <a:pPr algn="ctr">
                        <a:spcAft>
                          <a:spcPts val="0"/>
                        </a:spcAft>
                      </a:pPr>
                      <a:r>
                        <a:rPr sz="1050" b="0">
                          <a:solidFill>
                            <a:srgbClr val="2B3744"/>
                          </a:solidFill>
                          <a:latin typeface="Arial"/>
                        </a:rPr>
                        <a:t>0.9992</a:t>
                      </a:r>
                    </a:p>
                  </a:txBody>
                  <a:tcPr anchor="ctr" marL="36576" marR="36576" marT="22860" marB="22860">
                    <a:solidFill>
                      <a:srgbClr val="EFF6FA"/>
                    </a:solidFill>
                  </a:tcPr>
                </a:tc>
                <a:tc>
                  <a:txBody>
                    <a:bodyPr/>
                    <a:lstStyle/>
                    <a:p>
                      <a:pPr algn="ctr">
                        <a:spcAft>
                          <a:spcPts val="0"/>
                        </a:spcAft>
                      </a:pPr>
                      <a:r>
                        <a:rPr sz="1050" b="0">
                          <a:solidFill>
                            <a:srgbClr val="2B3744"/>
                          </a:solidFill>
                          <a:latin typeface="Arial"/>
                        </a:rPr>
                        <a:t>0.7636</a:t>
                      </a:r>
                    </a:p>
                  </a:txBody>
                  <a:tcPr anchor="ctr" marL="36576" marR="36576" marT="22860" marB="22860">
                    <a:solidFill>
                      <a:srgbClr val="EFF6FA"/>
                    </a:solidFill>
                  </a:tcPr>
                </a:tc>
                <a:tc>
                  <a:txBody>
                    <a:bodyPr/>
                    <a:lstStyle/>
                    <a:p>
                      <a:pPr algn="ctr">
                        <a:spcAft>
                          <a:spcPts val="0"/>
                        </a:spcAft>
                      </a:pPr>
                      <a:r>
                        <a:rPr sz="1050" b="0">
                          <a:solidFill>
                            <a:srgbClr val="2B3744"/>
                          </a:solidFill>
                          <a:latin typeface="Arial"/>
                        </a:rPr>
                        <a:t>0.9989</a:t>
                      </a:r>
                    </a:p>
                  </a:txBody>
                  <a:tcPr anchor="ctr" marL="36576" marR="36576" marT="22860" marB="22860">
                    <a:solidFill>
                      <a:srgbClr val="EFF6FA"/>
                    </a:solidFill>
                  </a:tcPr>
                </a:tc>
                <a:tc>
                  <a:txBody>
                    <a:bodyPr/>
                    <a:lstStyle/>
                    <a:p>
                      <a:pPr algn="ctr">
                        <a:spcAft>
                          <a:spcPts val="0"/>
                        </a:spcAft>
                      </a:pPr>
                      <a:r>
                        <a:rPr sz="1050" b="0">
                          <a:solidFill>
                            <a:srgbClr val="2B3744"/>
                          </a:solidFill>
                          <a:latin typeface="Arial"/>
                        </a:rPr>
                        <a:t>0.005</a:t>
                      </a:r>
                    </a:p>
                  </a:txBody>
                  <a:tcPr anchor="ctr" marL="36576" marR="36576" marT="22860" marB="22860">
                    <a:solidFill>
                      <a:srgbClr val="EFF6FA"/>
                    </a:solidFill>
                  </a:tcPr>
                </a:tc>
              </a:tr>
              <a:tr h="448056">
                <a:tc>
                  <a:txBody>
                    <a:bodyPr/>
                    <a:lstStyle/>
                    <a:p>
                      <a:pPr algn="l">
                        <a:spcAft>
                          <a:spcPts val="0"/>
                        </a:spcAft>
                      </a:pPr>
                      <a:r>
                        <a:rPr sz="1050" b="1">
                          <a:solidFill>
                            <a:srgbClr val="2B3744"/>
                          </a:solidFill>
                          <a:latin typeface="Arial"/>
                        </a:rPr>
                        <a:t>IEEE-CIS</a:t>
                      </a:r>
                    </a:p>
                  </a:txBody>
                  <a:tcPr anchor="ctr" marL="36576" marR="36576" marT="22860" marB="22860">
                    <a:solidFill>
                      <a:srgbClr val="FFFFFF"/>
                    </a:solidFill>
                  </a:tcPr>
                </a:tc>
                <a:tc>
                  <a:txBody>
                    <a:bodyPr/>
                    <a:lstStyle/>
                    <a:p>
                      <a:pPr algn="l">
                        <a:spcAft>
                          <a:spcPts val="0"/>
                        </a:spcAft>
                      </a:pPr>
                      <a:r>
                        <a:rPr sz="1050" b="0">
                          <a:solidFill>
                            <a:srgbClr val="2B3744"/>
                          </a:solidFill>
                          <a:latin typeface="Arial"/>
                        </a:rPr>
                        <a:t>Random Forest</a:t>
                      </a:r>
                    </a:p>
                  </a:txBody>
                  <a:tcPr anchor="ctr" marL="36576" marR="36576" marT="22860" marB="22860">
                    <a:solidFill>
                      <a:srgbClr val="FFFFFF"/>
                    </a:solidFill>
                  </a:tcPr>
                </a:tc>
                <a:tc>
                  <a:txBody>
                    <a:bodyPr/>
                    <a:lstStyle/>
                    <a:p>
                      <a:pPr algn="ctr">
                        <a:spcAft>
                          <a:spcPts val="0"/>
                        </a:spcAft>
                      </a:pPr>
                      <a:r>
                        <a:rPr sz="1050" b="0">
                          <a:solidFill>
                            <a:srgbClr val="2B3744"/>
                          </a:solidFill>
                          <a:latin typeface="Arial"/>
                        </a:rPr>
                        <a:t>0.8771</a:t>
                      </a:r>
                    </a:p>
                  </a:txBody>
                  <a:tcPr anchor="ctr" marL="36576" marR="36576" marT="22860" marB="22860">
                    <a:solidFill>
                      <a:srgbClr val="FFFFFF"/>
                    </a:solidFill>
                  </a:tcPr>
                </a:tc>
                <a:tc>
                  <a:txBody>
                    <a:bodyPr/>
                    <a:lstStyle/>
                    <a:p>
                      <a:pPr algn="ctr">
                        <a:spcAft>
                          <a:spcPts val="0"/>
                        </a:spcAft>
                      </a:pPr>
                      <a:r>
                        <a:rPr sz="1050" b="0">
                          <a:solidFill>
                            <a:srgbClr val="2B3744"/>
                          </a:solidFill>
                          <a:latin typeface="Arial"/>
                        </a:rPr>
                        <a:t>0.1734</a:t>
                      </a:r>
                    </a:p>
                  </a:txBody>
                  <a:tcPr anchor="ctr" marL="36576" marR="36576" marT="22860" marB="22860">
                    <a:solidFill>
                      <a:srgbClr val="FFFFFF"/>
                    </a:solidFill>
                  </a:tcPr>
                </a:tc>
                <a:tc>
                  <a:txBody>
                    <a:bodyPr/>
                    <a:lstStyle/>
                    <a:p>
                      <a:pPr algn="ctr">
                        <a:spcAft>
                          <a:spcPts val="0"/>
                        </a:spcAft>
                      </a:pPr>
                      <a:r>
                        <a:rPr sz="1050" b="0">
                          <a:solidFill>
                            <a:srgbClr val="2B3744"/>
                          </a:solidFill>
                          <a:latin typeface="Arial"/>
                        </a:rPr>
                        <a:t>0.6828</a:t>
                      </a:r>
                    </a:p>
                  </a:txBody>
                  <a:tcPr anchor="ctr" marL="36576" marR="36576" marT="22860" marB="22860">
                    <a:solidFill>
                      <a:srgbClr val="FFFFFF"/>
                    </a:solidFill>
                  </a:tcPr>
                </a:tc>
                <a:tc>
                  <a:txBody>
                    <a:bodyPr/>
                    <a:lstStyle/>
                    <a:p>
                      <a:pPr algn="ctr">
                        <a:spcAft>
                          <a:spcPts val="0"/>
                        </a:spcAft>
                      </a:pPr>
                      <a:r>
                        <a:rPr sz="1050" b="0">
                          <a:solidFill>
                            <a:srgbClr val="2B3744"/>
                          </a:solidFill>
                          <a:latin typeface="Arial"/>
                        </a:rPr>
                        <a:t>0.2766</a:t>
                      </a:r>
                    </a:p>
                  </a:txBody>
                  <a:tcPr anchor="ctr" marL="36576" marR="36576" marT="22860" marB="22860">
                    <a:solidFill>
                      <a:srgbClr val="FFFFFF"/>
                    </a:solidFill>
                  </a:tcPr>
                </a:tc>
                <a:tc>
                  <a:txBody>
                    <a:bodyPr/>
                    <a:lstStyle/>
                    <a:p>
                      <a:pPr algn="ctr">
                        <a:spcAft>
                          <a:spcPts val="0"/>
                        </a:spcAft>
                      </a:pPr>
                      <a:r>
                        <a:rPr sz="1050" b="0">
                          <a:solidFill>
                            <a:srgbClr val="2B3744"/>
                          </a:solidFill>
                          <a:latin typeface="Arial"/>
                        </a:rPr>
                        <a:t>0.8684</a:t>
                      </a:r>
                    </a:p>
                  </a:txBody>
                  <a:tcPr anchor="ctr" marL="36576" marR="36576" marT="22860" marB="22860">
                    <a:solidFill>
                      <a:srgbClr val="FFFFFF"/>
                    </a:solidFill>
                  </a:tcPr>
                </a:tc>
                <a:tc>
                  <a:txBody>
                    <a:bodyPr/>
                    <a:lstStyle/>
                    <a:p>
                      <a:pPr algn="ctr">
                        <a:spcAft>
                          <a:spcPts val="0"/>
                        </a:spcAft>
                      </a:pPr>
                      <a:r>
                        <a:rPr sz="1050" b="0">
                          <a:solidFill>
                            <a:srgbClr val="2B3744"/>
                          </a:solidFill>
                          <a:latin typeface="Arial"/>
                        </a:rPr>
                        <a:t>0.500</a:t>
                      </a:r>
                    </a:p>
                  </a:txBody>
                  <a:tcPr anchor="ctr" marL="36576" marR="36576" marT="22860" marB="22860">
                    <a:solidFill>
                      <a:srgbClr val="FFFFFF"/>
                    </a:solidFill>
                  </a:tcPr>
                </a:tc>
              </a:tr>
            </a:tbl>
          </a:graphicData>
        </a:graphic>
      </p:graphicFrame>
      <p:sp>
        <p:nvSpPr>
          <p:cNvPr id="6" name="TextBox 5"/>
          <p:cNvSpPr txBox="1"/>
          <p:nvPr/>
        </p:nvSpPr>
        <p:spPr>
          <a:xfrm>
            <a:off x="704088" y="4114800"/>
            <a:ext cx="2788920" cy="347472"/>
          </a:xfrm>
          <a:prstGeom prst="rect">
            <a:avLst/>
          </a:prstGeom>
          <a:noFill/>
        </p:spPr>
        <p:txBody>
          <a:bodyPr wrap="square" anchor="ctr" lIns="54864" rIns="54864" tIns="54864" bIns="54864">
            <a:normAutofit/>
          </a:bodyPr>
          <a:lstStyle/>
          <a:p>
            <a:pPr algn="l"/>
            <a:r>
              <a:rPr sz="1400" b="1">
                <a:solidFill>
                  <a:srgbClr val="19324D"/>
                </a:solidFill>
                <a:latin typeface="Arial"/>
              </a:rPr>
              <a:t>BEST-MODEL F1 BY DATASET</a:t>
            </a:r>
          </a:p>
        </p:txBody>
      </p:sp>
      <p:sp>
        <p:nvSpPr>
          <p:cNvPr id="7" name="TextBox 6"/>
          <p:cNvSpPr txBox="1"/>
          <p:nvPr/>
        </p:nvSpPr>
        <p:spPr>
          <a:xfrm>
            <a:off x="731520" y="4553712"/>
            <a:ext cx="1325880" cy="256032"/>
          </a:xfrm>
          <a:prstGeom prst="rect">
            <a:avLst/>
          </a:prstGeom>
          <a:noFill/>
        </p:spPr>
        <p:txBody>
          <a:bodyPr wrap="square" anchor="ctr" lIns="54864" rIns="54864" tIns="54864" bIns="54864">
            <a:normAutofit/>
          </a:bodyPr>
          <a:lstStyle/>
          <a:p>
            <a:pPr algn="l"/>
            <a:r>
              <a:rPr sz="1150" b="0">
                <a:solidFill>
                  <a:srgbClr val="2B3744"/>
                </a:solidFill>
                <a:latin typeface="Arial"/>
              </a:rPr>
              <a:t>PaySim</a:t>
            </a:r>
          </a:p>
        </p:txBody>
      </p:sp>
      <p:sp>
        <p:nvSpPr>
          <p:cNvPr id="8" name="Rounded Rectangle 7"/>
          <p:cNvSpPr/>
          <p:nvPr/>
        </p:nvSpPr>
        <p:spPr>
          <a:xfrm>
            <a:off x="2157984" y="4594860"/>
            <a:ext cx="3429000" cy="182880"/>
          </a:xfrm>
          <a:prstGeom prst="roundRect">
            <a:avLst/>
          </a:prstGeom>
          <a:solidFill>
            <a:srgbClr val="E5F2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157984" y="4594860"/>
            <a:ext cx="2880360" cy="182880"/>
          </a:xfrm>
          <a:prstGeom prst="roundRect">
            <a:avLst/>
          </a:prstGeom>
          <a:solidFill>
            <a:srgbClr val="1282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0" y="4553712"/>
            <a:ext cx="585216" cy="256032"/>
          </a:xfrm>
          <a:prstGeom prst="rect">
            <a:avLst/>
          </a:prstGeom>
          <a:noFill/>
        </p:spPr>
        <p:txBody>
          <a:bodyPr wrap="square" anchor="ctr" lIns="54864" rIns="54864" tIns="54864" bIns="54864">
            <a:normAutofit/>
          </a:bodyPr>
          <a:lstStyle/>
          <a:p>
            <a:pPr algn="l"/>
            <a:r>
              <a:rPr sz="1150" b="1">
                <a:solidFill>
                  <a:srgbClr val="19324D"/>
                </a:solidFill>
                <a:latin typeface="Arial"/>
              </a:rPr>
              <a:t>0.840</a:t>
            </a:r>
          </a:p>
        </p:txBody>
      </p:sp>
      <p:sp>
        <p:nvSpPr>
          <p:cNvPr id="11" name="TextBox 10"/>
          <p:cNvSpPr txBox="1"/>
          <p:nvPr/>
        </p:nvSpPr>
        <p:spPr>
          <a:xfrm>
            <a:off x="731520" y="4919472"/>
            <a:ext cx="1325880" cy="256032"/>
          </a:xfrm>
          <a:prstGeom prst="rect">
            <a:avLst/>
          </a:prstGeom>
          <a:noFill/>
        </p:spPr>
        <p:txBody>
          <a:bodyPr wrap="square" anchor="ctr" lIns="54864" rIns="54864" tIns="54864" bIns="54864">
            <a:normAutofit/>
          </a:bodyPr>
          <a:lstStyle/>
          <a:p>
            <a:pPr algn="l"/>
            <a:r>
              <a:rPr sz="1150" b="0">
                <a:solidFill>
                  <a:srgbClr val="2B3744"/>
                </a:solidFill>
                <a:latin typeface="Arial"/>
              </a:rPr>
              <a:t>BankSim</a:t>
            </a:r>
          </a:p>
        </p:txBody>
      </p:sp>
      <p:sp>
        <p:nvSpPr>
          <p:cNvPr id="12" name="Rounded Rectangle 11"/>
          <p:cNvSpPr/>
          <p:nvPr/>
        </p:nvSpPr>
        <p:spPr>
          <a:xfrm>
            <a:off x="2157984" y="4960620"/>
            <a:ext cx="3429000" cy="182880"/>
          </a:xfrm>
          <a:prstGeom prst="roundRect">
            <a:avLst/>
          </a:prstGeom>
          <a:solidFill>
            <a:srgbClr val="E5F2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157984" y="4960620"/>
            <a:ext cx="1039329" cy="182880"/>
          </a:xfrm>
          <a:prstGeom prst="roundRect">
            <a:avLst/>
          </a:prstGeom>
          <a:solidFill>
            <a:srgbClr val="248F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0" y="4919472"/>
            <a:ext cx="585216" cy="256032"/>
          </a:xfrm>
          <a:prstGeom prst="rect">
            <a:avLst/>
          </a:prstGeom>
          <a:noFill/>
        </p:spPr>
        <p:txBody>
          <a:bodyPr wrap="square" anchor="ctr" lIns="54864" rIns="54864" tIns="54864" bIns="54864">
            <a:normAutofit/>
          </a:bodyPr>
          <a:lstStyle/>
          <a:p>
            <a:pPr algn="l"/>
            <a:r>
              <a:rPr sz="1150" b="1">
                <a:solidFill>
                  <a:srgbClr val="19324D"/>
                </a:solidFill>
                <a:latin typeface="Arial"/>
              </a:rPr>
              <a:t>0.303</a:t>
            </a:r>
          </a:p>
        </p:txBody>
      </p:sp>
      <p:sp>
        <p:nvSpPr>
          <p:cNvPr id="15" name="TextBox 14"/>
          <p:cNvSpPr txBox="1"/>
          <p:nvPr/>
        </p:nvSpPr>
        <p:spPr>
          <a:xfrm>
            <a:off x="731520" y="5285232"/>
            <a:ext cx="1325880" cy="256032"/>
          </a:xfrm>
          <a:prstGeom prst="rect">
            <a:avLst/>
          </a:prstGeom>
          <a:noFill/>
        </p:spPr>
        <p:txBody>
          <a:bodyPr wrap="square" anchor="ctr" lIns="54864" rIns="54864" tIns="54864" bIns="54864">
            <a:normAutofit/>
          </a:bodyPr>
          <a:lstStyle/>
          <a:p>
            <a:pPr algn="l"/>
            <a:r>
              <a:rPr sz="1150" b="0">
                <a:solidFill>
                  <a:srgbClr val="2B3744"/>
                </a:solidFill>
                <a:latin typeface="Arial"/>
              </a:rPr>
              <a:t>CICIDS2017</a:t>
            </a:r>
          </a:p>
        </p:txBody>
      </p:sp>
      <p:sp>
        <p:nvSpPr>
          <p:cNvPr id="16" name="Rounded Rectangle 15"/>
          <p:cNvSpPr/>
          <p:nvPr/>
        </p:nvSpPr>
        <p:spPr>
          <a:xfrm>
            <a:off x="2157984" y="5326380"/>
            <a:ext cx="3429000" cy="182880"/>
          </a:xfrm>
          <a:prstGeom prst="roundRect">
            <a:avLst/>
          </a:prstGeom>
          <a:solidFill>
            <a:srgbClr val="E5F2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2157984" y="5326380"/>
            <a:ext cx="2618384" cy="182880"/>
          </a:xfrm>
          <a:prstGeom prst="roundRect">
            <a:avLst/>
          </a:prstGeom>
          <a:solidFill>
            <a:srgbClr val="22AA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0" y="5285232"/>
            <a:ext cx="585216" cy="256032"/>
          </a:xfrm>
          <a:prstGeom prst="rect">
            <a:avLst/>
          </a:prstGeom>
          <a:noFill/>
        </p:spPr>
        <p:txBody>
          <a:bodyPr wrap="square" anchor="ctr" lIns="54864" rIns="54864" tIns="54864" bIns="54864">
            <a:normAutofit/>
          </a:bodyPr>
          <a:lstStyle/>
          <a:p>
            <a:pPr algn="l"/>
            <a:r>
              <a:rPr sz="1150" b="1">
                <a:solidFill>
                  <a:srgbClr val="19324D"/>
                </a:solidFill>
                <a:latin typeface="Arial"/>
              </a:rPr>
              <a:t>0.764</a:t>
            </a:r>
          </a:p>
        </p:txBody>
      </p:sp>
      <p:sp>
        <p:nvSpPr>
          <p:cNvPr id="19" name="TextBox 18"/>
          <p:cNvSpPr txBox="1"/>
          <p:nvPr/>
        </p:nvSpPr>
        <p:spPr>
          <a:xfrm>
            <a:off x="731520" y="5650992"/>
            <a:ext cx="1325880" cy="256032"/>
          </a:xfrm>
          <a:prstGeom prst="rect">
            <a:avLst/>
          </a:prstGeom>
          <a:noFill/>
        </p:spPr>
        <p:txBody>
          <a:bodyPr wrap="square" anchor="ctr" lIns="54864" rIns="54864" tIns="54864" bIns="54864">
            <a:normAutofit/>
          </a:bodyPr>
          <a:lstStyle/>
          <a:p>
            <a:pPr algn="l"/>
            <a:r>
              <a:rPr sz="1150" b="0">
                <a:solidFill>
                  <a:srgbClr val="2B3744"/>
                </a:solidFill>
                <a:latin typeface="Arial"/>
              </a:rPr>
              <a:t>IEEE-CIS</a:t>
            </a:r>
          </a:p>
        </p:txBody>
      </p:sp>
      <p:sp>
        <p:nvSpPr>
          <p:cNvPr id="20" name="Rounded Rectangle 19"/>
          <p:cNvSpPr/>
          <p:nvPr/>
        </p:nvSpPr>
        <p:spPr>
          <a:xfrm>
            <a:off x="2157984" y="5692140"/>
            <a:ext cx="3429000" cy="182880"/>
          </a:xfrm>
          <a:prstGeom prst="roundRect">
            <a:avLst/>
          </a:prstGeom>
          <a:solidFill>
            <a:srgbClr val="E5F2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157984" y="5692140"/>
            <a:ext cx="948461" cy="182880"/>
          </a:xfrm>
          <a:prstGeom prst="roundRect">
            <a:avLst/>
          </a:prstGeom>
          <a:solidFill>
            <a:srgbClr val="D69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0" y="5650992"/>
            <a:ext cx="585216" cy="256032"/>
          </a:xfrm>
          <a:prstGeom prst="rect">
            <a:avLst/>
          </a:prstGeom>
          <a:noFill/>
        </p:spPr>
        <p:txBody>
          <a:bodyPr wrap="square" anchor="ctr" lIns="54864" rIns="54864" tIns="54864" bIns="54864">
            <a:normAutofit/>
          </a:bodyPr>
          <a:lstStyle/>
          <a:p>
            <a:pPr algn="l"/>
            <a:r>
              <a:rPr sz="1150" b="1">
                <a:solidFill>
                  <a:srgbClr val="19324D"/>
                </a:solidFill>
                <a:latin typeface="Arial"/>
              </a:rPr>
              <a:t>0.277</a:t>
            </a:r>
          </a:p>
        </p:txBody>
      </p:sp>
      <p:sp>
        <p:nvSpPr>
          <p:cNvPr id="23" name="TextBox 22"/>
          <p:cNvSpPr txBox="1"/>
          <p:nvPr/>
        </p:nvSpPr>
        <p:spPr>
          <a:xfrm>
            <a:off x="6537960" y="4224528"/>
            <a:ext cx="5166360" cy="1645920"/>
          </a:xfrm>
          <a:prstGeom prst="rect">
            <a:avLst/>
          </a:prstGeom>
          <a:solidFill>
            <a:srgbClr val="FBF5E6"/>
          </a:solidFill>
          <a:ln>
            <a:noFill/>
          </a:ln>
        </p:spPr>
        <p:txBody>
          <a:bodyPr wrap="square" anchor="ctr" lIns="146304" rIns="146304" tIns="146304" bIns="146304">
            <a:normAutofit/>
          </a:bodyPr>
          <a:lstStyle/>
          <a:p>
            <a:pPr algn="l"/>
            <a:r>
              <a:rPr sz="1310" b="0">
                <a:solidFill>
                  <a:srgbClr val="2B3744"/>
                </a:solidFill>
                <a:latin typeface="Arial"/>
              </a:rPr>
              <a:t>INTERPRETATION
BankSim: recall 0.9386 but precision 0.1807 at threshold 0.50. Many alerts may be false alarms.
PaySim: F1 0.8400 at threshold 0.005 on a rare-event sample.</a:t>
            </a:r>
          </a:p>
        </p:txBody>
      </p:sp>
      <p:sp>
        <p:nvSpPr>
          <p:cNvPr id="24" name="TextBox 23"/>
          <p:cNvSpPr txBox="1"/>
          <p:nvPr/>
        </p:nvSpPr>
        <p:spPr>
          <a:xfrm>
            <a:off x="566928" y="6355080"/>
            <a:ext cx="11612880" cy="256032"/>
          </a:xfrm>
          <a:prstGeom prst="rect">
            <a:avLst/>
          </a:prstGeom>
          <a:noFill/>
        </p:spPr>
        <p:txBody>
          <a:bodyPr wrap="square" anchor="ctr" lIns="9144" rIns="9144" tIns="9144" bIns="9144">
            <a:normAutofit/>
          </a:bodyPr>
          <a:lstStyle/>
          <a:p>
            <a:pPr algn="l"/>
            <a:r>
              <a:rPr sz="800" b="0">
                <a:solidFill>
                  <a:srgbClr val="63707E"/>
                </a:solidFill>
                <a:latin typeface="Arial"/>
              </a:rPr>
              <a:t>Saved holdout results from models/evaluation_metrics.json. PaySim/CICIDS samples: 250,000 / 150,000; BankSim/IEEE-CIS: 594,643 / 590,540 rows.</a:t>
            </a:r>
          </a:p>
        </p:txBody>
      </p:sp>
    </p:spTree>
    <p:extLst>
      <p:ext uri="{BB962C8B-B14F-4D97-AF65-F5344CB8AC3E}">
        <p14:creationId xmlns:p14="http://schemas.microsoft.com/office/powerpoint/2010/main" val="33197433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801600" cy="1512146"/>
          </a:xfrm>
          <a:solidFill>
            <a:srgbClr val="558ED5"/>
          </a:solidFill>
        </p:spPr>
        <p:txBody>
          <a:bodyPr>
            <a:normAutofit/>
          </a:bodyPr>
          <a:lstStyle/>
          <a:p>
            <a:r>
              <a:rPr b="1">
                <a:latin typeface="Arial"/>
              </a:rPr>
              <a:t>9. TIMELINE / GANTT CHART</a:t>
            </a:r>
          </a:p>
        </p:txBody>
      </p:sp>
      <p:sp>
        <p:nvSpPr>
          <p:cNvPr id="4" name="Slide Number Placeholder 3"/>
          <p:cNvSpPr>
            <a:spLocks noGrp="1"/>
          </p:cNvSpPr>
          <p:nvPr>
            <p:ph type="sldNum" sz="quarter" idx="12"/>
          </p:nvPr>
        </p:nvSpPr>
        <p:spPr/>
        <p:txBody>
          <a:bodyPr/>
          <a:lstStyle/>
          <a:p>
            <a:fld id="{C02A2637-A5A3-49FA-B214-6E67543099EF}" type="slidenum">
              <a:rPr lang="en-US" smtClean="0"/>
              <a:t>15</a:t>
            </a:fld>
            <a:endParaRPr lang="en-US"/>
          </a:p>
        </p:txBody>
      </p:sp>
      <p:sp>
        <p:nvSpPr>
          <p:cNvPr id="3" name="TextBox 2">
            <a:extLst>
              <a:ext uri="{FF2B5EF4-FFF2-40B4-BE49-F238E27FC236}">
                <a16:creationId xmlns:a16="http://schemas.microsoft.com/office/drawing/2014/main" id="{E4232115-B82D-8D1A-DF88-7F370475E570}"/>
              </a:ext>
            </a:extLst>
          </p:cNvPr>
          <p:cNvSpPr txBox="1"/>
          <p:nvPr/>
        </p:nvSpPr>
        <p:spPr>
          <a:xfrm>
            <a:off x="594360" y="1572768"/>
            <a:ext cx="11430000" cy="310896"/>
          </a:xfrm>
          <a:prstGeom prst="rect">
            <a:avLst/>
          </a:prstGeom>
          <a:noFill/>
        </p:spPr>
        <p:txBody>
          <a:bodyPr wrap="square" rtlCol="0" anchor="ctr" lIns="45720" rIns="45720" tIns="18288" bIns="18288">
            <a:normAutofit/>
          </a:bodyPr>
          <a:lstStyle/>
          <a:p>
            <a:pPr algn="ctr"/>
            <a:r>
              <a:rPr sz="1400" b="0">
                <a:solidFill>
                  <a:srgbClr val="63707E"/>
                </a:solidFill>
                <a:latin typeface="Arial"/>
              </a:rPr>
              <a:t>PROJECT PHASES  |  Status based on artifacts in this repository; calendar dates were not supplied.</a:t>
            </a:r>
          </a:p>
        </p:txBody>
      </p:sp>
      <p:sp>
        <p:nvSpPr>
          <p:cNvPr id="5" name="TextBox 4"/>
          <p:cNvSpPr txBox="1"/>
          <p:nvPr/>
        </p:nvSpPr>
        <p:spPr>
          <a:xfrm>
            <a:off x="3383280" y="1938528"/>
            <a:ext cx="1243584" cy="384048"/>
          </a:xfrm>
          <a:prstGeom prst="rect">
            <a:avLst/>
          </a:prstGeom>
          <a:noFill/>
        </p:spPr>
        <p:txBody>
          <a:bodyPr wrap="square" anchor="ctr" lIns="54864" rIns="54864" tIns="54864" bIns="54864">
            <a:normAutofit/>
          </a:bodyPr>
          <a:lstStyle/>
          <a:p>
            <a:pPr algn="ctr"/>
            <a:r>
              <a:rPr sz="1150" b="1">
                <a:solidFill>
                  <a:srgbClr val="19324D"/>
                </a:solidFill>
                <a:latin typeface="Arial"/>
              </a:rPr>
              <a:t>Data</a:t>
            </a:r>
          </a:p>
        </p:txBody>
      </p:sp>
      <p:sp>
        <p:nvSpPr>
          <p:cNvPr id="6" name="TextBox 5"/>
          <p:cNvSpPr txBox="1"/>
          <p:nvPr/>
        </p:nvSpPr>
        <p:spPr>
          <a:xfrm>
            <a:off x="4681728" y="1938528"/>
            <a:ext cx="1243584" cy="384048"/>
          </a:xfrm>
          <a:prstGeom prst="rect">
            <a:avLst/>
          </a:prstGeom>
          <a:noFill/>
        </p:spPr>
        <p:txBody>
          <a:bodyPr wrap="square" anchor="ctr" lIns="54864" rIns="54864" tIns="54864" bIns="54864">
            <a:normAutofit/>
          </a:bodyPr>
          <a:lstStyle/>
          <a:p>
            <a:pPr algn="ctr"/>
            <a:r>
              <a:rPr sz="1150" b="1">
                <a:solidFill>
                  <a:srgbClr val="19324D"/>
                </a:solidFill>
                <a:latin typeface="Arial"/>
              </a:rPr>
              <a:t>Pipeline</a:t>
            </a:r>
          </a:p>
        </p:txBody>
      </p:sp>
      <p:sp>
        <p:nvSpPr>
          <p:cNvPr id="7" name="TextBox 6"/>
          <p:cNvSpPr txBox="1"/>
          <p:nvPr/>
        </p:nvSpPr>
        <p:spPr>
          <a:xfrm>
            <a:off x="5980176" y="1938528"/>
            <a:ext cx="1243584" cy="384048"/>
          </a:xfrm>
          <a:prstGeom prst="rect">
            <a:avLst/>
          </a:prstGeom>
          <a:noFill/>
        </p:spPr>
        <p:txBody>
          <a:bodyPr wrap="square" anchor="ctr" lIns="54864" rIns="54864" tIns="54864" bIns="54864">
            <a:normAutofit/>
          </a:bodyPr>
          <a:lstStyle/>
          <a:p>
            <a:pPr algn="ctr"/>
            <a:r>
              <a:rPr sz="1150" b="1">
                <a:solidFill>
                  <a:srgbClr val="19324D"/>
                </a:solidFill>
                <a:latin typeface="Arial"/>
              </a:rPr>
              <a:t>Models</a:t>
            </a:r>
          </a:p>
        </p:txBody>
      </p:sp>
      <p:sp>
        <p:nvSpPr>
          <p:cNvPr id="8" name="TextBox 7"/>
          <p:cNvSpPr txBox="1"/>
          <p:nvPr/>
        </p:nvSpPr>
        <p:spPr>
          <a:xfrm>
            <a:off x="7278624" y="1938528"/>
            <a:ext cx="1243584" cy="384048"/>
          </a:xfrm>
          <a:prstGeom prst="rect">
            <a:avLst/>
          </a:prstGeom>
          <a:noFill/>
        </p:spPr>
        <p:txBody>
          <a:bodyPr wrap="square" anchor="ctr" lIns="54864" rIns="54864" tIns="54864" bIns="54864">
            <a:normAutofit/>
          </a:bodyPr>
          <a:lstStyle/>
          <a:p>
            <a:pPr algn="ctr"/>
            <a:r>
              <a:rPr sz="1150" b="1">
                <a:solidFill>
                  <a:srgbClr val="19324D"/>
                </a:solidFill>
                <a:latin typeface="Arial"/>
              </a:rPr>
              <a:t>Dashboard</a:t>
            </a:r>
          </a:p>
        </p:txBody>
      </p:sp>
      <p:sp>
        <p:nvSpPr>
          <p:cNvPr id="9" name="TextBox 8"/>
          <p:cNvSpPr txBox="1"/>
          <p:nvPr/>
        </p:nvSpPr>
        <p:spPr>
          <a:xfrm>
            <a:off x="8577072" y="1938528"/>
            <a:ext cx="1243584" cy="384048"/>
          </a:xfrm>
          <a:prstGeom prst="rect">
            <a:avLst/>
          </a:prstGeom>
          <a:noFill/>
        </p:spPr>
        <p:txBody>
          <a:bodyPr wrap="square" anchor="ctr" lIns="54864" rIns="54864" tIns="54864" bIns="54864">
            <a:normAutofit/>
          </a:bodyPr>
          <a:lstStyle/>
          <a:p>
            <a:pPr algn="ctr"/>
            <a:r>
              <a:rPr sz="1150" b="1">
                <a:solidFill>
                  <a:srgbClr val="19324D"/>
                </a:solidFill>
                <a:latin typeface="Arial"/>
              </a:rPr>
              <a:t>Review</a:t>
            </a:r>
          </a:p>
        </p:txBody>
      </p:sp>
      <p:sp>
        <p:nvSpPr>
          <p:cNvPr id="10" name="TextBox 9"/>
          <p:cNvSpPr txBox="1"/>
          <p:nvPr/>
        </p:nvSpPr>
        <p:spPr>
          <a:xfrm>
            <a:off x="9875520" y="1938528"/>
            <a:ext cx="1243584" cy="384048"/>
          </a:xfrm>
          <a:prstGeom prst="rect">
            <a:avLst/>
          </a:prstGeom>
          <a:noFill/>
        </p:spPr>
        <p:txBody>
          <a:bodyPr wrap="square" anchor="ctr" lIns="54864" rIns="54864" tIns="54864" bIns="54864">
            <a:normAutofit/>
          </a:bodyPr>
          <a:lstStyle/>
          <a:p>
            <a:pPr algn="ctr"/>
            <a:r>
              <a:rPr sz="1150" b="1">
                <a:solidFill>
                  <a:srgbClr val="19324D"/>
                </a:solidFill>
                <a:latin typeface="Arial"/>
              </a:rPr>
              <a:t>Next</a:t>
            </a:r>
          </a:p>
        </p:txBody>
      </p:sp>
      <p:sp>
        <p:nvSpPr>
          <p:cNvPr id="11" name="TextBox 10"/>
          <p:cNvSpPr txBox="1"/>
          <p:nvPr/>
        </p:nvSpPr>
        <p:spPr>
          <a:xfrm>
            <a:off x="594360" y="2459736"/>
            <a:ext cx="2670048" cy="402336"/>
          </a:xfrm>
          <a:prstGeom prst="rect">
            <a:avLst/>
          </a:prstGeom>
          <a:noFill/>
        </p:spPr>
        <p:txBody>
          <a:bodyPr wrap="square" anchor="ctr" lIns="54864" rIns="54864" tIns="54864" bIns="54864">
            <a:normAutofit/>
          </a:bodyPr>
          <a:lstStyle/>
          <a:p>
            <a:pPr algn="l"/>
            <a:r>
              <a:rPr sz="1220" b="0">
                <a:solidFill>
                  <a:srgbClr val="2B3744"/>
                </a:solidFill>
                <a:latin typeface="Arial"/>
              </a:rPr>
              <a:t>Dataset acquisition and verification</a:t>
            </a:r>
          </a:p>
        </p:txBody>
      </p:sp>
      <p:sp>
        <p:nvSpPr>
          <p:cNvPr id="12" name="Rectangle 11"/>
          <p:cNvSpPr/>
          <p:nvPr/>
        </p:nvSpPr>
        <p:spPr>
          <a:xfrm>
            <a:off x="3429000" y="2532888"/>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727448" y="2532888"/>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025896" y="2532888"/>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24344" y="2532888"/>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622792" y="2532888"/>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921240" y="2532888"/>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429000" y="2532888"/>
            <a:ext cx="1152144" cy="246888"/>
          </a:xfrm>
          <a:prstGeom prst="round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082528" y="2459736"/>
            <a:ext cx="1051560" cy="402336"/>
          </a:xfrm>
          <a:prstGeom prst="rect">
            <a:avLst/>
          </a:prstGeom>
          <a:noFill/>
        </p:spPr>
        <p:txBody>
          <a:bodyPr wrap="square" anchor="ctr" lIns="54864" rIns="54864" tIns="54864" bIns="54864">
            <a:normAutofit/>
          </a:bodyPr>
          <a:lstStyle/>
          <a:p>
            <a:pPr algn="ctr"/>
            <a:r>
              <a:rPr sz="980" b="1">
                <a:solidFill>
                  <a:srgbClr val="2E8B57"/>
                </a:solidFill>
                <a:latin typeface="Arial"/>
              </a:rPr>
              <a:t>DONE</a:t>
            </a:r>
          </a:p>
        </p:txBody>
      </p:sp>
      <p:sp>
        <p:nvSpPr>
          <p:cNvPr id="20" name="TextBox 19"/>
          <p:cNvSpPr txBox="1"/>
          <p:nvPr/>
        </p:nvSpPr>
        <p:spPr>
          <a:xfrm>
            <a:off x="594360" y="2980944"/>
            <a:ext cx="2670048" cy="402336"/>
          </a:xfrm>
          <a:prstGeom prst="rect">
            <a:avLst/>
          </a:prstGeom>
          <a:noFill/>
        </p:spPr>
        <p:txBody>
          <a:bodyPr wrap="square" anchor="ctr" lIns="54864" rIns="54864" tIns="54864" bIns="54864">
            <a:normAutofit/>
          </a:bodyPr>
          <a:lstStyle/>
          <a:p>
            <a:pPr algn="l"/>
            <a:r>
              <a:rPr sz="1220" b="0">
                <a:solidFill>
                  <a:srgbClr val="2B3744"/>
                </a:solidFill>
                <a:latin typeface="Arial"/>
              </a:rPr>
              <a:t>Feature preparation and data splits</a:t>
            </a:r>
          </a:p>
        </p:txBody>
      </p:sp>
      <p:sp>
        <p:nvSpPr>
          <p:cNvPr id="21" name="Rectangle 20"/>
          <p:cNvSpPr/>
          <p:nvPr/>
        </p:nvSpPr>
        <p:spPr>
          <a:xfrm>
            <a:off x="3429000" y="3054096"/>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727448" y="3054096"/>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025896" y="3054096"/>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24344" y="3054096"/>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622792" y="3054096"/>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921240" y="3054096"/>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4727448" y="3054096"/>
            <a:ext cx="1152144" cy="246888"/>
          </a:xfrm>
          <a:prstGeom prst="round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082528" y="2980944"/>
            <a:ext cx="1051560" cy="402336"/>
          </a:xfrm>
          <a:prstGeom prst="rect">
            <a:avLst/>
          </a:prstGeom>
          <a:noFill/>
        </p:spPr>
        <p:txBody>
          <a:bodyPr wrap="square" anchor="ctr" lIns="54864" rIns="54864" tIns="54864" bIns="54864">
            <a:normAutofit/>
          </a:bodyPr>
          <a:lstStyle/>
          <a:p>
            <a:pPr algn="ctr"/>
            <a:r>
              <a:rPr sz="980" b="1">
                <a:solidFill>
                  <a:srgbClr val="2E8B57"/>
                </a:solidFill>
                <a:latin typeface="Arial"/>
              </a:rPr>
              <a:t>DONE</a:t>
            </a:r>
          </a:p>
        </p:txBody>
      </p:sp>
      <p:sp>
        <p:nvSpPr>
          <p:cNvPr id="29" name="TextBox 28"/>
          <p:cNvSpPr txBox="1"/>
          <p:nvPr/>
        </p:nvSpPr>
        <p:spPr>
          <a:xfrm>
            <a:off x="594360" y="3502152"/>
            <a:ext cx="2670048" cy="402336"/>
          </a:xfrm>
          <a:prstGeom prst="rect">
            <a:avLst/>
          </a:prstGeom>
          <a:noFill/>
        </p:spPr>
        <p:txBody>
          <a:bodyPr wrap="square" anchor="ctr" lIns="54864" rIns="54864" tIns="54864" bIns="54864">
            <a:normAutofit/>
          </a:bodyPr>
          <a:lstStyle/>
          <a:p>
            <a:pPr algn="l"/>
            <a:r>
              <a:rPr sz="1220" b="0">
                <a:solidFill>
                  <a:srgbClr val="2B3744"/>
                </a:solidFill>
                <a:latin typeface="Arial"/>
              </a:rPr>
              <a:t>Model training and saved evaluations</a:t>
            </a:r>
          </a:p>
        </p:txBody>
      </p:sp>
      <p:sp>
        <p:nvSpPr>
          <p:cNvPr id="30" name="Rectangle 29"/>
          <p:cNvSpPr/>
          <p:nvPr/>
        </p:nvSpPr>
        <p:spPr>
          <a:xfrm>
            <a:off x="3429000" y="3575304"/>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727448" y="3575304"/>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025896" y="3575304"/>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324344" y="3575304"/>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622792" y="3575304"/>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921240" y="3575304"/>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025896" y="3575304"/>
            <a:ext cx="2450591" cy="246888"/>
          </a:xfrm>
          <a:prstGeom prst="round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082528" y="3502152"/>
            <a:ext cx="1051560" cy="402336"/>
          </a:xfrm>
          <a:prstGeom prst="rect">
            <a:avLst/>
          </a:prstGeom>
          <a:noFill/>
        </p:spPr>
        <p:txBody>
          <a:bodyPr wrap="square" anchor="ctr" lIns="54864" rIns="54864" tIns="54864" bIns="54864">
            <a:normAutofit/>
          </a:bodyPr>
          <a:lstStyle/>
          <a:p>
            <a:pPr algn="ctr"/>
            <a:r>
              <a:rPr sz="980" b="1">
                <a:solidFill>
                  <a:srgbClr val="2E8B57"/>
                </a:solidFill>
                <a:latin typeface="Arial"/>
              </a:rPr>
              <a:t>DONE</a:t>
            </a:r>
          </a:p>
        </p:txBody>
      </p:sp>
      <p:sp>
        <p:nvSpPr>
          <p:cNvPr id="38" name="TextBox 37"/>
          <p:cNvSpPr txBox="1"/>
          <p:nvPr/>
        </p:nvSpPr>
        <p:spPr>
          <a:xfrm>
            <a:off x="594360" y="4023360"/>
            <a:ext cx="2670048" cy="402336"/>
          </a:xfrm>
          <a:prstGeom prst="rect">
            <a:avLst/>
          </a:prstGeom>
          <a:noFill/>
        </p:spPr>
        <p:txBody>
          <a:bodyPr wrap="square" anchor="ctr" lIns="54864" rIns="54864" tIns="54864" bIns="54864">
            <a:normAutofit/>
          </a:bodyPr>
          <a:lstStyle/>
          <a:p>
            <a:pPr algn="l"/>
            <a:r>
              <a:rPr sz="1220" b="0">
                <a:solidFill>
                  <a:srgbClr val="2B3744"/>
                </a:solidFill>
                <a:latin typeface="Arial"/>
              </a:rPr>
              <a:t>Dashboard and simulator integration</a:t>
            </a:r>
          </a:p>
        </p:txBody>
      </p:sp>
      <p:sp>
        <p:nvSpPr>
          <p:cNvPr id="39" name="Rectangle 38"/>
          <p:cNvSpPr/>
          <p:nvPr/>
        </p:nvSpPr>
        <p:spPr>
          <a:xfrm>
            <a:off x="3429000" y="4096512"/>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727448" y="4096512"/>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025896" y="4096512"/>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324344" y="4096512"/>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622792" y="4096512"/>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9921240" y="4096512"/>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7324344" y="4096512"/>
            <a:ext cx="1152144" cy="246888"/>
          </a:xfrm>
          <a:prstGeom prst="round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1082528" y="4023360"/>
            <a:ext cx="1051560" cy="402336"/>
          </a:xfrm>
          <a:prstGeom prst="rect">
            <a:avLst/>
          </a:prstGeom>
          <a:noFill/>
        </p:spPr>
        <p:txBody>
          <a:bodyPr wrap="square" anchor="ctr" lIns="54864" rIns="54864" tIns="54864" bIns="54864">
            <a:normAutofit/>
          </a:bodyPr>
          <a:lstStyle/>
          <a:p>
            <a:pPr algn="ctr"/>
            <a:r>
              <a:rPr sz="980" b="1">
                <a:solidFill>
                  <a:srgbClr val="2E8B57"/>
                </a:solidFill>
                <a:latin typeface="Arial"/>
              </a:rPr>
              <a:t>DONE</a:t>
            </a:r>
          </a:p>
        </p:txBody>
      </p:sp>
      <p:sp>
        <p:nvSpPr>
          <p:cNvPr id="47" name="TextBox 46"/>
          <p:cNvSpPr txBox="1"/>
          <p:nvPr/>
        </p:nvSpPr>
        <p:spPr>
          <a:xfrm>
            <a:off x="594360" y="4544568"/>
            <a:ext cx="2670048" cy="402336"/>
          </a:xfrm>
          <a:prstGeom prst="rect">
            <a:avLst/>
          </a:prstGeom>
          <a:noFill/>
        </p:spPr>
        <p:txBody>
          <a:bodyPr wrap="square" anchor="ctr" lIns="54864" rIns="54864" tIns="54864" bIns="54864">
            <a:normAutofit/>
          </a:bodyPr>
          <a:lstStyle/>
          <a:p>
            <a:pPr algn="l"/>
            <a:r>
              <a:rPr sz="1220" b="0">
                <a:solidFill>
                  <a:srgbClr val="2B3744"/>
                </a:solidFill>
                <a:latin typeface="Arial"/>
              </a:rPr>
              <a:t>Review, presentation and documentation</a:t>
            </a:r>
          </a:p>
        </p:txBody>
      </p:sp>
      <p:sp>
        <p:nvSpPr>
          <p:cNvPr id="48" name="Rectangle 47"/>
          <p:cNvSpPr/>
          <p:nvPr/>
        </p:nvSpPr>
        <p:spPr>
          <a:xfrm>
            <a:off x="3429000" y="4617720"/>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4727448" y="4617720"/>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6025896" y="4617720"/>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7324344" y="4617720"/>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8622792" y="4617720"/>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9921240" y="4617720"/>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8622792" y="4617720"/>
            <a:ext cx="1152144" cy="246888"/>
          </a:xfrm>
          <a:prstGeom prst="roundRect">
            <a:avLst/>
          </a:prstGeom>
          <a:solidFill>
            <a:srgbClr val="D69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1082528" y="4544568"/>
            <a:ext cx="1051560" cy="402336"/>
          </a:xfrm>
          <a:prstGeom prst="rect">
            <a:avLst/>
          </a:prstGeom>
          <a:noFill/>
        </p:spPr>
        <p:txBody>
          <a:bodyPr wrap="square" anchor="ctr" lIns="54864" rIns="54864" tIns="54864" bIns="54864">
            <a:normAutofit/>
          </a:bodyPr>
          <a:lstStyle/>
          <a:p>
            <a:pPr algn="ctr"/>
            <a:r>
              <a:rPr sz="980" b="1">
                <a:solidFill>
                  <a:srgbClr val="D69120"/>
                </a:solidFill>
                <a:latin typeface="Arial"/>
              </a:rPr>
              <a:t>CURRENT</a:t>
            </a:r>
          </a:p>
        </p:txBody>
      </p:sp>
      <p:sp>
        <p:nvSpPr>
          <p:cNvPr id="56" name="TextBox 55"/>
          <p:cNvSpPr txBox="1"/>
          <p:nvPr/>
        </p:nvSpPr>
        <p:spPr>
          <a:xfrm>
            <a:off x="594360" y="5065775"/>
            <a:ext cx="2670048" cy="402336"/>
          </a:xfrm>
          <a:prstGeom prst="rect">
            <a:avLst/>
          </a:prstGeom>
          <a:noFill/>
        </p:spPr>
        <p:txBody>
          <a:bodyPr wrap="square" anchor="ctr" lIns="54864" rIns="54864" tIns="54864" bIns="54864">
            <a:normAutofit/>
          </a:bodyPr>
          <a:lstStyle/>
          <a:p>
            <a:pPr algn="l"/>
            <a:r>
              <a:rPr sz="1220" b="0">
                <a:solidFill>
                  <a:srgbClr val="2B3744"/>
                </a:solidFill>
                <a:latin typeface="Arial"/>
              </a:rPr>
              <a:t>Independent validation / deployment study</a:t>
            </a:r>
          </a:p>
        </p:txBody>
      </p:sp>
      <p:sp>
        <p:nvSpPr>
          <p:cNvPr id="57" name="Rectangle 56"/>
          <p:cNvSpPr/>
          <p:nvPr/>
        </p:nvSpPr>
        <p:spPr>
          <a:xfrm>
            <a:off x="3429000" y="5138927"/>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4727448" y="5138927"/>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6025896" y="5138927"/>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7324344" y="5138927"/>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8622792" y="5138927"/>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9921240" y="5138927"/>
            <a:ext cx="1152144" cy="246888"/>
          </a:xfrm>
          <a:prstGeom prst="rect">
            <a:avLst/>
          </a:prstGeom>
          <a:solidFill>
            <a:srgbClr val="EFF6FA"/>
          </a:solidFill>
          <a:ln w="635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9921240" y="5138927"/>
            <a:ext cx="1152144" cy="246888"/>
          </a:xfrm>
          <a:prstGeom prst="roundRect">
            <a:avLst/>
          </a:prstGeom>
          <a:solidFill>
            <a:srgbClr val="1282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1082528" y="5065775"/>
            <a:ext cx="1051560" cy="402336"/>
          </a:xfrm>
          <a:prstGeom prst="rect">
            <a:avLst/>
          </a:prstGeom>
          <a:noFill/>
        </p:spPr>
        <p:txBody>
          <a:bodyPr wrap="square" anchor="ctr" lIns="54864" rIns="54864" tIns="54864" bIns="54864">
            <a:normAutofit/>
          </a:bodyPr>
          <a:lstStyle/>
          <a:p>
            <a:pPr algn="ctr"/>
            <a:r>
              <a:rPr sz="980" b="1">
                <a:solidFill>
                  <a:srgbClr val="1282BE"/>
                </a:solidFill>
                <a:latin typeface="Arial"/>
              </a:rPr>
              <a:t>NEXT</a:t>
            </a:r>
          </a:p>
        </p:txBody>
      </p:sp>
      <p:sp>
        <p:nvSpPr>
          <p:cNvPr id="65" name="TextBox 64"/>
          <p:cNvSpPr txBox="1"/>
          <p:nvPr/>
        </p:nvSpPr>
        <p:spPr>
          <a:xfrm>
            <a:off x="914400" y="6062472"/>
            <a:ext cx="10881360" cy="384048"/>
          </a:xfrm>
          <a:prstGeom prst="rect">
            <a:avLst/>
          </a:prstGeom>
          <a:noFill/>
        </p:spPr>
        <p:txBody>
          <a:bodyPr wrap="square" anchor="ctr" lIns="54864" rIns="54864" tIns="54864" bIns="54864">
            <a:normAutofit/>
          </a:bodyPr>
          <a:lstStyle/>
          <a:p>
            <a:pPr algn="ctr"/>
            <a:r>
              <a:rPr sz="1310" b="1">
                <a:solidFill>
                  <a:srgbClr val="19324D"/>
                </a:solidFill>
                <a:latin typeface="Arial"/>
              </a:rPr>
              <a:t>Next milestone: independent time-based validation, threshold review for a defined use case, and clean-environment walkthrough.</a:t>
            </a:r>
          </a:p>
        </p:txBody>
      </p:sp>
    </p:spTree>
    <p:extLst>
      <p:ext uri="{BB962C8B-B14F-4D97-AF65-F5344CB8AC3E}">
        <p14:creationId xmlns:p14="http://schemas.microsoft.com/office/powerpoint/2010/main" val="31872962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2819401"/>
            <a:ext cx="11521440" cy="1219200"/>
          </a:xfrm>
        </p:spPr>
        <p:txBody>
          <a:bodyPr wrap="square" anchor="ctr" tIns="91440" bIns="91440">
            <a:normAutofit/>
          </a:bodyPr>
          <a:lstStyle/>
          <a:p>
            <a:pPr algn="ctr"/>
            <a:r>
              <a:rPr sz="3800" b="1">
                <a:solidFill>
                  <a:srgbClr val="19324D"/>
                </a:solidFill>
                <a:latin typeface="Arial"/>
              </a:rPr>
              <a:t>Thank You</a:t>
            </a:r>
          </a:p>
        </p:txBody>
      </p:sp>
      <p:sp>
        <p:nvSpPr>
          <p:cNvPr id="3" name="Slide Number Placeholder 2"/>
          <p:cNvSpPr>
            <a:spLocks noGrp="1"/>
          </p:cNvSpPr>
          <p:nvPr>
            <p:ph type="sldNum" sz="quarter" idx="12"/>
          </p:nvPr>
        </p:nvSpPr>
        <p:spPr/>
        <p:txBody>
          <a:bodyPr/>
          <a:lstStyle/>
          <a:p>
            <a:fld id="{C02A2637-A5A3-49FA-B214-6E67543099EF}" type="slidenum">
              <a:rPr lang="en-US" smtClean="0"/>
              <a:t>16</a:t>
            </a:fld>
            <a:endParaRPr lang="en-US"/>
          </a:p>
        </p:txBody>
      </p:sp>
      <p:sp>
        <p:nvSpPr>
          <p:cNvPr id="4" name="TextBox 3"/>
          <p:cNvSpPr txBox="1"/>
          <p:nvPr/>
        </p:nvSpPr>
        <p:spPr>
          <a:xfrm>
            <a:off x="1463040" y="4160520"/>
            <a:ext cx="9875520" cy="658368"/>
          </a:xfrm>
          <a:prstGeom prst="rect">
            <a:avLst/>
          </a:prstGeom>
          <a:noFill/>
        </p:spPr>
        <p:txBody>
          <a:bodyPr wrap="square" anchor="ctr" lIns="54864" rIns="54864" tIns="54864" bIns="54864">
            <a:normAutofit/>
          </a:bodyPr>
          <a:lstStyle/>
          <a:p>
            <a:pPr algn="ctr"/>
            <a:r>
              <a:rPr sz="1800" b="0">
                <a:solidFill>
                  <a:srgbClr val="2B3744"/>
                </a:solidFill>
                <a:latin typeface="Arial"/>
              </a:rPr>
              <a:t>QUESTIONS &amp; DISCUSSION
Nexus Fraud Defense  |  Shambhu Pandey  |  25MCA1020</a:t>
            </a:r>
          </a:p>
        </p:txBody>
      </p:sp>
    </p:spTree>
    <p:extLst>
      <p:ext uri="{BB962C8B-B14F-4D97-AF65-F5344CB8AC3E}">
        <p14:creationId xmlns:p14="http://schemas.microsoft.com/office/powerpoint/2010/main" val="2750398038"/>
      </p:ext>
    </p:extLst>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438912"/>
            <a:ext cx="11064240" cy="566928"/>
          </a:xfrm>
          <a:prstGeom prst="rect">
            <a:avLst/>
          </a:prstGeom>
          <a:noFill/>
        </p:spPr>
        <p:txBody>
          <a:bodyPr wrap="square" anchor="ctr" lIns="36576" rIns="36576" tIns="36576" bIns="36576">
            <a:normAutofit/>
          </a:bodyPr>
          <a:lstStyle/>
          <a:p>
            <a:pPr algn="l"/>
            <a:r>
              <a:rPr sz="2400" b="1">
                <a:solidFill>
                  <a:srgbClr val="19324D"/>
                </a:solidFill>
                <a:latin typeface="Arial"/>
              </a:rPr>
              <a:t>3. LITERATURE SURVEY (CONTINUED)</a:t>
            </a:r>
          </a:p>
        </p:txBody>
      </p:sp>
      <p:sp>
        <p:nvSpPr>
          <p:cNvPr id="3" name="Rectangle 2"/>
          <p:cNvSpPr/>
          <p:nvPr/>
        </p:nvSpPr>
        <p:spPr>
          <a:xfrm>
            <a:off x="566928" y="1069848"/>
            <a:ext cx="11064240" cy="41148"/>
          </a:xfrm>
          <a:prstGeom prst="rect">
            <a:avLst/>
          </a:prstGeom>
          <a:solidFill>
            <a:srgbClr val="22AA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40080" y="1353312"/>
            <a:ext cx="10927080" cy="1353312"/>
          </a:xfrm>
          <a:prstGeom prst="roundRect">
            <a:avLst/>
          </a:prstGeom>
          <a:solidFill>
            <a:srgbClr val="EFF6FA"/>
          </a:solidFill>
          <a:ln w="1270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1353312"/>
            <a:ext cx="82296" cy="1353312"/>
          </a:xfrm>
          <a:prstGeom prst="rect">
            <a:avLst/>
          </a:prstGeom>
          <a:solidFill>
            <a:srgbClr val="1282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1" y="1426464"/>
            <a:ext cx="10661904" cy="310896"/>
          </a:xfrm>
          <a:prstGeom prst="rect">
            <a:avLst/>
          </a:prstGeom>
          <a:noFill/>
        </p:spPr>
        <p:txBody>
          <a:bodyPr wrap="square" anchor="ctr" lIns="9144" rIns="9144" tIns="9144" bIns="9144">
            <a:normAutofit/>
          </a:bodyPr>
          <a:lstStyle/>
          <a:p>
            <a:pPr algn="l"/>
            <a:r>
              <a:rPr sz="1500" b="1">
                <a:solidFill>
                  <a:srgbClr val="1282BE"/>
                </a:solidFill>
                <a:latin typeface="Arial"/>
              </a:rPr>
              <a:t>SMOTE [8]</a:t>
            </a:r>
          </a:p>
        </p:txBody>
      </p:sp>
      <p:sp>
        <p:nvSpPr>
          <p:cNvPr id="7" name="TextBox 6"/>
          <p:cNvSpPr txBox="1"/>
          <p:nvPr/>
        </p:nvSpPr>
        <p:spPr>
          <a:xfrm>
            <a:off x="804671" y="1783080"/>
            <a:ext cx="10652759" cy="868680"/>
          </a:xfrm>
          <a:prstGeom prst="rect">
            <a:avLst/>
          </a:prstGeom>
          <a:noFill/>
        </p:spPr>
        <p:txBody>
          <a:bodyPr wrap="square" anchor="t" lIns="9144" rIns="9144" tIns="9144" bIns="9144">
            <a:normAutofit/>
          </a:bodyPr>
          <a:lstStyle/>
          <a:p>
            <a:pPr algn="l"/>
            <a:r>
              <a:rPr sz="1220" b="0">
                <a:solidFill>
                  <a:srgbClr val="2B3744"/>
                </a:solidFill>
                <a:latin typeface="Arial"/>
              </a:rPr>
              <a:t>Chawla et al. (2002)
Finding: Introduced synthetic minority oversampling to improve learning from imbalanced classes.
Limitation: Resampling must be applied only within training folds; synthetic examples do not replace real fraud observations.</a:t>
            </a:r>
          </a:p>
        </p:txBody>
      </p:sp>
      <p:sp>
        <p:nvSpPr>
          <p:cNvPr id="8" name="Rounded Rectangle 7"/>
          <p:cNvSpPr/>
          <p:nvPr/>
        </p:nvSpPr>
        <p:spPr>
          <a:xfrm>
            <a:off x="640080" y="2926080"/>
            <a:ext cx="10927080" cy="1353312"/>
          </a:xfrm>
          <a:prstGeom prst="roundRect">
            <a:avLst/>
          </a:prstGeom>
          <a:solidFill>
            <a:srgbClr val="FFFFFF"/>
          </a:solidFill>
          <a:ln w="1270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2926080"/>
            <a:ext cx="82296" cy="1353312"/>
          </a:xfrm>
          <a:prstGeom prst="rect">
            <a:avLst/>
          </a:prstGeom>
          <a:solidFill>
            <a:srgbClr val="248F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1" y="2999232"/>
            <a:ext cx="10661904" cy="310896"/>
          </a:xfrm>
          <a:prstGeom prst="rect">
            <a:avLst/>
          </a:prstGeom>
          <a:noFill/>
        </p:spPr>
        <p:txBody>
          <a:bodyPr wrap="square" anchor="ctr" lIns="9144" rIns="9144" tIns="9144" bIns="9144">
            <a:normAutofit/>
          </a:bodyPr>
          <a:lstStyle/>
          <a:p>
            <a:pPr algn="l"/>
            <a:r>
              <a:rPr sz="1500" b="1">
                <a:solidFill>
                  <a:srgbClr val="248F84"/>
                </a:solidFill>
                <a:latin typeface="Arial"/>
              </a:rPr>
              <a:t>LIME [6]</a:t>
            </a:r>
          </a:p>
        </p:txBody>
      </p:sp>
      <p:sp>
        <p:nvSpPr>
          <p:cNvPr id="11" name="TextBox 10"/>
          <p:cNvSpPr txBox="1"/>
          <p:nvPr/>
        </p:nvSpPr>
        <p:spPr>
          <a:xfrm>
            <a:off x="804671" y="3355848"/>
            <a:ext cx="10652759" cy="868680"/>
          </a:xfrm>
          <a:prstGeom prst="rect">
            <a:avLst/>
          </a:prstGeom>
          <a:noFill/>
        </p:spPr>
        <p:txBody>
          <a:bodyPr wrap="square" anchor="t" lIns="9144" rIns="9144" tIns="9144" bIns="9144">
            <a:normAutofit/>
          </a:bodyPr>
          <a:lstStyle/>
          <a:p>
            <a:pPr algn="l"/>
            <a:r>
              <a:rPr sz="1220" b="0">
                <a:solidFill>
                  <a:srgbClr val="2B3744"/>
                </a:solidFill>
                <a:latin typeface="Arial"/>
              </a:rPr>
              <a:t>Ribeiro, Singh &amp; Guestrin (2016)
Finding: Explains an individual model prediction by fitting an interpretable approximation around that case.
Limitation: Explanations are local approximations and can vary with perturbations and settings.</a:t>
            </a:r>
          </a:p>
        </p:txBody>
      </p:sp>
      <p:sp>
        <p:nvSpPr>
          <p:cNvPr id="12" name="Rounded Rectangle 11"/>
          <p:cNvSpPr/>
          <p:nvPr/>
        </p:nvSpPr>
        <p:spPr>
          <a:xfrm>
            <a:off x="640080" y="4498848"/>
            <a:ext cx="10927080" cy="1353312"/>
          </a:xfrm>
          <a:prstGeom prst="roundRect">
            <a:avLst/>
          </a:prstGeom>
          <a:solidFill>
            <a:srgbClr val="EFF6FA"/>
          </a:solidFill>
          <a:ln w="1270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4498848"/>
            <a:ext cx="82296" cy="1353312"/>
          </a:xfrm>
          <a:prstGeom prst="rect">
            <a:avLst/>
          </a:prstGeom>
          <a:solidFill>
            <a:srgbClr val="D69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1" y="4572000"/>
            <a:ext cx="10661904" cy="310896"/>
          </a:xfrm>
          <a:prstGeom prst="rect">
            <a:avLst/>
          </a:prstGeom>
          <a:noFill/>
        </p:spPr>
        <p:txBody>
          <a:bodyPr wrap="square" anchor="ctr" lIns="9144" rIns="9144" tIns="9144" bIns="9144">
            <a:normAutofit/>
          </a:bodyPr>
          <a:lstStyle/>
          <a:p>
            <a:pPr algn="l"/>
            <a:r>
              <a:rPr sz="1500" b="1">
                <a:solidFill>
                  <a:srgbClr val="D69120"/>
                </a:solidFill>
                <a:latin typeface="Arial"/>
              </a:rPr>
              <a:t>SHAP [7]</a:t>
            </a:r>
          </a:p>
        </p:txBody>
      </p:sp>
      <p:sp>
        <p:nvSpPr>
          <p:cNvPr id="15" name="TextBox 14"/>
          <p:cNvSpPr txBox="1"/>
          <p:nvPr/>
        </p:nvSpPr>
        <p:spPr>
          <a:xfrm>
            <a:off x="804671" y="4928616"/>
            <a:ext cx="10652759" cy="868680"/>
          </a:xfrm>
          <a:prstGeom prst="rect">
            <a:avLst/>
          </a:prstGeom>
          <a:noFill/>
        </p:spPr>
        <p:txBody>
          <a:bodyPr wrap="square" anchor="t" lIns="9144" rIns="9144" tIns="9144" bIns="9144">
            <a:normAutofit/>
          </a:bodyPr>
          <a:lstStyle/>
          <a:p>
            <a:pPr algn="l"/>
            <a:r>
              <a:rPr sz="1220" b="0">
                <a:solidFill>
                  <a:srgbClr val="2B3744"/>
                </a:solidFill>
                <a:latin typeface="Arial"/>
              </a:rPr>
              <a:t>Lundberg &amp; Lee (2017)
Finding: Unifies additive feature-attribution methods using Shapley-value properties.
Limitation: Attributions describe model behavior; they do not establish causality or guarantee fast inference.</a:t>
            </a:r>
          </a:p>
        </p:txBody>
      </p:sp>
      <p:sp>
        <p:nvSpPr>
          <p:cNvPr id="16" name="TextBox 15"/>
          <p:cNvSpPr txBox="1"/>
          <p:nvPr/>
        </p:nvSpPr>
        <p:spPr>
          <a:xfrm>
            <a:off x="566928" y="6446520"/>
            <a:ext cx="11612880" cy="256032"/>
          </a:xfrm>
          <a:prstGeom prst="rect">
            <a:avLst/>
          </a:prstGeom>
          <a:noFill/>
        </p:spPr>
        <p:txBody>
          <a:bodyPr wrap="square" anchor="ctr" lIns="9144" rIns="9144" tIns="9144" bIns="9144">
            <a:normAutofit/>
          </a:bodyPr>
          <a:lstStyle/>
          <a:p>
            <a:pPr algn="l"/>
            <a:r>
              <a:rPr sz="740" b="0">
                <a:solidFill>
                  <a:srgbClr val="63707E"/>
                </a:solidFill>
                <a:latin typeface="Arial"/>
              </a:rPr>
              <a:t>Survey notes are concise summaries of the cited papers; study results are not project results.</a:t>
            </a:r>
          </a:p>
        </p:txBody>
      </p:sp>
      <p:sp>
        <p:nvSpPr>
          <p:cNvPr id="17" name="TextBox 16"/>
          <p:cNvSpPr txBox="1"/>
          <p:nvPr/>
        </p:nvSpPr>
        <p:spPr>
          <a:xfrm>
            <a:off x="11384280" y="6419088"/>
            <a:ext cx="365760" cy="201168"/>
          </a:xfrm>
          <a:prstGeom prst="rect">
            <a:avLst/>
          </a:prstGeom>
          <a:noFill/>
        </p:spPr>
        <p:txBody>
          <a:bodyPr wrap="square" anchor="ctr" lIns="9144" rIns="9144" tIns="9144" bIns="9144">
            <a:normAutofit/>
          </a:bodyPr>
          <a:lstStyle/>
          <a:p>
            <a:pPr algn="r"/>
            <a:r>
              <a:rPr sz="900" b="0">
                <a:solidFill>
                  <a:srgbClr val="63707E"/>
                </a:solidFill>
                <a:latin typeface="Arial"/>
              </a:rPr>
              <a:t>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438912"/>
            <a:ext cx="11064240" cy="566928"/>
          </a:xfrm>
          <a:prstGeom prst="rect">
            <a:avLst/>
          </a:prstGeom>
          <a:noFill/>
        </p:spPr>
        <p:txBody>
          <a:bodyPr wrap="square" anchor="ctr" lIns="36576" rIns="36576" tIns="36576" bIns="36576">
            <a:normAutofit/>
          </a:bodyPr>
          <a:lstStyle/>
          <a:p>
            <a:pPr algn="l"/>
            <a:r>
              <a:rPr sz="2400" b="1">
                <a:solidFill>
                  <a:srgbClr val="19324D"/>
                </a:solidFill>
                <a:latin typeface="Arial"/>
              </a:rPr>
              <a:t>3. LITERATURE SURVEY (CONTINUED)</a:t>
            </a:r>
          </a:p>
        </p:txBody>
      </p:sp>
      <p:sp>
        <p:nvSpPr>
          <p:cNvPr id="3" name="Rectangle 2"/>
          <p:cNvSpPr/>
          <p:nvPr/>
        </p:nvSpPr>
        <p:spPr>
          <a:xfrm>
            <a:off x="566928" y="1069848"/>
            <a:ext cx="11064240" cy="41148"/>
          </a:xfrm>
          <a:prstGeom prst="rect">
            <a:avLst/>
          </a:prstGeom>
          <a:solidFill>
            <a:srgbClr val="22AA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40080" y="1444752"/>
            <a:ext cx="5285232" cy="2029968"/>
          </a:xfrm>
          <a:prstGeom prst="roundRect">
            <a:avLst/>
          </a:prstGeom>
          <a:solidFill>
            <a:srgbClr val="EFF6FA"/>
          </a:solidFill>
          <a:ln w="1270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1444752"/>
            <a:ext cx="82296" cy="2029968"/>
          </a:xfrm>
          <a:prstGeom prst="rect">
            <a:avLst/>
          </a:prstGeom>
          <a:solidFill>
            <a:srgbClr val="1282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1" y="1517904"/>
            <a:ext cx="5020056" cy="310896"/>
          </a:xfrm>
          <a:prstGeom prst="rect">
            <a:avLst/>
          </a:prstGeom>
          <a:noFill/>
        </p:spPr>
        <p:txBody>
          <a:bodyPr wrap="square" anchor="ctr" lIns="9144" rIns="9144" tIns="9144" bIns="9144">
            <a:normAutofit/>
          </a:bodyPr>
          <a:lstStyle/>
          <a:p>
            <a:pPr algn="l"/>
            <a:r>
              <a:rPr sz="1420" b="1">
                <a:solidFill>
                  <a:srgbClr val="1282BE"/>
                </a:solidFill>
                <a:latin typeface="Arial"/>
              </a:rPr>
              <a:t>Realistic fraud modeling [9]</a:t>
            </a:r>
          </a:p>
        </p:txBody>
      </p:sp>
      <p:sp>
        <p:nvSpPr>
          <p:cNvPr id="7" name="TextBox 6"/>
          <p:cNvSpPr txBox="1"/>
          <p:nvPr/>
        </p:nvSpPr>
        <p:spPr>
          <a:xfrm>
            <a:off x="804671" y="1874519"/>
            <a:ext cx="5010912" cy="1545336"/>
          </a:xfrm>
          <a:prstGeom prst="rect">
            <a:avLst/>
          </a:prstGeom>
          <a:noFill/>
        </p:spPr>
        <p:txBody>
          <a:bodyPr wrap="square" anchor="t" lIns="9144" rIns="9144" tIns="9144" bIns="9144">
            <a:normAutofit/>
          </a:bodyPr>
          <a:lstStyle/>
          <a:p>
            <a:pPr algn="l"/>
            <a:r>
              <a:rPr sz="1200" b="0">
                <a:solidFill>
                  <a:srgbClr val="2B3744"/>
                </a:solidFill>
                <a:latin typeface="Arial"/>
              </a:rPr>
              <a:t>Dal Pozzolo et al. (2018)
Finding: Studies realistic modeling and learning strategies for credit-card fraud under class imbalance.
Limitation: Findings depend on the transaction stream and validation protocol; transfer to other domains must be tested.</a:t>
            </a:r>
          </a:p>
        </p:txBody>
      </p:sp>
      <p:sp>
        <p:nvSpPr>
          <p:cNvPr id="8" name="Rounded Rectangle 7"/>
          <p:cNvSpPr/>
          <p:nvPr/>
        </p:nvSpPr>
        <p:spPr>
          <a:xfrm>
            <a:off x="6199632" y="1444752"/>
            <a:ext cx="5285232" cy="2029968"/>
          </a:xfrm>
          <a:prstGeom prst="roundRect">
            <a:avLst/>
          </a:prstGeom>
          <a:solidFill>
            <a:srgbClr val="FFFFFF"/>
          </a:solidFill>
          <a:ln w="1270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99632" y="1444752"/>
            <a:ext cx="82296" cy="2029968"/>
          </a:xfrm>
          <a:prstGeom prst="rect">
            <a:avLst/>
          </a:prstGeom>
          <a:solidFill>
            <a:srgbClr val="248F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64224" y="1517904"/>
            <a:ext cx="5020056" cy="310896"/>
          </a:xfrm>
          <a:prstGeom prst="rect">
            <a:avLst/>
          </a:prstGeom>
          <a:noFill/>
        </p:spPr>
        <p:txBody>
          <a:bodyPr wrap="square" anchor="ctr" lIns="9144" rIns="9144" tIns="9144" bIns="9144">
            <a:normAutofit/>
          </a:bodyPr>
          <a:lstStyle/>
          <a:p>
            <a:pPr algn="l"/>
            <a:r>
              <a:rPr sz="1420" b="1">
                <a:solidFill>
                  <a:srgbClr val="248F84"/>
                </a:solidFill>
                <a:latin typeface="Arial"/>
              </a:rPr>
              <a:t>SCARFF [10]</a:t>
            </a:r>
          </a:p>
        </p:txBody>
      </p:sp>
      <p:sp>
        <p:nvSpPr>
          <p:cNvPr id="11" name="TextBox 10"/>
          <p:cNvSpPr txBox="1"/>
          <p:nvPr/>
        </p:nvSpPr>
        <p:spPr>
          <a:xfrm>
            <a:off x="6364224" y="1874519"/>
            <a:ext cx="5010912" cy="1545336"/>
          </a:xfrm>
          <a:prstGeom prst="rect">
            <a:avLst/>
          </a:prstGeom>
          <a:noFill/>
        </p:spPr>
        <p:txBody>
          <a:bodyPr wrap="square" anchor="t" lIns="9144" rIns="9144" tIns="9144" bIns="9144">
            <a:normAutofit/>
          </a:bodyPr>
          <a:lstStyle/>
          <a:p>
            <a:pPr algn="l"/>
            <a:r>
              <a:rPr sz="1200" b="0">
                <a:solidFill>
                  <a:srgbClr val="2B3744"/>
                </a:solidFill>
                <a:latin typeface="Arial"/>
              </a:rPr>
              <a:t>Carcillo et al. (2018)
Finding: Combines streaming infrastructure and machine learning for scalable near-real-time card fraud detection.
Limitation: A production streaming architecture is beyond this local dashboard prototype.</a:t>
            </a:r>
          </a:p>
        </p:txBody>
      </p:sp>
      <p:sp>
        <p:nvSpPr>
          <p:cNvPr id="12" name="Rounded Rectangle 11"/>
          <p:cNvSpPr/>
          <p:nvPr/>
        </p:nvSpPr>
        <p:spPr>
          <a:xfrm>
            <a:off x="640080" y="3776472"/>
            <a:ext cx="5285232" cy="2029968"/>
          </a:xfrm>
          <a:prstGeom prst="roundRect">
            <a:avLst/>
          </a:prstGeom>
          <a:solidFill>
            <a:srgbClr val="EFF6FA"/>
          </a:solidFill>
          <a:ln w="1270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3776472"/>
            <a:ext cx="82296" cy="2029968"/>
          </a:xfrm>
          <a:prstGeom prst="rect">
            <a:avLst/>
          </a:prstGeom>
          <a:solidFill>
            <a:srgbClr val="D69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1" y="3849624"/>
            <a:ext cx="5020056" cy="310896"/>
          </a:xfrm>
          <a:prstGeom prst="rect">
            <a:avLst/>
          </a:prstGeom>
          <a:noFill/>
        </p:spPr>
        <p:txBody>
          <a:bodyPr wrap="square" anchor="ctr" lIns="9144" rIns="9144" tIns="9144" bIns="9144">
            <a:normAutofit/>
          </a:bodyPr>
          <a:lstStyle/>
          <a:p>
            <a:pPr algn="l"/>
            <a:r>
              <a:rPr sz="1420" b="1">
                <a:solidFill>
                  <a:srgbClr val="D69120"/>
                </a:solidFill>
                <a:latin typeface="Arial"/>
              </a:rPr>
              <a:t>Sequence classification [11]</a:t>
            </a:r>
          </a:p>
        </p:txBody>
      </p:sp>
      <p:sp>
        <p:nvSpPr>
          <p:cNvPr id="15" name="TextBox 14"/>
          <p:cNvSpPr txBox="1"/>
          <p:nvPr/>
        </p:nvSpPr>
        <p:spPr>
          <a:xfrm>
            <a:off x="804671" y="4206240"/>
            <a:ext cx="5010912" cy="1545336"/>
          </a:xfrm>
          <a:prstGeom prst="rect">
            <a:avLst/>
          </a:prstGeom>
          <a:noFill/>
        </p:spPr>
        <p:txBody>
          <a:bodyPr wrap="square" anchor="t" lIns="9144" rIns="9144" tIns="9144" bIns="9144">
            <a:normAutofit/>
          </a:bodyPr>
          <a:lstStyle/>
          <a:p>
            <a:pPr algn="l"/>
            <a:r>
              <a:rPr sz="1200" b="0">
                <a:solidFill>
                  <a:srgbClr val="2B3744"/>
                </a:solidFill>
                <a:latin typeface="Arial"/>
              </a:rPr>
              <a:t>Jurgovsky et al. (2018)
Finding: Shows why transaction order and aggregated behavioral features can matter for card-fraud detection.
Limitation: Sequence methods require ordered customer histories; this project evaluates tabular benchmark pipelines.</a:t>
            </a:r>
          </a:p>
        </p:txBody>
      </p:sp>
      <p:sp>
        <p:nvSpPr>
          <p:cNvPr id="16" name="Rounded Rectangle 15"/>
          <p:cNvSpPr/>
          <p:nvPr/>
        </p:nvSpPr>
        <p:spPr>
          <a:xfrm>
            <a:off x="6199632" y="3776472"/>
            <a:ext cx="5285232" cy="2029968"/>
          </a:xfrm>
          <a:prstGeom prst="roundRect">
            <a:avLst/>
          </a:prstGeom>
          <a:solidFill>
            <a:srgbClr val="FFFFFF"/>
          </a:solidFill>
          <a:ln w="12700">
            <a:solidFill>
              <a:srgbClr val="CF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9632" y="3776472"/>
            <a:ext cx="82296" cy="2029968"/>
          </a:xfrm>
          <a:prstGeom prst="rect">
            <a:avLst/>
          </a:prstGeom>
          <a:solidFill>
            <a:srgbClr val="22AA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4224" y="3849624"/>
            <a:ext cx="5020056" cy="310896"/>
          </a:xfrm>
          <a:prstGeom prst="rect">
            <a:avLst/>
          </a:prstGeom>
          <a:noFill/>
        </p:spPr>
        <p:txBody>
          <a:bodyPr wrap="square" anchor="ctr" lIns="9144" rIns="9144" tIns="9144" bIns="9144">
            <a:normAutofit/>
          </a:bodyPr>
          <a:lstStyle/>
          <a:p>
            <a:pPr algn="l"/>
            <a:r>
              <a:rPr sz="1420" b="1">
                <a:solidFill>
                  <a:srgbClr val="22AAD2"/>
                </a:solidFill>
                <a:latin typeface="Arial"/>
              </a:rPr>
              <a:t>Digital twin security survey [12]</a:t>
            </a:r>
          </a:p>
        </p:txBody>
      </p:sp>
      <p:sp>
        <p:nvSpPr>
          <p:cNvPr id="19" name="TextBox 18"/>
          <p:cNvSpPr txBox="1"/>
          <p:nvPr/>
        </p:nvSpPr>
        <p:spPr>
          <a:xfrm>
            <a:off x="6364224" y="4206240"/>
            <a:ext cx="5010912" cy="1545336"/>
          </a:xfrm>
          <a:prstGeom prst="rect">
            <a:avLst/>
          </a:prstGeom>
          <a:noFill/>
        </p:spPr>
        <p:txBody>
          <a:bodyPr wrap="square" anchor="t" lIns="9144" rIns="9144" tIns="9144" bIns="9144">
            <a:normAutofit/>
          </a:bodyPr>
          <a:lstStyle/>
          <a:p>
            <a:pPr algn="l"/>
            <a:r>
              <a:rPr sz="1200" b="0">
                <a:solidFill>
                  <a:srgbClr val="2B3744"/>
                </a:solidFill>
                <a:latin typeface="Arial"/>
              </a:rPr>
              <a:t>Jeremiah et al. (2024)
Finding: Reviews digital-twin architectures, applications, security challenges, and open research directions.
Limitation: A cross-domain survey; it does not validate a digital twin for financial fraud.</a:t>
            </a:r>
          </a:p>
        </p:txBody>
      </p:sp>
      <p:sp>
        <p:nvSpPr>
          <p:cNvPr id="20" name="TextBox 19"/>
          <p:cNvSpPr txBox="1"/>
          <p:nvPr/>
        </p:nvSpPr>
        <p:spPr>
          <a:xfrm>
            <a:off x="566928" y="6446520"/>
            <a:ext cx="11612880" cy="256032"/>
          </a:xfrm>
          <a:prstGeom prst="rect">
            <a:avLst/>
          </a:prstGeom>
          <a:noFill/>
        </p:spPr>
        <p:txBody>
          <a:bodyPr wrap="square" anchor="ctr" lIns="9144" rIns="9144" tIns="9144" bIns="9144">
            <a:normAutofit/>
          </a:bodyPr>
          <a:lstStyle/>
          <a:p>
            <a:pPr algn="l"/>
            <a:r>
              <a:rPr sz="740" b="0">
                <a:solidFill>
                  <a:srgbClr val="63707E"/>
                </a:solidFill>
                <a:latin typeface="Arial"/>
              </a:rPr>
              <a:t>Survey notes are concise summaries of the cited papers; study results are not project results.</a:t>
            </a:r>
          </a:p>
        </p:txBody>
      </p:sp>
      <p:sp>
        <p:nvSpPr>
          <p:cNvPr id="21" name="TextBox 20"/>
          <p:cNvSpPr txBox="1"/>
          <p:nvPr/>
        </p:nvSpPr>
        <p:spPr>
          <a:xfrm>
            <a:off x="11384280" y="6419088"/>
            <a:ext cx="365760" cy="201168"/>
          </a:xfrm>
          <a:prstGeom prst="rect">
            <a:avLst/>
          </a:prstGeom>
          <a:noFill/>
        </p:spPr>
        <p:txBody>
          <a:bodyPr wrap="square" anchor="ctr" lIns="9144" rIns="9144" tIns="9144" bIns="9144">
            <a:normAutofit/>
          </a:bodyPr>
          <a:lstStyle/>
          <a:p>
            <a:pPr algn="r"/>
            <a:r>
              <a:rPr sz="900" b="0">
                <a:solidFill>
                  <a:srgbClr val="63707E"/>
                </a:solidFill>
                <a:latin typeface="Arial"/>
              </a:rPr>
              <a:t>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438912"/>
            <a:ext cx="11064240" cy="566928"/>
          </a:xfrm>
          <a:prstGeom prst="rect">
            <a:avLst/>
          </a:prstGeom>
          <a:noFill/>
        </p:spPr>
        <p:txBody>
          <a:bodyPr wrap="square" anchor="ctr" lIns="36576" rIns="36576" tIns="36576" bIns="36576">
            <a:normAutofit/>
          </a:bodyPr>
          <a:lstStyle/>
          <a:p>
            <a:pPr algn="l"/>
            <a:r>
              <a:rPr sz="2400" b="1">
                <a:solidFill>
                  <a:srgbClr val="19324D"/>
                </a:solidFill>
                <a:latin typeface="Arial"/>
              </a:rPr>
              <a:t>REFERENCES</a:t>
            </a:r>
          </a:p>
        </p:txBody>
      </p:sp>
      <p:sp>
        <p:nvSpPr>
          <p:cNvPr id="3" name="Rectangle 2"/>
          <p:cNvSpPr/>
          <p:nvPr/>
        </p:nvSpPr>
        <p:spPr>
          <a:xfrm>
            <a:off x="566928" y="1069848"/>
            <a:ext cx="11064240" cy="41148"/>
          </a:xfrm>
          <a:prstGeom prst="rect">
            <a:avLst/>
          </a:prstGeom>
          <a:solidFill>
            <a:srgbClr val="22AA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94944" y="1353312"/>
            <a:ext cx="10789920" cy="4983480"/>
          </a:xfrm>
          <a:prstGeom prst="rect">
            <a:avLst/>
          </a:prstGeom>
          <a:noFill/>
        </p:spPr>
        <p:txBody>
          <a:bodyPr wrap="square" lIns="73152" rIns="73152" tIns="54864" bIns="54864">
            <a:normAutofit/>
          </a:bodyPr>
          <a:lstStyle/>
          <a:p>
            <a:pPr>
              <a:spcAft>
                <a:spcPts val="1000"/>
              </a:spcAft>
            </a:pPr>
            <a:r>
              <a:rPr sz="1230">
                <a:solidFill>
                  <a:srgbClr val="2B3744"/>
                </a:solidFill>
                <a:latin typeface="Arial"/>
              </a:rPr>
              <a:t>[1] R. J. Bolton and D. J. Hand, ‘Statistical Fraud Detection: A Review,’ Statistical Science, vol. 17, no. 3, pp. 235–249, 2002. doi:10.1214/ss/1042727940.</a:t>
            </a:r>
          </a:p>
          <a:p>
            <a:pPr>
              <a:spcAft>
                <a:spcPts val="1000"/>
              </a:spcAft>
            </a:pPr>
            <a:r>
              <a:rPr sz="1230">
                <a:solidFill>
                  <a:srgbClr val="2B3744"/>
                </a:solidFill>
                <a:latin typeface="Arial"/>
              </a:rPr>
              <a:t>[2] E. A. Lopez-Rojas, A. Elmir, and S. Axelsson, ‘PaySim: A Financial Mobile Money Simulator for Fraud Detection,’ Proc. 28th European Modeling and Simulation Symposium, 2016.</a:t>
            </a:r>
          </a:p>
          <a:p>
            <a:pPr>
              <a:spcAft>
                <a:spcPts val="1000"/>
              </a:spcAft>
            </a:pPr>
            <a:r>
              <a:rPr sz="1230">
                <a:solidFill>
                  <a:srgbClr val="2B3744"/>
                </a:solidFill>
                <a:latin typeface="Arial"/>
              </a:rPr>
              <a:t>[3] E. A. Lopez-Rojas and S. Axelsson, ‘BankSim: A Bank Payments Simulator for Fraud Detection Research,’ Proc. 26th European Modeling and Simulation Symposium, pp. 144–152, 2014.</a:t>
            </a:r>
          </a:p>
          <a:p>
            <a:pPr>
              <a:spcAft>
                <a:spcPts val="1000"/>
              </a:spcAft>
            </a:pPr>
            <a:r>
              <a:rPr sz="1230">
                <a:solidFill>
                  <a:srgbClr val="2B3744"/>
                </a:solidFill>
                <a:latin typeface="Arial"/>
              </a:rPr>
              <a:t>[4] T. Chen and C. Guestrin, ‘XGBoost: A Scalable Tree Boosting System,’ Proc. ACM SIGKDD, pp. 785–794, 2016. doi:10.1145/2939672.2939785.</a:t>
            </a:r>
          </a:p>
          <a:p>
            <a:pPr>
              <a:spcAft>
                <a:spcPts val="1000"/>
              </a:spcAft>
            </a:pPr>
            <a:r>
              <a:rPr sz="1230">
                <a:solidFill>
                  <a:srgbClr val="2B3744"/>
                </a:solidFill>
                <a:latin typeface="Arial"/>
              </a:rPr>
              <a:t>[5] F. T. Liu, K. M. Ting, and Z.-H. Zhou, ‘Isolation Forest,’ Proc. IEEE ICDM, pp. 413–422, 2008. doi:10.1109/ICDM.2008.17.</a:t>
            </a:r>
          </a:p>
          <a:p>
            <a:pPr>
              <a:spcAft>
                <a:spcPts val="1000"/>
              </a:spcAft>
            </a:pPr>
            <a:r>
              <a:rPr sz="1230">
                <a:solidFill>
                  <a:srgbClr val="2B3744"/>
                </a:solidFill>
                <a:latin typeface="Arial"/>
              </a:rPr>
              <a:t>[6] M. T. Ribeiro, S. Singh, and C. Guestrin, ‘“Why Should I Trust You?” Explaining the Predictions of Any Classifier,’ Proc. ACM SIGKDD, pp. 1135–1144, 2016. doi:10.1145/2939672.2939778.</a:t>
            </a:r>
          </a:p>
          <a:p>
            <a:pPr>
              <a:spcAft>
                <a:spcPts val="1000"/>
              </a:spcAft>
            </a:pPr>
            <a:r>
              <a:rPr sz="1230">
                <a:solidFill>
                  <a:srgbClr val="2B3744"/>
                </a:solidFill>
                <a:latin typeface="Arial"/>
              </a:rPr>
              <a:t>[7] S. M. Lundberg and S.-I. Lee, ‘A Unified Approach to Interpreting Model Predictions,’ Advances in Neural Information Processing Systems 30, 2017.</a:t>
            </a:r>
          </a:p>
        </p:txBody>
      </p:sp>
      <p:sp>
        <p:nvSpPr>
          <p:cNvPr id="5" name="TextBox 4"/>
          <p:cNvSpPr txBox="1"/>
          <p:nvPr/>
        </p:nvSpPr>
        <p:spPr>
          <a:xfrm>
            <a:off x="11384280" y="6419088"/>
            <a:ext cx="365760" cy="201168"/>
          </a:xfrm>
          <a:prstGeom prst="rect">
            <a:avLst/>
          </a:prstGeom>
          <a:noFill/>
        </p:spPr>
        <p:txBody>
          <a:bodyPr wrap="square" anchor="ctr" lIns="9144" rIns="9144" tIns="9144" bIns="9144">
            <a:normAutofit/>
          </a:bodyPr>
          <a:lstStyle/>
          <a:p>
            <a:pPr algn="r"/>
            <a:r>
              <a:rPr sz="900" b="0">
                <a:solidFill>
                  <a:srgbClr val="63707E"/>
                </a:solidFill>
                <a:latin typeface="Arial"/>
              </a:rPr>
              <a:t>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438912"/>
            <a:ext cx="11064240" cy="566928"/>
          </a:xfrm>
          <a:prstGeom prst="rect">
            <a:avLst/>
          </a:prstGeom>
          <a:noFill/>
        </p:spPr>
        <p:txBody>
          <a:bodyPr wrap="square" anchor="ctr" lIns="36576" rIns="36576" tIns="36576" bIns="36576">
            <a:normAutofit/>
          </a:bodyPr>
          <a:lstStyle/>
          <a:p>
            <a:pPr algn="l"/>
            <a:r>
              <a:rPr sz="2400" b="1">
                <a:solidFill>
                  <a:srgbClr val="19324D"/>
                </a:solidFill>
                <a:latin typeface="Arial"/>
              </a:rPr>
              <a:t>REFERENCES (CONTINUED)</a:t>
            </a:r>
          </a:p>
        </p:txBody>
      </p:sp>
      <p:sp>
        <p:nvSpPr>
          <p:cNvPr id="3" name="Rectangle 2"/>
          <p:cNvSpPr/>
          <p:nvPr/>
        </p:nvSpPr>
        <p:spPr>
          <a:xfrm>
            <a:off x="566928" y="1069848"/>
            <a:ext cx="11064240" cy="41148"/>
          </a:xfrm>
          <a:prstGeom prst="rect">
            <a:avLst/>
          </a:prstGeom>
          <a:solidFill>
            <a:srgbClr val="22AA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94944" y="1353312"/>
            <a:ext cx="10789920" cy="4983480"/>
          </a:xfrm>
          <a:prstGeom prst="rect">
            <a:avLst/>
          </a:prstGeom>
          <a:noFill/>
        </p:spPr>
        <p:txBody>
          <a:bodyPr wrap="square" lIns="73152" rIns="73152" tIns="54864" bIns="54864">
            <a:normAutofit/>
          </a:bodyPr>
          <a:lstStyle/>
          <a:p>
            <a:pPr>
              <a:spcAft>
                <a:spcPts val="1000"/>
              </a:spcAft>
            </a:pPr>
            <a:r>
              <a:rPr sz="1230">
                <a:solidFill>
                  <a:srgbClr val="2B3744"/>
                </a:solidFill>
                <a:latin typeface="Arial"/>
              </a:rPr>
              <a:t>[8] N. V. Chawla, K. W. Bowyer, L. O. Hall, and W. P. Kegelmeyer, ‘SMOTE: Synthetic Minority Over-sampling Technique,’ Journal of Artificial Intelligence Research, vol. 16, pp. 321–357, 2002. doi:10.1613/jair.953.</a:t>
            </a:r>
          </a:p>
          <a:p>
            <a:pPr>
              <a:spcAft>
                <a:spcPts val="1000"/>
              </a:spcAft>
            </a:pPr>
            <a:r>
              <a:rPr sz="1230">
                <a:solidFill>
                  <a:srgbClr val="2B3744"/>
                </a:solidFill>
                <a:latin typeface="Arial"/>
              </a:rPr>
              <a:t>[9] A. Dal Pozzolo, G. Boracchi, O. Caelen, C. Alippi, and G. Bontempi, ‘Credit Card Fraud Detection: A Realistic Modeling and a Novel Learning Strategy,’ IEEE Transactions on Neural Networks and Learning Systems, 2018. doi:10.1109/TNNLS.2017.2736643.</a:t>
            </a:r>
          </a:p>
          <a:p>
            <a:pPr>
              <a:spcAft>
                <a:spcPts val="1000"/>
              </a:spcAft>
            </a:pPr>
            <a:r>
              <a:rPr sz="1230">
                <a:solidFill>
                  <a:srgbClr val="2B3744"/>
                </a:solidFill>
                <a:latin typeface="Arial"/>
              </a:rPr>
              <a:t>[10] F. Carcillo, A. Dal Pozzolo, Y.-A. Le Borgne, O. Caelen, Y. Mazzer, and G. Bontempi, ‘SCARFF: A Scalable Framework for Streaming Credit Card Fraud Detection with Spark,’ Information Fusion, vol. 41, pp. 182–194, 2018. doi:10.1016/j.inffus.2017.09.005.</a:t>
            </a:r>
          </a:p>
          <a:p>
            <a:pPr>
              <a:spcAft>
                <a:spcPts val="1000"/>
              </a:spcAft>
            </a:pPr>
            <a:r>
              <a:rPr sz="1230">
                <a:solidFill>
                  <a:srgbClr val="2B3744"/>
                </a:solidFill>
                <a:latin typeface="Arial"/>
              </a:rPr>
              <a:t>[11] J. Jurgovsky et al., ‘Sequence Classification for Credit-card Fraud Detection,’ Expert Systems with Applications, vol. 100, pp. 234–245, 2018. doi:10.1016/j.eswa.2018.01.037.</a:t>
            </a:r>
          </a:p>
          <a:p>
            <a:pPr>
              <a:spcAft>
                <a:spcPts val="1000"/>
              </a:spcAft>
            </a:pPr>
            <a:r>
              <a:rPr sz="1230">
                <a:solidFill>
                  <a:srgbClr val="2B3744"/>
                </a:solidFill>
                <a:latin typeface="Arial"/>
              </a:rPr>
              <a:t>[12] S. R. Jeremiah, A. El Azzaoui, N. N. Xiong, and J. H. Park, ‘A Comprehensive Survey of Digital Twins: Applications, Technologies and Security Challenges,’ Journal of Systems Architecture, vol. 151, article 103120, 2024. doi:10.1016/j.sysarc.2024.103120.</a:t>
            </a:r>
          </a:p>
          <a:p>
            <a:pPr>
              <a:spcAft>
                <a:spcPts val="1000"/>
              </a:spcAft>
            </a:pPr>
            <a:r>
              <a:rPr sz="1230">
                <a:solidFill>
                  <a:srgbClr val="2B3744"/>
                </a:solidFill>
                <a:latin typeface="Arial"/>
              </a:rPr>
              <a:t>[13] I. Sharafaldin, A. H. Lashkari, and A. A. Ghorbani, ‘Toward Generating a New Intrusion Detection Dataset and Intrusion Traffic Characterization,’ Proc. ICISSP, pp. 108–116, 2018.</a:t>
            </a:r>
          </a:p>
          <a:p>
            <a:pPr>
              <a:spcAft>
                <a:spcPts val="1000"/>
              </a:spcAft>
            </a:pPr>
            <a:r>
              <a:rPr sz="1230">
                <a:solidFill>
                  <a:srgbClr val="2B3744"/>
                </a:solidFill>
                <a:latin typeface="Arial"/>
              </a:rPr>
              <a:t>[14] IEEE Computational Intelligence Society, ‘IEEE-CIS Fraud Detection,’ Kaggle competition dataset, 2019.</a:t>
            </a:r>
          </a:p>
        </p:txBody>
      </p:sp>
      <p:sp>
        <p:nvSpPr>
          <p:cNvPr id="5" name="TextBox 4"/>
          <p:cNvSpPr txBox="1"/>
          <p:nvPr/>
        </p:nvSpPr>
        <p:spPr>
          <a:xfrm>
            <a:off x="11384280" y="6419088"/>
            <a:ext cx="365760" cy="201168"/>
          </a:xfrm>
          <a:prstGeom prst="rect">
            <a:avLst/>
          </a:prstGeom>
          <a:noFill/>
        </p:spPr>
        <p:txBody>
          <a:bodyPr wrap="square" anchor="ctr" lIns="9144" rIns="9144" tIns="9144" bIns="9144">
            <a:normAutofit/>
          </a:bodyPr>
          <a:lstStyle/>
          <a:p>
            <a:pPr algn="r"/>
            <a:r>
              <a:rPr sz="900" b="0">
                <a:solidFill>
                  <a:srgbClr val="63707E"/>
                </a:solidFill>
                <a:latin typeface="Arial"/>
              </a:rPr>
              <a:t>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15877</TotalTime>
  <Words>376</Words>
  <Application>Microsoft Office PowerPoint</Application>
  <PresentationFormat>Custom</PresentationFormat>
  <Paragraphs>99</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Wingdings</vt:lpstr>
      <vt:lpstr>Office Theme</vt:lpstr>
      <vt:lpstr>&lt;&lt;PROJECT TITLE **ARIAL FONT SIZE 40**&gt;&gt;</vt:lpstr>
      <vt:lpstr>CONTENTS</vt:lpstr>
      <vt:lpstr>1.ABSTRACT</vt:lpstr>
      <vt:lpstr>2. INTRODUCTION</vt:lpstr>
      <vt:lpstr>3.LITERATURE SURVEY</vt:lpstr>
      <vt:lpstr>4. RESEARCH GAPS</vt:lpstr>
      <vt:lpstr>5. OBJECTIVES</vt:lpstr>
      <vt:lpstr>6. RESEARCH WORK DONE</vt:lpstr>
      <vt:lpstr>MODULE IDENTIFICATION</vt:lpstr>
      <vt:lpstr>SYSTEM ARCHITECTURE</vt:lpstr>
      <vt:lpstr>DEVELOPMENT &amp; INTEGRATION</vt:lpstr>
      <vt:lpstr>PROTOTYPE / RESEARCH FRAMEWORK</vt:lpstr>
      <vt:lpstr>7. CONCLUSIONS</vt:lpstr>
      <vt:lpstr>8. OUTCOME</vt:lpstr>
      <vt:lpstr>9. TIMELINE / GANTT CHART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APPROACH TO REDUCE LOAD ON CHANGE IMPACT ANALYSIS OVER SOFTWARE DEVELOPMENT</dc:title>
  <dc:creator>admin</dc:creator>
  <cp:lastModifiedBy>Saravana Rajendran</cp:lastModifiedBy>
  <cp:revision>136</cp:revision>
  <dcterms:created xsi:type="dcterms:W3CDTF">2020-07-13T09:49:45Z</dcterms:created>
  <dcterms:modified xsi:type="dcterms:W3CDTF">2026-09-26T07:05:43Z</dcterms:modified>
</cp:coreProperties>
</file>